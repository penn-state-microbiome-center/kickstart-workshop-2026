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3" d="100"/>
          <a:sy n="123" d="100"/>
        </p:scale>
        <p:origin x="3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4756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Welcome back. Before we dive into the shotgun exercises, I want to spend about 25 minutes on Snakemake — the workflow manager we've wired into this afternoon's materials.
Goal today is NOT to make you a Snakemake expert. It's to make the rules you'll see this afternoon readable, so you're not staring at unfamiliar syntax while also learning about assembly and binning.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Quick roadmap. Motivation first, then the three concepts that matter (rules, wildcards, DAG), then what a project looks like and how you actually run it. Resources at the end.
Keep this light — don't linger.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ASK FIRST: "How many of you do both wet lab work and computational work?" — usually most hands. That's the setup for the photo.
Let the photo sit for a beat before you start the list. Hunched, head down, grinding — everyone recognizes it.
Walk the four points. The one that always lands: coming back to an analysis after 3 months and not knowing which script to run first.
Do NOT preview the solution here. Sit in the problem. The next slide is the payoff.
If someone volunteers a war story, take it — it's better than anything on the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Advance and let the posture flip register before you speak. Leaning back, away from the screen. That's the whole argument in one image.
Same layout, same person, same desk — only the posture and the list changed. That's deliberate; don't explain the device, just let it work.
Now walk the four benefits. These mirror the four pains one-for-one, in the same order:
  memory/scattered scripts → rules declare dependencies
  lost track of what ran → only what changed re-runs
  re-run everything → same, portable workflow
  hard to scale → rules + envs are the record
Don't explain HOW yet — that's the next section. This slide is about what you GET.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Set expectations honestly: after 25 minutes you'll be able to READ a rule and RUN a workflow. Writing your own from scratch comes with practice.
Flag the dark bar — this is not abstract, they'll be doing it in about an hour.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Two things to land:
1) It's Python-based, but you do NOT need to know Python to start. The basic syntax is just input/output/shell.
2) "Extends GNU Make" — if anyone knows make, this clicks instantly. If not, skip it; don't teach make.
The stats are there to reassure them this is a mature, widely-used tool with a real community — not a niche thing that will disappear. Don't dwell.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central concept. If they only remember one slide, make it this one.
A rule = input files → output files, plus the command in between.
Emphasize "works backward": you don't tell Snakemake the order, you tell it what you WANT and it derives the order. This is the mental shift from bash scripting.
Analogy that works well: a recipe card. It says what ingredients you need and what dish comes out. It doesn't say "do this third."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Second key concept. This is what makes it worth the setup cost.
Emphasize: ONE rule, written once, runs on however many samples you have. 3 samples or 300 — same rule, no loop, no copy-paste.
Point at the code block: {sample} in the input path and the output path. Snakemake matches the pattern.
Common question: "How does it know what the samples are?" — answer: from the files present, or from a sample sheet in config/. You'll see that this afternoon. Don't go deeper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Third key concept, and the payoff of the first two.
Walk left to right. Output of one rule is input to the next — that's the whole chaining mechanism. There's no orchestration code.
DAG = Directed Acyclic Graph. Directed (arrows have direction), Acyclic (no loops back). Don't over-explain the term.
The branch is the important bit: binning and profiling don't depend on each other, so Snakemake runs them at the same time — free parallelism you didn't have to code.
Tie it forward: this IS the shape of this afternoon.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is the recommended layout from the Snakemake docs. You don't have to memorize it — just recognize it when you open the repo this afternoon.
Two ideas worth stating out loud:
- Logic (workflow/) is separate from settings (config/). To run on new data you edit config, not rules.
- results/ is generated. Never hand-edit anything in there — if you do, you've broken reproducibility.
Mention Git briefly: this layout is designed to be a repo you can hand to someone.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Walk the code block top to bottom, slowly. This is the densest slide.
input/output: named (r1, r2) so you can reference {input.r1} in the shell command. Naming is optional but makes commands readable.
conda: the reproducibility lever. One environment per rule means tools with conflicting dependencies coexist happily.
threads: Snakemake handles the scheduling — it won't oversubscribe your cores.
shell: note the {threads}, {input.r1} etc. get substituted automatically.
Then the bottom line: shell isn't the only option — script: for a .py or .R file, run: for inline Python. Mention it, move 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"rule all" is a convention, not magic — it's just the first rule, and Snakemake builds whatever the FIRST rule asks for.
expand() is the other function they'll see constantly. It's a cross-product helper: give it a pattern and a list, get a list of filenames.
Reinforce the backward-chaining idea one last time: you declare the destination, Snakemake derives the route.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Practical slide. The one command to actually drill: snakemake -n.
Say it plainly — ALWAYS dry-run first. It shows you the plan without touching anything. It's how you catch a typo before it burns 40 minutes of cluster time.
HEADS UP — likely confusion: if they run the same command twice, the second time says "nothing to be done." That is Snakemake working CORRECTLY, not an error. Outputs already exist and inputs haven't changed, so there's nothing to do. Say this proactively; it trips up people used to scripts that just re-run.
If they genuinely want to force everything to re-run, that's -F (force). Mention only if asked — otherwise it undercuts the caching message.
--use-conda is what makes the conda: directives actually take effect. Easy to forget; it's a common source of "why isn't this working."
The --dag one-liner is a nice party trick and genuinely useful for debugging and for figures in papers.
Smart caching: this is why re-running is cheap. If you add 3 new samples, only those 3 get processed.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Close the loop opened on slide 3.
The framing that lands: your Snakefile is simultaneously your analysis AND your methods section. They can't drift apart, because the thing you run is the thing that's documented.
"It worked on my machine" — get a laugh, then point out that conda environments are the actual fix.
ROAR mention is deliberate: this is the cluster they'll use, and the workflow moves there unchanged.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Handoff slide. Set them up for success:
- Dry run first (say it again — repetition is fine).
- The rules are meant to be read. Encourage them to open the .smk files rather than treating it as a black box.
- Questions are welcome throughout.
Point out the repo URL — everything is there, including after the workshop.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Don't read these out. Just orient them:
- readthedocs = the reference you'll actually use day to day.
- Official tutorial = do this first if you want to learn properly, ~2 hours.
- Carpentries lesson = the best free structured course, bioinformatics-flavored.
- Workflow Catalog and Wrappers = don't reinvent; someone has probably already written the rule you need.
Tell them the slides will be posted so they don't need to write URLs down.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Remaining time (~2-3 min).
If nobody asks, seed with a question you've been asked before, e.g.:
"How is this different from Nextflow?" — both are good; Snakemake is Python-flavored and has a gentler on-ramp; Nextflow (Groovy/DSL2) is very strong for cloud and is common in nf-core. Either is a fine choice; the concepts transfer.
"Do I have to rewrite my existing scripts?" — no. A rule can call your existing script as-is. Snakemake wraps, it doesn't replace.
"Is this overkill for a small project?" — a 3-rule Snakefile is about as long as the bash script it replaces, and it gets you resumability for free.
Then hand off to the shotgun session.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4.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1D"/>
        </a:solidFill>
        <a:effectLst/>
      </p:bgPr>
    </p:bg>
    <p:spTree>
      <p:nvGrpSpPr>
        <p:cNvPr id="1" name=""/>
        <p:cNvGrpSpPr/>
        <p:nvPr/>
      </p:nvGrpSpPr>
      <p:grpSpPr>
        <a:xfrm>
          <a:off x="0" y="0"/>
          <a:ext cx="0" cy="0"/>
          <a:chOff x="0" y="0"/>
          <a:chExt cx="0" cy="0"/>
        </a:xfrm>
      </p:grpSpPr>
      <p:sp>
        <p:nvSpPr>
          <p:cNvPr id="2" name="Shape 0"/>
          <p:cNvSpPr/>
          <p:nvPr/>
        </p:nvSpPr>
        <p:spPr>
          <a:xfrm flipV="1">
            <a:off x="9774936" y="4837176"/>
            <a:ext cx="1005840" cy="365760"/>
          </a:xfrm>
          <a:prstGeom prst="line">
            <a:avLst/>
          </a:prstGeom>
          <a:noFill/>
          <a:ln w="22225">
            <a:solidFill>
              <a:srgbClr val="2A3D36"/>
            </a:solidFill>
            <a:prstDash val="solid"/>
            <a:tailEnd type="triangle"/>
          </a:ln>
        </p:spPr>
        <p:txBody>
          <a:bodyPr/>
          <a:lstStyle/>
          <a:p>
            <a:endParaRPr lang="en-US"/>
          </a:p>
        </p:txBody>
      </p:sp>
      <p:sp>
        <p:nvSpPr>
          <p:cNvPr id="3" name="Shape 1"/>
          <p:cNvSpPr/>
          <p:nvPr/>
        </p:nvSpPr>
        <p:spPr>
          <a:xfrm>
            <a:off x="9774936" y="5202936"/>
            <a:ext cx="1005840" cy="365760"/>
          </a:xfrm>
          <a:prstGeom prst="line">
            <a:avLst/>
          </a:prstGeom>
          <a:noFill/>
          <a:ln w="22225">
            <a:solidFill>
              <a:srgbClr val="2A3D36"/>
            </a:solidFill>
            <a:prstDash val="solid"/>
            <a:tailEnd type="triangle"/>
          </a:ln>
        </p:spPr>
        <p:txBody>
          <a:bodyPr/>
          <a:lstStyle/>
          <a:p>
            <a:endParaRPr lang="en-US"/>
          </a:p>
        </p:txBody>
      </p:sp>
      <p:sp>
        <p:nvSpPr>
          <p:cNvPr id="4" name="Shape 2"/>
          <p:cNvSpPr/>
          <p:nvPr/>
        </p:nvSpPr>
        <p:spPr>
          <a:xfrm>
            <a:off x="10780776" y="4837176"/>
            <a:ext cx="731520" cy="365760"/>
          </a:xfrm>
          <a:prstGeom prst="line">
            <a:avLst/>
          </a:prstGeom>
          <a:noFill/>
          <a:ln w="22225">
            <a:solidFill>
              <a:srgbClr val="2A3D36"/>
            </a:solidFill>
            <a:prstDash val="solid"/>
            <a:tailEnd type="triangle"/>
          </a:ln>
        </p:spPr>
        <p:txBody>
          <a:bodyPr/>
          <a:lstStyle/>
          <a:p>
            <a:endParaRPr lang="en-US"/>
          </a:p>
        </p:txBody>
      </p:sp>
      <p:sp>
        <p:nvSpPr>
          <p:cNvPr id="5" name="Shape 3"/>
          <p:cNvSpPr/>
          <p:nvPr/>
        </p:nvSpPr>
        <p:spPr>
          <a:xfrm flipV="1">
            <a:off x="10780776" y="5202936"/>
            <a:ext cx="731520" cy="365760"/>
          </a:xfrm>
          <a:prstGeom prst="line">
            <a:avLst/>
          </a:prstGeom>
          <a:noFill/>
          <a:ln w="22225">
            <a:solidFill>
              <a:srgbClr val="2A3D36"/>
            </a:solidFill>
            <a:prstDash val="solid"/>
            <a:tailEnd type="triangle"/>
          </a:ln>
        </p:spPr>
        <p:txBody>
          <a:bodyPr/>
          <a:lstStyle/>
          <a:p>
            <a:endParaRPr lang="en-US"/>
          </a:p>
        </p:txBody>
      </p:sp>
      <p:sp>
        <p:nvSpPr>
          <p:cNvPr id="6" name="Shape 4"/>
          <p:cNvSpPr/>
          <p:nvPr/>
        </p:nvSpPr>
        <p:spPr>
          <a:xfrm>
            <a:off x="9692640" y="5120640"/>
            <a:ext cx="164592" cy="164592"/>
          </a:xfrm>
          <a:prstGeom prst="ellipse">
            <a:avLst/>
          </a:prstGeom>
          <a:solidFill>
            <a:srgbClr val="2F4A40"/>
          </a:solidFill>
          <a:ln/>
        </p:spPr>
        <p:txBody>
          <a:bodyPr/>
          <a:lstStyle/>
          <a:p>
            <a:endParaRPr lang="en-US"/>
          </a:p>
        </p:txBody>
      </p:sp>
      <p:sp>
        <p:nvSpPr>
          <p:cNvPr id="7" name="Shape 5"/>
          <p:cNvSpPr/>
          <p:nvPr/>
        </p:nvSpPr>
        <p:spPr>
          <a:xfrm>
            <a:off x="10698480" y="4754880"/>
            <a:ext cx="164592" cy="164592"/>
          </a:xfrm>
          <a:prstGeom prst="ellipse">
            <a:avLst/>
          </a:prstGeom>
          <a:solidFill>
            <a:srgbClr val="2F4A40"/>
          </a:solidFill>
          <a:ln/>
        </p:spPr>
        <p:txBody>
          <a:bodyPr/>
          <a:lstStyle/>
          <a:p>
            <a:endParaRPr lang="en-US"/>
          </a:p>
        </p:txBody>
      </p:sp>
      <p:sp>
        <p:nvSpPr>
          <p:cNvPr id="8" name="Shape 6"/>
          <p:cNvSpPr/>
          <p:nvPr/>
        </p:nvSpPr>
        <p:spPr>
          <a:xfrm>
            <a:off x="10698480" y="5486400"/>
            <a:ext cx="164592" cy="164592"/>
          </a:xfrm>
          <a:prstGeom prst="ellipse">
            <a:avLst/>
          </a:prstGeom>
          <a:solidFill>
            <a:srgbClr val="2F4A40"/>
          </a:solidFill>
          <a:ln/>
        </p:spPr>
        <p:txBody>
          <a:bodyPr/>
          <a:lstStyle/>
          <a:p>
            <a:endParaRPr lang="en-US"/>
          </a:p>
        </p:txBody>
      </p:sp>
      <p:sp>
        <p:nvSpPr>
          <p:cNvPr id="9" name="Shape 7"/>
          <p:cNvSpPr/>
          <p:nvPr/>
        </p:nvSpPr>
        <p:spPr>
          <a:xfrm>
            <a:off x="11430000" y="5120640"/>
            <a:ext cx="164592" cy="164592"/>
          </a:xfrm>
          <a:prstGeom prst="ellipse">
            <a:avLst/>
          </a:prstGeom>
          <a:solidFill>
            <a:srgbClr val="2F4A40"/>
          </a:solidFill>
          <a:ln/>
        </p:spPr>
        <p:txBody>
          <a:bodyPr/>
          <a:lstStyle/>
          <a:p>
            <a:endParaRPr lang="en-US"/>
          </a:p>
        </p:txBody>
      </p:sp>
      <p:pic>
        <p:nvPicPr>
          <p:cNvPr id="10" name="Image 0" descr="/home/claude/work/build/snakemake_logo_white.png"/>
          <p:cNvPicPr>
            <a:picLocks noChangeAspect="1"/>
          </p:cNvPicPr>
          <p:nvPr/>
        </p:nvPicPr>
        <p:blipFill>
          <a:blip r:embed="rId3"/>
          <a:stretch>
            <a:fillRect/>
          </a:stretch>
        </p:blipFill>
        <p:spPr>
          <a:xfrm>
            <a:off x="3992728" y="2286000"/>
            <a:ext cx="4206240" cy="1035149"/>
          </a:xfrm>
          <a:prstGeom prst="rect">
            <a:avLst/>
          </a:prstGeom>
        </p:spPr>
      </p:pic>
      <p:sp>
        <p:nvSpPr>
          <p:cNvPr id="11" name="Text 8"/>
          <p:cNvSpPr/>
          <p:nvPr/>
        </p:nvSpPr>
        <p:spPr>
          <a:xfrm>
            <a:off x="1645920" y="3401568"/>
            <a:ext cx="8899855" cy="640080"/>
          </a:xfrm>
          <a:prstGeom prst="rect">
            <a:avLst/>
          </a:prstGeom>
          <a:noFill/>
          <a:ln/>
        </p:spPr>
        <p:txBody>
          <a:bodyPr wrap="square" rtlCol="0" anchor="ctr"/>
          <a:lstStyle/>
          <a:p>
            <a:pPr marL="0" indent="0" algn="ctr">
              <a:buNone/>
            </a:pPr>
            <a:r>
              <a:rPr lang="en-US" sz="1800" dirty="0">
                <a:solidFill>
                  <a:srgbClr val="C9D6D1"/>
                </a:solidFill>
                <a:latin typeface="Calibri" pitchFamily="34" charset="0"/>
                <a:ea typeface="Calibri" pitchFamily="34" charset="-122"/>
                <a:cs typeface="Calibri" pitchFamily="34" charset="-120"/>
              </a:rPr>
              <a:t>A workflow management tool for reproducible and scalable data analyses</a:t>
            </a:r>
            <a:endParaRPr lang="en-US" sz="1800" dirty="0"/>
          </a:p>
        </p:txBody>
      </p:sp>
      <p:sp>
        <p:nvSpPr>
          <p:cNvPr id="12" name="Shape 9"/>
          <p:cNvSpPr/>
          <p:nvPr/>
        </p:nvSpPr>
        <p:spPr>
          <a:xfrm>
            <a:off x="5547208" y="4224528"/>
            <a:ext cx="1097280" cy="0"/>
          </a:xfrm>
          <a:prstGeom prst="line">
            <a:avLst/>
          </a:prstGeom>
          <a:noFill/>
          <a:ln w="25400">
            <a:solidFill>
              <a:srgbClr val="2F4A40"/>
            </a:solidFill>
            <a:prstDash val="solid"/>
          </a:ln>
        </p:spPr>
        <p:txBody>
          <a:bodyPr/>
          <a:lstStyle/>
          <a:p>
            <a:endParaRPr lang="en-US"/>
          </a:p>
        </p:txBody>
      </p:sp>
      <p:sp>
        <p:nvSpPr>
          <p:cNvPr id="13" name="Text 10"/>
          <p:cNvSpPr/>
          <p:nvPr/>
        </p:nvSpPr>
        <p:spPr>
          <a:xfrm>
            <a:off x="0" y="5623560"/>
            <a:ext cx="12191695"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Dr. Jess Grembi</a:t>
            </a:r>
            <a:endParaRPr lang="en-US" sz="1600" dirty="0"/>
          </a:p>
        </p:txBody>
      </p:sp>
      <p:sp>
        <p:nvSpPr>
          <p:cNvPr id="14" name="Text 11"/>
          <p:cNvSpPr/>
          <p:nvPr/>
        </p:nvSpPr>
        <p:spPr>
          <a:xfrm>
            <a:off x="0" y="6016752"/>
            <a:ext cx="12191695" cy="320040"/>
          </a:xfrm>
          <a:prstGeom prst="rect">
            <a:avLst/>
          </a:prstGeom>
          <a:noFill/>
          <a:ln/>
        </p:spPr>
        <p:txBody>
          <a:bodyPr wrap="square" rtlCol="0" anchor="ctr"/>
          <a:lstStyle/>
          <a:p>
            <a:pPr marL="0" indent="0" algn="ctr">
              <a:buNone/>
            </a:pPr>
            <a:r>
              <a:rPr lang="en-US" sz="1250" dirty="0">
                <a:solidFill>
                  <a:srgbClr val="8AA39A"/>
                </a:solidFill>
                <a:latin typeface="Calibri" pitchFamily="34" charset="0"/>
                <a:ea typeface="Calibri" pitchFamily="34" charset="-122"/>
                <a:cs typeface="Calibri" pitchFamily="34" charset="-120"/>
              </a:rPr>
              <a:t>PSU One Health Microbiome Center  ·  KickStart Workshop 2026  ·  Day 3</a:t>
            </a:r>
            <a:endParaRPr lang="en-US" sz="1250" dirty="0"/>
          </a:p>
        </p:txBody>
      </p:sp>
      <p:sp>
        <p:nvSpPr>
          <p:cNvPr id="16" name="TextBox 15">
            <a:extLst>
              <a:ext uri="{FF2B5EF4-FFF2-40B4-BE49-F238E27FC236}">
                <a16:creationId xmlns:a16="http://schemas.microsoft.com/office/drawing/2014/main" id="{8DF02473-9782-C181-C385-F9D4F7A2AB3F}"/>
              </a:ext>
            </a:extLst>
          </p:cNvPr>
          <p:cNvSpPr txBox="1"/>
          <p:nvPr/>
        </p:nvSpPr>
        <p:spPr>
          <a:xfrm>
            <a:off x="3049732" y="6481659"/>
            <a:ext cx="6099462" cy="253916"/>
          </a:xfrm>
          <a:prstGeom prst="rect">
            <a:avLst/>
          </a:prstGeom>
          <a:noFill/>
        </p:spPr>
        <p:txBody>
          <a:bodyPr wrap="square">
            <a:spAutoFit/>
          </a:bodyPr>
          <a:lstStyle/>
          <a:p>
            <a:pPr marL="0" indent="0" algn="ctr">
              <a:buNone/>
            </a:pPr>
            <a:r>
              <a:rPr lang="en-US" sz="1050" i="1" dirty="0">
                <a:solidFill>
                  <a:srgbClr val="5E7269"/>
                </a:solidFill>
                <a:latin typeface="Calibri" pitchFamily="34" charset="0"/>
                <a:ea typeface="Calibri" pitchFamily="34" charset="-122"/>
                <a:cs typeface="Calibri" pitchFamily="34" charset="-120"/>
              </a:rPr>
              <a:t>Slides designed with help from Claude (Anthropic)</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3200" b="1" dirty="0">
                <a:solidFill>
                  <a:srgbClr val="22302B"/>
                </a:solidFill>
                <a:latin typeface="Calibri" pitchFamily="34" charset="0"/>
                <a:ea typeface="Calibri" pitchFamily="34" charset="-122"/>
                <a:cs typeface="Calibri" pitchFamily="34" charset="-120"/>
              </a:rPr>
              <a:t>Outline</a:t>
            </a:r>
            <a:endParaRPr lang="en-US" sz="3200" dirty="0"/>
          </a:p>
        </p:txBody>
      </p:sp>
      <p:sp>
        <p:nvSpPr>
          <p:cNvPr id="4" name="Shape 2"/>
          <p:cNvSpPr/>
          <p:nvPr/>
        </p:nvSpPr>
        <p:spPr>
          <a:xfrm>
            <a:off x="1170432" y="1947672"/>
            <a:ext cx="0" cy="3730752"/>
          </a:xfrm>
          <a:prstGeom prst="line">
            <a:avLst/>
          </a:prstGeom>
          <a:noFill/>
          <a:ln w="38100">
            <a:solidFill>
              <a:srgbClr val="D3ECE5"/>
            </a:solidFill>
            <a:prstDash val="solid"/>
          </a:ln>
        </p:spPr>
        <p:txBody>
          <a:bodyPr/>
          <a:lstStyle/>
          <a:p>
            <a:endParaRPr lang="en-US"/>
          </a:p>
        </p:txBody>
      </p:sp>
      <p:sp>
        <p:nvSpPr>
          <p:cNvPr id="5" name="Shape 3"/>
          <p:cNvSpPr/>
          <p:nvPr/>
        </p:nvSpPr>
        <p:spPr>
          <a:xfrm>
            <a:off x="914400" y="1691640"/>
            <a:ext cx="512064" cy="512064"/>
          </a:xfrm>
          <a:prstGeom prst="ellipse">
            <a:avLst/>
          </a:prstGeom>
          <a:solidFill>
            <a:srgbClr val="039475"/>
          </a:solidFill>
          <a:ln/>
        </p:spPr>
        <p:txBody>
          <a:bodyPr/>
          <a:lstStyle/>
          <a:p>
            <a:endParaRPr lang="en-US"/>
          </a:p>
        </p:txBody>
      </p:sp>
      <p:pic>
        <p:nvPicPr>
          <p:cNvPr id="6" name="Image 0" descr="/home/claude/work/build/icons/lightbulb_white.png"/>
          <p:cNvPicPr>
            <a:picLocks noChangeAspect="1"/>
          </p:cNvPicPr>
          <p:nvPr/>
        </p:nvPicPr>
        <p:blipFill>
          <a:blip r:embed="rId3"/>
          <a:stretch>
            <a:fillRect/>
          </a:stretch>
        </p:blipFill>
        <p:spPr>
          <a:xfrm>
            <a:off x="1037295" y="1814535"/>
            <a:ext cx="266273" cy="266273"/>
          </a:xfrm>
          <a:prstGeom prst="rect">
            <a:avLst/>
          </a:prstGeom>
        </p:spPr>
      </p:pic>
      <p:sp>
        <p:nvSpPr>
          <p:cNvPr id="7" name="Text 4"/>
          <p:cNvSpPr/>
          <p:nvPr/>
        </p:nvSpPr>
        <p:spPr>
          <a:xfrm>
            <a:off x="1746504" y="1655064"/>
            <a:ext cx="8961120" cy="694944"/>
          </a:xfrm>
          <a:prstGeom prst="rect">
            <a:avLst/>
          </a:prstGeom>
          <a:noFill/>
          <a:ln/>
        </p:spPr>
        <p:txBody>
          <a:bodyPr wrap="square" rtlCol="0" anchor="t"/>
          <a:lstStyle/>
          <a:p>
            <a:pPr marL="0" indent="0">
              <a:lnSpc>
                <a:spcPct val="125000"/>
              </a:lnSpc>
              <a:buNone/>
            </a:pPr>
            <a:r>
              <a:rPr lang="en-US" sz="1800" b="1" dirty="0">
                <a:solidFill>
                  <a:srgbClr val="22302B"/>
                </a:solidFill>
                <a:latin typeface="Calibri" pitchFamily="34" charset="0"/>
                <a:ea typeface="Calibri" pitchFamily="34" charset="-122"/>
                <a:cs typeface="Calibri" pitchFamily="34" charset="-120"/>
              </a:rPr>
              <a:t>Why use a workflow management tool</a:t>
            </a:r>
            <a:endParaRPr lang="en-US" sz="1800" dirty="0"/>
          </a:p>
        </p:txBody>
      </p:sp>
      <p:sp>
        <p:nvSpPr>
          <p:cNvPr id="8" name="Shape 5"/>
          <p:cNvSpPr/>
          <p:nvPr/>
        </p:nvSpPr>
        <p:spPr>
          <a:xfrm>
            <a:off x="914400" y="2624328"/>
            <a:ext cx="512064" cy="512064"/>
          </a:xfrm>
          <a:prstGeom prst="ellipse">
            <a:avLst/>
          </a:prstGeom>
          <a:solidFill>
            <a:srgbClr val="039475"/>
          </a:solidFill>
          <a:ln/>
        </p:spPr>
        <p:txBody>
          <a:bodyPr/>
          <a:lstStyle/>
          <a:p>
            <a:endParaRPr lang="en-US"/>
          </a:p>
        </p:txBody>
      </p:sp>
      <p:pic>
        <p:nvPicPr>
          <p:cNvPr id="9" name="Image 1" descr="/home/claude/work/build/icons/target_white.png"/>
          <p:cNvPicPr>
            <a:picLocks noChangeAspect="1"/>
          </p:cNvPicPr>
          <p:nvPr/>
        </p:nvPicPr>
        <p:blipFill>
          <a:blip r:embed="rId4"/>
          <a:stretch>
            <a:fillRect/>
          </a:stretch>
        </p:blipFill>
        <p:spPr>
          <a:xfrm>
            <a:off x="1037295" y="2747223"/>
            <a:ext cx="266273" cy="266273"/>
          </a:xfrm>
          <a:prstGeom prst="rect">
            <a:avLst/>
          </a:prstGeom>
        </p:spPr>
      </p:pic>
      <p:sp>
        <p:nvSpPr>
          <p:cNvPr id="10" name="Text 6"/>
          <p:cNvSpPr/>
          <p:nvPr/>
        </p:nvSpPr>
        <p:spPr>
          <a:xfrm>
            <a:off x="1746504" y="2587752"/>
            <a:ext cx="8961120" cy="694944"/>
          </a:xfrm>
          <a:prstGeom prst="rect">
            <a:avLst/>
          </a:prstGeom>
          <a:noFill/>
          <a:ln/>
        </p:spPr>
        <p:txBody>
          <a:bodyPr wrap="square" rtlCol="0" anchor="t"/>
          <a:lstStyle/>
          <a:p>
            <a:pPr marL="0" indent="0">
              <a:lnSpc>
                <a:spcPct val="125000"/>
              </a:lnSpc>
              <a:buNone/>
            </a:pPr>
            <a:r>
              <a:rPr lang="en-US" sz="1800" b="1" dirty="0">
                <a:solidFill>
                  <a:srgbClr val="22302B"/>
                </a:solidFill>
                <a:latin typeface="Calibri" pitchFamily="34" charset="0"/>
                <a:ea typeface="Calibri" pitchFamily="34" charset="-122"/>
                <a:cs typeface="Calibri" pitchFamily="34" charset="-120"/>
              </a:rPr>
              <a:t>Today's objectives</a:t>
            </a:r>
            <a:endParaRPr lang="en-US" sz="1800" dirty="0"/>
          </a:p>
        </p:txBody>
      </p:sp>
      <p:sp>
        <p:nvSpPr>
          <p:cNvPr id="11" name="Shape 7"/>
          <p:cNvSpPr/>
          <p:nvPr/>
        </p:nvSpPr>
        <p:spPr>
          <a:xfrm>
            <a:off x="914400" y="3557016"/>
            <a:ext cx="512064" cy="512064"/>
          </a:xfrm>
          <a:prstGeom prst="ellipse">
            <a:avLst/>
          </a:prstGeom>
          <a:solidFill>
            <a:srgbClr val="039475"/>
          </a:solidFill>
          <a:ln/>
        </p:spPr>
        <p:txBody>
          <a:bodyPr/>
          <a:lstStyle/>
          <a:p>
            <a:endParaRPr lang="en-US"/>
          </a:p>
        </p:txBody>
      </p:sp>
      <p:pic>
        <p:nvPicPr>
          <p:cNvPr id="12" name="Image 2" descr="/home/claude/work/build/icons/sitemap_white.png"/>
          <p:cNvPicPr>
            <a:picLocks noChangeAspect="1"/>
          </p:cNvPicPr>
          <p:nvPr/>
        </p:nvPicPr>
        <p:blipFill>
          <a:blip r:embed="rId5"/>
          <a:stretch>
            <a:fillRect/>
          </a:stretch>
        </p:blipFill>
        <p:spPr>
          <a:xfrm>
            <a:off x="1037295" y="3679911"/>
            <a:ext cx="266273" cy="266273"/>
          </a:xfrm>
          <a:prstGeom prst="rect">
            <a:avLst/>
          </a:prstGeom>
        </p:spPr>
      </p:pic>
      <p:sp>
        <p:nvSpPr>
          <p:cNvPr id="13" name="Text 8"/>
          <p:cNvSpPr/>
          <p:nvPr/>
        </p:nvSpPr>
        <p:spPr>
          <a:xfrm>
            <a:off x="1746504" y="3520440"/>
            <a:ext cx="8961120" cy="694944"/>
          </a:xfrm>
          <a:prstGeom prst="rect">
            <a:avLst/>
          </a:prstGeom>
          <a:noFill/>
          <a:ln/>
        </p:spPr>
        <p:txBody>
          <a:bodyPr wrap="square" rtlCol="0" anchor="t"/>
          <a:lstStyle/>
          <a:p>
            <a:pPr marL="0" indent="0">
              <a:lnSpc>
                <a:spcPct val="125000"/>
              </a:lnSpc>
              <a:buNone/>
            </a:pPr>
            <a:r>
              <a:rPr lang="en-US" sz="1800" b="1" dirty="0">
                <a:solidFill>
                  <a:srgbClr val="22302B"/>
                </a:solidFill>
                <a:latin typeface="Calibri" pitchFamily="34" charset="0"/>
                <a:ea typeface="Calibri" pitchFamily="34" charset="-122"/>
                <a:cs typeface="Calibri" pitchFamily="34" charset="-120"/>
              </a:rPr>
              <a:t>Overview of Snakemake</a:t>
            </a:r>
            <a:endParaRPr lang="en-US" sz="1800" dirty="0"/>
          </a:p>
          <a:p>
            <a:pPr marL="0" indent="0">
              <a:lnSpc>
                <a:spcPct val="125000"/>
              </a:lnSpc>
              <a:buNone/>
            </a:pPr>
            <a:r>
              <a:rPr lang="en-US" sz="1250" dirty="0">
                <a:solidFill>
                  <a:srgbClr val="5C6B66"/>
                </a:solidFill>
                <a:latin typeface="Calibri" pitchFamily="34" charset="0"/>
                <a:ea typeface="Calibri" pitchFamily="34" charset="-122"/>
                <a:cs typeface="Calibri" pitchFamily="34" charset="-120"/>
              </a:rPr>
              <a:t>conceptual framework  ·  setup  ·  writing rules  ·  generating a pipeline</a:t>
            </a:r>
            <a:endParaRPr lang="en-US" sz="1800" dirty="0"/>
          </a:p>
        </p:txBody>
      </p:sp>
      <p:sp>
        <p:nvSpPr>
          <p:cNvPr id="14" name="Shape 9"/>
          <p:cNvSpPr/>
          <p:nvPr/>
        </p:nvSpPr>
        <p:spPr>
          <a:xfrm>
            <a:off x="914400" y="4489704"/>
            <a:ext cx="512064" cy="512064"/>
          </a:xfrm>
          <a:prstGeom prst="ellipse">
            <a:avLst/>
          </a:prstGeom>
          <a:solidFill>
            <a:srgbClr val="039475"/>
          </a:solidFill>
          <a:ln/>
        </p:spPr>
        <p:txBody>
          <a:bodyPr/>
          <a:lstStyle/>
          <a:p>
            <a:endParaRPr lang="en-US"/>
          </a:p>
        </p:txBody>
      </p:sp>
      <p:pic>
        <p:nvPicPr>
          <p:cNvPr id="15" name="Image 3" descr="/home/claude/work/build/icons/book_white.png"/>
          <p:cNvPicPr>
            <a:picLocks noChangeAspect="1"/>
          </p:cNvPicPr>
          <p:nvPr/>
        </p:nvPicPr>
        <p:blipFill>
          <a:blip r:embed="rId6"/>
          <a:stretch>
            <a:fillRect/>
          </a:stretch>
        </p:blipFill>
        <p:spPr>
          <a:xfrm>
            <a:off x="1037295" y="4612599"/>
            <a:ext cx="266273" cy="266273"/>
          </a:xfrm>
          <a:prstGeom prst="rect">
            <a:avLst/>
          </a:prstGeom>
        </p:spPr>
      </p:pic>
      <p:sp>
        <p:nvSpPr>
          <p:cNvPr id="16" name="Text 10"/>
          <p:cNvSpPr/>
          <p:nvPr/>
        </p:nvSpPr>
        <p:spPr>
          <a:xfrm>
            <a:off x="1746504" y="4453128"/>
            <a:ext cx="8961120" cy="694944"/>
          </a:xfrm>
          <a:prstGeom prst="rect">
            <a:avLst/>
          </a:prstGeom>
          <a:noFill/>
          <a:ln/>
        </p:spPr>
        <p:txBody>
          <a:bodyPr wrap="square" rtlCol="0" anchor="t"/>
          <a:lstStyle/>
          <a:p>
            <a:pPr marL="0" indent="0">
              <a:lnSpc>
                <a:spcPct val="125000"/>
              </a:lnSpc>
              <a:buNone/>
            </a:pPr>
            <a:r>
              <a:rPr lang="en-US" sz="1800" b="1" dirty="0">
                <a:solidFill>
                  <a:srgbClr val="22302B"/>
                </a:solidFill>
                <a:latin typeface="Calibri" pitchFamily="34" charset="0"/>
                <a:ea typeface="Calibri" pitchFamily="34" charset="-122"/>
                <a:cs typeface="Calibri" pitchFamily="34" charset="-120"/>
              </a:rPr>
              <a:t>Resources</a:t>
            </a:r>
            <a:endParaRPr lang="en-US" sz="1800" dirty="0"/>
          </a:p>
        </p:txBody>
      </p:sp>
      <p:sp>
        <p:nvSpPr>
          <p:cNvPr id="17" name="Shape 11"/>
          <p:cNvSpPr/>
          <p:nvPr/>
        </p:nvSpPr>
        <p:spPr>
          <a:xfrm>
            <a:off x="914400" y="5422392"/>
            <a:ext cx="512064" cy="512064"/>
          </a:xfrm>
          <a:prstGeom prst="ellipse">
            <a:avLst/>
          </a:prstGeom>
          <a:solidFill>
            <a:srgbClr val="039475"/>
          </a:solidFill>
          <a:ln/>
        </p:spPr>
        <p:txBody>
          <a:bodyPr/>
          <a:lstStyle/>
          <a:p>
            <a:endParaRPr lang="en-US"/>
          </a:p>
        </p:txBody>
      </p:sp>
      <p:pic>
        <p:nvPicPr>
          <p:cNvPr id="18" name="Image 4" descr="/home/claude/work/build/icons/question_white.png"/>
          <p:cNvPicPr>
            <a:picLocks noChangeAspect="1"/>
          </p:cNvPicPr>
          <p:nvPr/>
        </p:nvPicPr>
        <p:blipFill>
          <a:blip r:embed="rId7"/>
          <a:stretch>
            <a:fillRect/>
          </a:stretch>
        </p:blipFill>
        <p:spPr>
          <a:xfrm>
            <a:off x="1037295" y="5545287"/>
            <a:ext cx="266273" cy="266273"/>
          </a:xfrm>
          <a:prstGeom prst="rect">
            <a:avLst/>
          </a:prstGeom>
        </p:spPr>
      </p:pic>
      <p:sp>
        <p:nvSpPr>
          <p:cNvPr id="19" name="Text 12"/>
          <p:cNvSpPr/>
          <p:nvPr/>
        </p:nvSpPr>
        <p:spPr>
          <a:xfrm>
            <a:off x="1746504" y="5385816"/>
            <a:ext cx="8961120" cy="694944"/>
          </a:xfrm>
          <a:prstGeom prst="rect">
            <a:avLst/>
          </a:prstGeom>
          <a:noFill/>
          <a:ln/>
        </p:spPr>
        <p:txBody>
          <a:bodyPr wrap="square" rtlCol="0" anchor="t"/>
          <a:lstStyle/>
          <a:p>
            <a:pPr marL="0" indent="0">
              <a:lnSpc>
                <a:spcPct val="125000"/>
              </a:lnSpc>
              <a:buNone/>
            </a:pPr>
            <a:r>
              <a:rPr lang="en-US" sz="1800" b="1" dirty="0">
                <a:solidFill>
                  <a:srgbClr val="22302B"/>
                </a:solidFill>
                <a:latin typeface="Calibri" pitchFamily="34" charset="0"/>
                <a:ea typeface="Calibri" pitchFamily="34" charset="-122"/>
                <a:cs typeface="Calibri" pitchFamily="34" charset="-120"/>
              </a:rPr>
              <a:t>Your questions</a:t>
            </a:r>
            <a:endParaRPr lang="en-US" sz="1800" dirty="0"/>
          </a:p>
        </p:txBody>
      </p:sp>
      <p:sp>
        <p:nvSpPr>
          <p:cNvPr id="20" name="Shape 13"/>
          <p:cNvSpPr/>
          <p:nvPr/>
        </p:nvSpPr>
        <p:spPr>
          <a:xfrm flipV="1">
            <a:off x="8412480" y="2386584"/>
            <a:ext cx="457200" cy="749808"/>
          </a:xfrm>
          <a:prstGeom prst="line">
            <a:avLst/>
          </a:prstGeom>
          <a:noFill/>
          <a:ln w="22225">
            <a:solidFill>
              <a:srgbClr val="B9C7C2"/>
            </a:solidFill>
            <a:prstDash val="solid"/>
            <a:tailEnd type="triangle"/>
          </a:ln>
        </p:spPr>
        <p:txBody>
          <a:bodyPr/>
          <a:lstStyle/>
          <a:p>
            <a:endParaRPr lang="en-US"/>
          </a:p>
        </p:txBody>
      </p:sp>
      <p:sp>
        <p:nvSpPr>
          <p:cNvPr id="21" name="Shape 14"/>
          <p:cNvSpPr/>
          <p:nvPr/>
        </p:nvSpPr>
        <p:spPr>
          <a:xfrm>
            <a:off x="8412480" y="3136392"/>
            <a:ext cx="457200" cy="749808"/>
          </a:xfrm>
          <a:prstGeom prst="line">
            <a:avLst/>
          </a:prstGeom>
          <a:noFill/>
          <a:ln w="22225">
            <a:solidFill>
              <a:srgbClr val="B9C7C2"/>
            </a:solidFill>
            <a:prstDash val="solid"/>
            <a:tailEnd type="triangle"/>
          </a:ln>
        </p:spPr>
        <p:txBody>
          <a:bodyPr/>
          <a:lstStyle/>
          <a:p>
            <a:endParaRPr lang="en-US"/>
          </a:p>
        </p:txBody>
      </p:sp>
      <p:sp>
        <p:nvSpPr>
          <p:cNvPr id="22" name="Shape 15"/>
          <p:cNvSpPr/>
          <p:nvPr/>
        </p:nvSpPr>
        <p:spPr>
          <a:xfrm>
            <a:off x="10012680" y="2386584"/>
            <a:ext cx="457200" cy="749808"/>
          </a:xfrm>
          <a:prstGeom prst="line">
            <a:avLst/>
          </a:prstGeom>
          <a:noFill/>
          <a:ln w="22225">
            <a:solidFill>
              <a:srgbClr val="B9C7C2"/>
            </a:solidFill>
            <a:prstDash val="solid"/>
            <a:tailEnd type="triangle"/>
          </a:ln>
        </p:spPr>
        <p:txBody>
          <a:bodyPr/>
          <a:lstStyle/>
          <a:p>
            <a:endParaRPr lang="en-US"/>
          </a:p>
        </p:txBody>
      </p:sp>
      <p:sp>
        <p:nvSpPr>
          <p:cNvPr id="23" name="Shape 16"/>
          <p:cNvSpPr/>
          <p:nvPr/>
        </p:nvSpPr>
        <p:spPr>
          <a:xfrm flipV="1">
            <a:off x="10012680" y="3136392"/>
            <a:ext cx="457200" cy="749808"/>
          </a:xfrm>
          <a:prstGeom prst="line">
            <a:avLst/>
          </a:prstGeom>
          <a:noFill/>
          <a:ln w="22225">
            <a:solidFill>
              <a:srgbClr val="B9C7C2"/>
            </a:solidFill>
            <a:prstDash val="solid"/>
            <a:tailEnd type="triangle"/>
          </a:ln>
        </p:spPr>
        <p:txBody>
          <a:bodyPr/>
          <a:lstStyle/>
          <a:p>
            <a:endParaRPr lang="en-US"/>
          </a:p>
        </p:txBody>
      </p:sp>
      <p:sp>
        <p:nvSpPr>
          <p:cNvPr id="24" name="Shape 17"/>
          <p:cNvSpPr/>
          <p:nvPr/>
        </p:nvSpPr>
        <p:spPr>
          <a:xfrm>
            <a:off x="7269480" y="2898648"/>
            <a:ext cx="1143000" cy="475488"/>
          </a:xfrm>
          <a:prstGeom prst="roundRect">
            <a:avLst>
              <a:gd name="adj" fmla="val 15385"/>
            </a:avLst>
          </a:prstGeom>
          <a:solidFill>
            <a:srgbClr val="22302B"/>
          </a:solidFill>
          <a:ln/>
        </p:spPr>
        <p:txBody>
          <a:bodyPr/>
          <a:lstStyle/>
          <a:p>
            <a:endParaRPr lang="en-US"/>
          </a:p>
        </p:txBody>
      </p:sp>
      <p:sp>
        <p:nvSpPr>
          <p:cNvPr id="25" name="Text 18"/>
          <p:cNvSpPr/>
          <p:nvPr/>
        </p:nvSpPr>
        <p:spPr>
          <a:xfrm>
            <a:off x="7269480" y="2898648"/>
            <a:ext cx="1143000" cy="475488"/>
          </a:xfrm>
          <a:prstGeom prst="rect">
            <a:avLst/>
          </a:prstGeom>
          <a:noFill/>
          <a:ln/>
        </p:spPr>
        <p:txBody>
          <a:bodyPr wrap="square"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input</a:t>
            </a:r>
            <a:endParaRPr lang="en-US" sz="1100" dirty="0"/>
          </a:p>
        </p:txBody>
      </p:sp>
      <p:sp>
        <p:nvSpPr>
          <p:cNvPr id="26" name="Shape 19"/>
          <p:cNvSpPr/>
          <p:nvPr/>
        </p:nvSpPr>
        <p:spPr>
          <a:xfrm>
            <a:off x="8869680" y="2148840"/>
            <a:ext cx="1143000" cy="475488"/>
          </a:xfrm>
          <a:prstGeom prst="roundRect">
            <a:avLst>
              <a:gd name="adj" fmla="val 15385"/>
            </a:avLst>
          </a:prstGeom>
          <a:solidFill>
            <a:srgbClr val="E4F3EF"/>
          </a:solidFill>
          <a:ln/>
        </p:spPr>
        <p:txBody>
          <a:bodyPr/>
          <a:lstStyle/>
          <a:p>
            <a:endParaRPr lang="en-US"/>
          </a:p>
        </p:txBody>
      </p:sp>
      <p:sp>
        <p:nvSpPr>
          <p:cNvPr id="27" name="Text 20"/>
          <p:cNvSpPr/>
          <p:nvPr/>
        </p:nvSpPr>
        <p:spPr>
          <a:xfrm>
            <a:off x="8869680" y="2148840"/>
            <a:ext cx="1143000" cy="475488"/>
          </a:xfrm>
          <a:prstGeom prst="rect">
            <a:avLst/>
          </a:prstGeom>
          <a:noFill/>
          <a:ln/>
        </p:spPr>
        <p:txBody>
          <a:bodyPr wrap="square" rtlCol="0" anchor="ctr"/>
          <a:lstStyle/>
          <a:p>
            <a:pPr marL="0" indent="0" algn="ctr">
              <a:buNone/>
            </a:pPr>
            <a:r>
              <a:rPr lang="en-US" sz="1100" dirty="0">
                <a:solidFill>
                  <a:srgbClr val="057A62"/>
                </a:solidFill>
                <a:latin typeface="Courier New" pitchFamily="34" charset="0"/>
                <a:ea typeface="Courier New" pitchFamily="34" charset="-122"/>
                <a:cs typeface="Courier New" pitchFamily="34" charset="-120"/>
              </a:rPr>
              <a:t>rule A</a:t>
            </a:r>
            <a:endParaRPr lang="en-US" sz="1100" dirty="0"/>
          </a:p>
        </p:txBody>
      </p:sp>
      <p:sp>
        <p:nvSpPr>
          <p:cNvPr id="28" name="Shape 21"/>
          <p:cNvSpPr/>
          <p:nvPr/>
        </p:nvSpPr>
        <p:spPr>
          <a:xfrm>
            <a:off x="8869680" y="3648456"/>
            <a:ext cx="1143000" cy="475488"/>
          </a:xfrm>
          <a:prstGeom prst="roundRect">
            <a:avLst>
              <a:gd name="adj" fmla="val 15385"/>
            </a:avLst>
          </a:prstGeom>
          <a:solidFill>
            <a:srgbClr val="E4F3EF"/>
          </a:solidFill>
          <a:ln/>
        </p:spPr>
        <p:txBody>
          <a:bodyPr/>
          <a:lstStyle/>
          <a:p>
            <a:endParaRPr lang="en-US"/>
          </a:p>
        </p:txBody>
      </p:sp>
      <p:sp>
        <p:nvSpPr>
          <p:cNvPr id="29" name="Text 22"/>
          <p:cNvSpPr/>
          <p:nvPr/>
        </p:nvSpPr>
        <p:spPr>
          <a:xfrm>
            <a:off x="8869680" y="3648456"/>
            <a:ext cx="1143000" cy="475488"/>
          </a:xfrm>
          <a:prstGeom prst="rect">
            <a:avLst/>
          </a:prstGeom>
          <a:noFill/>
          <a:ln/>
        </p:spPr>
        <p:txBody>
          <a:bodyPr wrap="square" rtlCol="0" anchor="ctr"/>
          <a:lstStyle/>
          <a:p>
            <a:pPr marL="0" indent="0" algn="ctr">
              <a:buNone/>
            </a:pPr>
            <a:r>
              <a:rPr lang="en-US" sz="1100" dirty="0">
                <a:solidFill>
                  <a:srgbClr val="057A62"/>
                </a:solidFill>
                <a:latin typeface="Courier New" pitchFamily="34" charset="0"/>
                <a:ea typeface="Courier New" pitchFamily="34" charset="-122"/>
                <a:cs typeface="Courier New" pitchFamily="34" charset="-120"/>
              </a:rPr>
              <a:t>rule B</a:t>
            </a:r>
            <a:endParaRPr lang="en-US" sz="1100" dirty="0"/>
          </a:p>
        </p:txBody>
      </p:sp>
      <p:sp>
        <p:nvSpPr>
          <p:cNvPr id="30" name="Shape 23"/>
          <p:cNvSpPr/>
          <p:nvPr/>
        </p:nvSpPr>
        <p:spPr>
          <a:xfrm>
            <a:off x="10469880" y="2898648"/>
            <a:ext cx="1143000" cy="475488"/>
          </a:xfrm>
          <a:prstGeom prst="roundRect">
            <a:avLst>
              <a:gd name="adj" fmla="val 15385"/>
            </a:avLst>
          </a:prstGeom>
          <a:solidFill>
            <a:srgbClr val="22302B"/>
          </a:solidFill>
          <a:ln/>
        </p:spPr>
        <p:txBody>
          <a:bodyPr/>
          <a:lstStyle/>
          <a:p>
            <a:endParaRPr lang="en-US"/>
          </a:p>
        </p:txBody>
      </p:sp>
      <p:sp>
        <p:nvSpPr>
          <p:cNvPr id="31" name="Text 24"/>
          <p:cNvSpPr/>
          <p:nvPr/>
        </p:nvSpPr>
        <p:spPr>
          <a:xfrm>
            <a:off x="10469880" y="2898648"/>
            <a:ext cx="1143000" cy="475488"/>
          </a:xfrm>
          <a:prstGeom prst="rect">
            <a:avLst/>
          </a:prstGeom>
          <a:noFill/>
          <a:ln/>
        </p:spPr>
        <p:txBody>
          <a:bodyPr wrap="square"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result</a:t>
            </a:r>
            <a:endParaRPr lang="en-US" sz="1100" dirty="0"/>
          </a:p>
        </p:txBody>
      </p:sp>
      <p:sp>
        <p:nvSpPr>
          <p:cNvPr id="32" name="Text 25"/>
          <p:cNvSpPr/>
          <p:nvPr/>
        </p:nvSpPr>
        <p:spPr>
          <a:xfrm>
            <a:off x="7269480" y="4443984"/>
            <a:ext cx="4343400" cy="320040"/>
          </a:xfrm>
          <a:prstGeom prst="rect">
            <a:avLst/>
          </a:prstGeom>
          <a:noFill/>
          <a:ln/>
        </p:spPr>
        <p:txBody>
          <a:bodyPr wrap="square" rtlCol="0" anchor="ctr"/>
          <a:lstStyle/>
          <a:p>
            <a:pPr marL="0" indent="0" algn="ctr">
              <a:buNone/>
            </a:pPr>
            <a:r>
              <a:rPr lang="en-US" sz="1150" i="1" dirty="0">
                <a:solidFill>
                  <a:srgbClr val="8A9995"/>
                </a:solidFill>
                <a:latin typeface="Calibri" pitchFamily="34" charset="0"/>
                <a:ea typeface="Calibri" pitchFamily="34" charset="-122"/>
                <a:cs typeface="Calibri" pitchFamily="34" charset="-120"/>
              </a:rPr>
              <a:t>rules + files in, a graph of jobs out</a:t>
            </a:r>
            <a:endParaRPr lang="en-US" sz="1150" dirty="0"/>
          </a:p>
        </p:txBody>
      </p:sp>
      <p:sp>
        <p:nvSpPr>
          <p:cNvPr id="33" name="Text 26"/>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34" name="Text 27"/>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THE MOTIVATION</a:t>
            </a:r>
            <a:endParaRPr lang="en-US" sz="1200" dirty="0"/>
          </a:p>
        </p:txBody>
      </p:sp>
      <p:sp>
        <p:nvSpPr>
          <p:cNvPr id="3" name="Text 1"/>
          <p:cNvSpPr/>
          <p:nvPr/>
        </p:nvSpPr>
        <p:spPr>
          <a:xfrm>
            <a:off x="548640" y="640080"/>
            <a:ext cx="6720840" cy="640080"/>
          </a:xfrm>
          <a:prstGeom prst="rect">
            <a:avLst/>
          </a:prstGeom>
          <a:noFill/>
          <a:ln/>
        </p:spPr>
        <p:txBody>
          <a:bodyPr wrap="square" rtlCol="0" anchor="ctr"/>
          <a:lstStyle/>
          <a:p>
            <a:pPr marL="0" indent="0" algn="l">
              <a:buNone/>
            </a:pPr>
            <a:r>
              <a:rPr lang="en-US" sz="2800" b="1" dirty="0">
                <a:solidFill>
                  <a:srgbClr val="22302B"/>
                </a:solidFill>
                <a:latin typeface="Calibri" pitchFamily="34" charset="0"/>
                <a:ea typeface="Calibri" pitchFamily="34" charset="-122"/>
                <a:cs typeface="Calibri" pitchFamily="34" charset="-120"/>
              </a:rPr>
              <a:t>Why use a workflow management tool</a:t>
            </a:r>
            <a:endParaRPr lang="en-US" sz="2800" dirty="0"/>
          </a:p>
        </p:txBody>
      </p:sp>
      <p:sp>
        <p:nvSpPr>
          <p:cNvPr id="4" name="Shape 2"/>
          <p:cNvSpPr/>
          <p:nvPr/>
        </p:nvSpPr>
        <p:spPr>
          <a:xfrm>
            <a:off x="7765999" y="1325880"/>
            <a:ext cx="3877056" cy="4846320"/>
          </a:xfrm>
          <a:prstGeom prst="roundRect">
            <a:avLst>
              <a:gd name="adj" fmla="val 2830"/>
            </a:avLst>
          </a:prstGeom>
          <a:solidFill>
            <a:srgbClr val="F7F0EA"/>
          </a:solidFill>
          <a:ln/>
          <a:effectLst>
            <a:outerShdw blurRad="152400" dist="38100" dir="5400000" algn="bl" rotWithShape="0">
              <a:srgbClr val="1B2E27">
                <a:alpha val="22000"/>
              </a:srgbClr>
            </a:outerShdw>
          </a:effectLst>
        </p:spPr>
        <p:txBody>
          <a:bodyPr/>
          <a:lstStyle/>
          <a:p>
            <a:endParaRPr lang="en-US"/>
          </a:p>
        </p:txBody>
      </p:sp>
      <p:pic>
        <p:nvPicPr>
          <p:cNvPr id="5" name="Image 0" descr="/home/claude/work/build/photo_before.jpg"/>
          <p:cNvPicPr>
            <a:picLocks noChangeAspect="1"/>
          </p:cNvPicPr>
          <p:nvPr/>
        </p:nvPicPr>
        <p:blipFill>
          <a:blip r:embed="rId3"/>
          <a:srcRect/>
          <a:stretch/>
        </p:blipFill>
        <p:spPr>
          <a:xfrm>
            <a:off x="7765999" y="1325880"/>
            <a:ext cx="3877056" cy="4846320"/>
          </a:xfrm>
          <a:prstGeom prst="rect">
            <a:avLst/>
          </a:prstGeom>
        </p:spPr>
      </p:pic>
      <p:sp>
        <p:nvSpPr>
          <p:cNvPr id="6" name="Text 3"/>
          <p:cNvSpPr/>
          <p:nvPr/>
        </p:nvSpPr>
        <p:spPr>
          <a:xfrm>
            <a:off x="548640" y="1371600"/>
            <a:ext cx="6720840" cy="457200"/>
          </a:xfrm>
          <a:prstGeom prst="rect">
            <a:avLst/>
          </a:prstGeom>
          <a:noFill/>
          <a:ln/>
        </p:spPr>
        <p:txBody>
          <a:bodyPr wrap="square" rtlCol="0" anchor="ctr"/>
          <a:lstStyle/>
          <a:p>
            <a:pPr marL="0" indent="0">
              <a:lnSpc>
                <a:spcPct val="115000"/>
              </a:lnSpc>
              <a:buNone/>
            </a:pPr>
            <a:r>
              <a:rPr lang="en-US" sz="1700" b="1" dirty="0">
                <a:solidFill>
                  <a:srgbClr val="B0523C"/>
                </a:solidFill>
                <a:latin typeface="Calibri" pitchFamily="34" charset="0"/>
                <a:ea typeface="Calibri" pitchFamily="34" charset="-122"/>
                <a:cs typeface="Calibri" pitchFamily="34" charset="-120"/>
              </a:rPr>
              <a:t>Doing it by hand</a:t>
            </a:r>
            <a:endParaRPr lang="en-US" sz="1700" dirty="0"/>
          </a:p>
        </p:txBody>
      </p:sp>
      <p:sp>
        <p:nvSpPr>
          <p:cNvPr id="7" name="Shape 4"/>
          <p:cNvSpPr/>
          <p:nvPr/>
        </p:nvSpPr>
        <p:spPr>
          <a:xfrm>
            <a:off x="548640" y="2121408"/>
            <a:ext cx="365760" cy="365760"/>
          </a:xfrm>
          <a:prstGeom prst="ellipse">
            <a:avLst/>
          </a:prstGeom>
          <a:solidFill>
            <a:srgbClr val="F1E4DC"/>
          </a:solidFill>
          <a:ln/>
        </p:spPr>
        <p:txBody>
          <a:bodyPr/>
          <a:lstStyle/>
          <a:p>
            <a:endParaRPr lang="en-US"/>
          </a:p>
        </p:txBody>
      </p:sp>
      <p:pic>
        <p:nvPicPr>
          <p:cNvPr id="8" name="Image 1" descr="/home/claude/work/build/icons/times_amber.png"/>
          <p:cNvPicPr>
            <a:picLocks noChangeAspect="1"/>
          </p:cNvPicPr>
          <p:nvPr/>
        </p:nvPicPr>
        <p:blipFill>
          <a:blip r:embed="rId4"/>
          <a:stretch>
            <a:fillRect/>
          </a:stretch>
        </p:blipFill>
        <p:spPr>
          <a:xfrm>
            <a:off x="643738" y="2216506"/>
            <a:ext cx="175565" cy="175565"/>
          </a:xfrm>
          <a:prstGeom prst="rect">
            <a:avLst/>
          </a:prstGeom>
        </p:spPr>
      </p:pic>
      <p:sp>
        <p:nvSpPr>
          <p:cNvPr id="9" name="Text 5"/>
          <p:cNvSpPr/>
          <p:nvPr/>
        </p:nvSpPr>
        <p:spPr>
          <a:xfrm>
            <a:off x="1115568" y="2093976"/>
            <a:ext cx="6153912" cy="457200"/>
          </a:xfrm>
          <a:prstGeom prst="rect">
            <a:avLst/>
          </a:prstGeom>
          <a:noFill/>
          <a:ln/>
        </p:spPr>
        <p:txBody>
          <a:bodyPr wrap="square" rtlCol="0" anchor="t"/>
          <a:lstStyle/>
          <a:p>
            <a:pPr marL="0" indent="0">
              <a:lnSpc>
                <a:spcPct val="112000"/>
              </a:lnSpc>
              <a:buNone/>
            </a:pPr>
            <a:r>
              <a:rPr lang="en-US" sz="1450" dirty="0">
                <a:solidFill>
                  <a:srgbClr val="22302B"/>
                </a:solidFill>
                <a:latin typeface="Calibri" pitchFamily="34" charset="0"/>
                <a:ea typeface="Calibri" pitchFamily="34" charset="-122"/>
                <a:cs typeface="Calibri" pitchFamily="34" charset="-120"/>
              </a:rPr>
              <a:t>Steps live in memory, a README, or scattered scripts</a:t>
            </a:r>
            <a:endParaRPr lang="en-US" sz="1450" dirty="0"/>
          </a:p>
        </p:txBody>
      </p:sp>
      <p:sp>
        <p:nvSpPr>
          <p:cNvPr id="10" name="Shape 6"/>
          <p:cNvSpPr/>
          <p:nvPr/>
        </p:nvSpPr>
        <p:spPr>
          <a:xfrm>
            <a:off x="548640" y="2907792"/>
            <a:ext cx="365760" cy="365760"/>
          </a:xfrm>
          <a:prstGeom prst="ellipse">
            <a:avLst/>
          </a:prstGeom>
          <a:solidFill>
            <a:srgbClr val="F1E4DC"/>
          </a:solidFill>
          <a:ln/>
        </p:spPr>
        <p:txBody>
          <a:bodyPr/>
          <a:lstStyle/>
          <a:p>
            <a:endParaRPr lang="en-US"/>
          </a:p>
        </p:txBody>
      </p:sp>
      <p:pic>
        <p:nvPicPr>
          <p:cNvPr id="11" name="Image 2" descr="/home/claude/work/build/icons/times_amber.png"/>
          <p:cNvPicPr>
            <a:picLocks noChangeAspect="1"/>
          </p:cNvPicPr>
          <p:nvPr/>
        </p:nvPicPr>
        <p:blipFill>
          <a:blip r:embed="rId4"/>
          <a:stretch>
            <a:fillRect/>
          </a:stretch>
        </p:blipFill>
        <p:spPr>
          <a:xfrm>
            <a:off x="643738" y="3002890"/>
            <a:ext cx="175565" cy="175565"/>
          </a:xfrm>
          <a:prstGeom prst="rect">
            <a:avLst/>
          </a:prstGeom>
        </p:spPr>
      </p:pic>
      <p:sp>
        <p:nvSpPr>
          <p:cNvPr id="12" name="Text 7"/>
          <p:cNvSpPr/>
          <p:nvPr/>
        </p:nvSpPr>
        <p:spPr>
          <a:xfrm>
            <a:off x="1115568" y="2880360"/>
            <a:ext cx="6153912" cy="457200"/>
          </a:xfrm>
          <a:prstGeom prst="rect">
            <a:avLst/>
          </a:prstGeom>
          <a:noFill/>
          <a:ln/>
        </p:spPr>
        <p:txBody>
          <a:bodyPr wrap="square" rtlCol="0" anchor="t"/>
          <a:lstStyle/>
          <a:p>
            <a:pPr marL="0" indent="0">
              <a:lnSpc>
                <a:spcPct val="112000"/>
              </a:lnSpc>
              <a:buNone/>
            </a:pPr>
            <a:r>
              <a:rPr lang="en-US" sz="1450" dirty="0">
                <a:solidFill>
                  <a:srgbClr val="22302B"/>
                </a:solidFill>
                <a:latin typeface="Calibri" pitchFamily="34" charset="0"/>
                <a:ea typeface="Calibri" pitchFamily="34" charset="-122"/>
                <a:cs typeface="Calibri" pitchFamily="34" charset="-120"/>
              </a:rPr>
              <a:t>Easy to lose track of what ran, with which parameters</a:t>
            </a:r>
            <a:endParaRPr lang="en-US" sz="1450" dirty="0"/>
          </a:p>
        </p:txBody>
      </p:sp>
      <p:sp>
        <p:nvSpPr>
          <p:cNvPr id="13" name="Shape 8"/>
          <p:cNvSpPr/>
          <p:nvPr/>
        </p:nvSpPr>
        <p:spPr>
          <a:xfrm>
            <a:off x="548640" y="3694176"/>
            <a:ext cx="365760" cy="365760"/>
          </a:xfrm>
          <a:prstGeom prst="ellipse">
            <a:avLst/>
          </a:prstGeom>
          <a:solidFill>
            <a:srgbClr val="F1E4DC"/>
          </a:solidFill>
          <a:ln/>
        </p:spPr>
        <p:txBody>
          <a:bodyPr/>
          <a:lstStyle/>
          <a:p>
            <a:endParaRPr lang="en-US"/>
          </a:p>
        </p:txBody>
      </p:sp>
      <p:pic>
        <p:nvPicPr>
          <p:cNvPr id="14" name="Image 3" descr="/home/claude/work/build/icons/times_amber.png"/>
          <p:cNvPicPr>
            <a:picLocks noChangeAspect="1"/>
          </p:cNvPicPr>
          <p:nvPr/>
        </p:nvPicPr>
        <p:blipFill>
          <a:blip r:embed="rId4"/>
          <a:stretch>
            <a:fillRect/>
          </a:stretch>
        </p:blipFill>
        <p:spPr>
          <a:xfrm>
            <a:off x="643738" y="3789274"/>
            <a:ext cx="175565" cy="175565"/>
          </a:xfrm>
          <a:prstGeom prst="rect">
            <a:avLst/>
          </a:prstGeom>
        </p:spPr>
      </p:pic>
      <p:sp>
        <p:nvSpPr>
          <p:cNvPr id="15" name="Text 9"/>
          <p:cNvSpPr/>
          <p:nvPr/>
        </p:nvSpPr>
        <p:spPr>
          <a:xfrm>
            <a:off x="1115568" y="3666744"/>
            <a:ext cx="6153912" cy="457200"/>
          </a:xfrm>
          <a:prstGeom prst="rect">
            <a:avLst/>
          </a:prstGeom>
          <a:noFill/>
          <a:ln/>
        </p:spPr>
        <p:txBody>
          <a:bodyPr wrap="square" rtlCol="0" anchor="t"/>
          <a:lstStyle/>
          <a:p>
            <a:pPr marL="0" indent="0">
              <a:lnSpc>
                <a:spcPct val="112000"/>
              </a:lnSpc>
              <a:buNone/>
            </a:pPr>
            <a:r>
              <a:rPr lang="en-US" sz="1450" dirty="0">
                <a:solidFill>
                  <a:srgbClr val="22302B"/>
                </a:solidFill>
                <a:latin typeface="Calibri" pitchFamily="34" charset="0"/>
                <a:ea typeface="Calibri" pitchFamily="34" charset="-122"/>
                <a:cs typeface="Calibri" pitchFamily="34" charset="-120"/>
              </a:rPr>
              <a:t>Re-running means re-running everything from scratch</a:t>
            </a:r>
            <a:endParaRPr lang="en-US" sz="1450" dirty="0"/>
          </a:p>
        </p:txBody>
      </p:sp>
      <p:sp>
        <p:nvSpPr>
          <p:cNvPr id="16" name="Shape 10"/>
          <p:cNvSpPr/>
          <p:nvPr/>
        </p:nvSpPr>
        <p:spPr>
          <a:xfrm>
            <a:off x="548640" y="4480560"/>
            <a:ext cx="365760" cy="365760"/>
          </a:xfrm>
          <a:prstGeom prst="ellipse">
            <a:avLst/>
          </a:prstGeom>
          <a:solidFill>
            <a:srgbClr val="F1E4DC"/>
          </a:solidFill>
          <a:ln/>
        </p:spPr>
        <p:txBody>
          <a:bodyPr/>
          <a:lstStyle/>
          <a:p>
            <a:endParaRPr lang="en-US"/>
          </a:p>
        </p:txBody>
      </p:sp>
      <p:pic>
        <p:nvPicPr>
          <p:cNvPr id="17" name="Image 4" descr="/home/claude/work/build/icons/times_amber.png"/>
          <p:cNvPicPr>
            <a:picLocks noChangeAspect="1"/>
          </p:cNvPicPr>
          <p:nvPr/>
        </p:nvPicPr>
        <p:blipFill>
          <a:blip r:embed="rId4"/>
          <a:stretch>
            <a:fillRect/>
          </a:stretch>
        </p:blipFill>
        <p:spPr>
          <a:xfrm>
            <a:off x="643738" y="4575658"/>
            <a:ext cx="175565" cy="175565"/>
          </a:xfrm>
          <a:prstGeom prst="rect">
            <a:avLst/>
          </a:prstGeom>
        </p:spPr>
      </p:pic>
      <p:sp>
        <p:nvSpPr>
          <p:cNvPr id="18" name="Text 11"/>
          <p:cNvSpPr/>
          <p:nvPr/>
        </p:nvSpPr>
        <p:spPr>
          <a:xfrm>
            <a:off x="1115568" y="4453128"/>
            <a:ext cx="6153912" cy="457200"/>
          </a:xfrm>
          <a:prstGeom prst="rect">
            <a:avLst/>
          </a:prstGeom>
          <a:noFill/>
          <a:ln/>
        </p:spPr>
        <p:txBody>
          <a:bodyPr wrap="square" rtlCol="0" anchor="t"/>
          <a:lstStyle/>
          <a:p>
            <a:pPr marL="0" indent="0">
              <a:lnSpc>
                <a:spcPct val="112000"/>
              </a:lnSpc>
              <a:buNone/>
            </a:pPr>
            <a:r>
              <a:rPr lang="en-US" sz="1450" dirty="0">
                <a:solidFill>
                  <a:srgbClr val="22302B"/>
                </a:solidFill>
                <a:latin typeface="Calibri" pitchFamily="34" charset="0"/>
                <a:ea typeface="Calibri" pitchFamily="34" charset="-122"/>
                <a:cs typeface="Calibri" pitchFamily="34" charset="-120"/>
              </a:rPr>
              <a:t>Hard to scale past your own laptop</a:t>
            </a:r>
            <a:endParaRPr lang="en-US" sz="1450" dirty="0"/>
          </a:p>
        </p:txBody>
      </p:sp>
      <p:sp>
        <p:nvSpPr>
          <p:cNvPr id="19" name="Text 12"/>
          <p:cNvSpPr/>
          <p:nvPr/>
        </p:nvSpPr>
        <p:spPr>
          <a:xfrm>
            <a:off x="548640" y="5449824"/>
            <a:ext cx="6720840" cy="548640"/>
          </a:xfrm>
          <a:prstGeom prst="rect">
            <a:avLst/>
          </a:prstGeom>
          <a:noFill/>
          <a:ln/>
        </p:spPr>
        <p:txBody>
          <a:bodyPr wrap="square" rtlCol="0" anchor="ctr"/>
          <a:lstStyle/>
          <a:p>
            <a:pPr marL="0" indent="0">
              <a:lnSpc>
                <a:spcPct val="125000"/>
              </a:lnSpc>
              <a:buNone/>
            </a:pPr>
            <a:r>
              <a:rPr lang="en-US" sz="1300" i="1" dirty="0">
                <a:solidFill>
                  <a:srgbClr val="5C6B66"/>
                </a:solidFill>
                <a:latin typeface="Calibri" pitchFamily="34" charset="0"/>
                <a:ea typeface="Calibri" pitchFamily="34" charset="-122"/>
                <a:cs typeface="Calibri" pitchFamily="34" charset="-120"/>
              </a:rPr>
              <a:t>Sound familiar? If you split your time between the bench and the terminal, you can't also afford to hold the pipeline in your head.</a:t>
            </a:r>
            <a:endParaRPr lang="en-US" sz="1300" dirty="0"/>
          </a:p>
        </p:txBody>
      </p:sp>
      <p:sp>
        <p:nvSpPr>
          <p:cNvPr id="20" name="Text 13"/>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21" name="Text 14"/>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3</a:t>
            </a:r>
            <a:endParaRPr lang="en-US" sz="900" dirty="0"/>
          </a:p>
        </p:txBody>
      </p:sp>
      <p:sp>
        <p:nvSpPr>
          <p:cNvPr id="23" name="TextBox 22">
            <a:extLst>
              <a:ext uri="{FF2B5EF4-FFF2-40B4-BE49-F238E27FC236}">
                <a16:creationId xmlns:a16="http://schemas.microsoft.com/office/drawing/2014/main" id="{58E13765-32F4-0D4F-BAD7-1ED6AAB9C54D}"/>
              </a:ext>
            </a:extLst>
          </p:cNvPr>
          <p:cNvSpPr txBox="1"/>
          <p:nvPr/>
        </p:nvSpPr>
        <p:spPr>
          <a:xfrm>
            <a:off x="9185564" y="6172200"/>
            <a:ext cx="2592530" cy="253916"/>
          </a:xfrm>
          <a:prstGeom prst="rect">
            <a:avLst/>
          </a:prstGeom>
          <a:noFill/>
        </p:spPr>
        <p:txBody>
          <a:bodyPr wrap="square">
            <a:spAutoFit/>
          </a:bodyPr>
          <a:lstStyle/>
          <a:p>
            <a:pPr marL="0" indent="0" algn="ctr">
              <a:buNone/>
            </a:pPr>
            <a:r>
              <a:rPr lang="en-US" sz="1050" i="1" dirty="0">
                <a:solidFill>
                  <a:srgbClr val="5E7269"/>
                </a:solidFill>
                <a:latin typeface="Calibri" pitchFamily="34" charset="0"/>
                <a:ea typeface="Calibri" pitchFamily="34" charset="-122"/>
                <a:cs typeface="Calibri" pitchFamily="34" charset="-120"/>
              </a:rPr>
              <a:t>Photo: Eliza Daigle · Pictured: Anup Bhusal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THE MOTIVATION</a:t>
            </a:r>
            <a:endParaRPr lang="en-US" sz="1200" dirty="0"/>
          </a:p>
        </p:txBody>
      </p:sp>
      <p:sp>
        <p:nvSpPr>
          <p:cNvPr id="3" name="Text 1"/>
          <p:cNvSpPr/>
          <p:nvPr/>
        </p:nvSpPr>
        <p:spPr>
          <a:xfrm>
            <a:off x="548640" y="640080"/>
            <a:ext cx="6720840" cy="640080"/>
          </a:xfrm>
          <a:prstGeom prst="rect">
            <a:avLst/>
          </a:prstGeom>
          <a:noFill/>
          <a:ln/>
        </p:spPr>
        <p:txBody>
          <a:bodyPr wrap="square" rtlCol="0" anchor="ctr"/>
          <a:lstStyle/>
          <a:p>
            <a:pPr marL="0" indent="0" algn="l">
              <a:buNone/>
            </a:pPr>
            <a:r>
              <a:rPr lang="en-US" sz="2800" b="1" dirty="0">
                <a:solidFill>
                  <a:srgbClr val="22302B"/>
                </a:solidFill>
                <a:latin typeface="Calibri" pitchFamily="34" charset="0"/>
                <a:ea typeface="Calibri" pitchFamily="34" charset="-122"/>
                <a:cs typeface="Calibri" pitchFamily="34" charset="-120"/>
              </a:rPr>
              <a:t>Why use a workflow management tool</a:t>
            </a:r>
            <a:endParaRPr lang="en-US" sz="2800" dirty="0"/>
          </a:p>
        </p:txBody>
      </p:sp>
      <p:sp>
        <p:nvSpPr>
          <p:cNvPr id="4" name="Shape 2"/>
          <p:cNvSpPr/>
          <p:nvPr/>
        </p:nvSpPr>
        <p:spPr>
          <a:xfrm>
            <a:off x="7765999" y="1325880"/>
            <a:ext cx="3877056" cy="4846320"/>
          </a:xfrm>
          <a:prstGeom prst="roundRect">
            <a:avLst>
              <a:gd name="adj" fmla="val 2830"/>
            </a:avLst>
          </a:prstGeom>
          <a:solidFill>
            <a:srgbClr val="E4F3EF"/>
          </a:solidFill>
          <a:ln/>
          <a:effectLst>
            <a:outerShdw blurRad="152400" dist="38100" dir="5400000" algn="bl" rotWithShape="0">
              <a:srgbClr val="1B2E27">
                <a:alpha val="22000"/>
              </a:srgbClr>
            </a:outerShdw>
          </a:effectLst>
        </p:spPr>
        <p:txBody>
          <a:bodyPr/>
          <a:lstStyle/>
          <a:p>
            <a:endParaRPr lang="en-US"/>
          </a:p>
        </p:txBody>
      </p:sp>
      <p:pic>
        <p:nvPicPr>
          <p:cNvPr id="5" name="Image 0" descr="/home/claude/work/build/photo_after.jpg"/>
          <p:cNvPicPr>
            <a:picLocks noChangeAspect="1"/>
          </p:cNvPicPr>
          <p:nvPr/>
        </p:nvPicPr>
        <p:blipFill>
          <a:blip r:embed="rId3"/>
          <a:srcRect/>
          <a:stretch/>
        </p:blipFill>
        <p:spPr>
          <a:xfrm>
            <a:off x="7765999" y="1325880"/>
            <a:ext cx="3877056" cy="4846320"/>
          </a:xfrm>
          <a:prstGeom prst="rect">
            <a:avLst/>
          </a:prstGeom>
        </p:spPr>
      </p:pic>
      <p:sp>
        <p:nvSpPr>
          <p:cNvPr id="6" name="Text 3"/>
          <p:cNvSpPr/>
          <p:nvPr/>
        </p:nvSpPr>
        <p:spPr>
          <a:xfrm>
            <a:off x="548640" y="1371600"/>
            <a:ext cx="6720840" cy="457200"/>
          </a:xfrm>
          <a:prstGeom prst="rect">
            <a:avLst/>
          </a:prstGeom>
          <a:noFill/>
          <a:ln/>
        </p:spPr>
        <p:txBody>
          <a:bodyPr wrap="square" rtlCol="0" anchor="ctr"/>
          <a:lstStyle/>
          <a:p>
            <a:pPr marL="0" indent="0">
              <a:lnSpc>
                <a:spcPct val="115000"/>
              </a:lnSpc>
              <a:buNone/>
            </a:pPr>
            <a:r>
              <a:rPr lang="en-US" sz="1700" b="1" dirty="0">
                <a:solidFill>
                  <a:srgbClr val="057A62"/>
                </a:solidFill>
                <a:latin typeface="Calibri" pitchFamily="34" charset="0"/>
                <a:ea typeface="Calibri" pitchFamily="34" charset="-122"/>
                <a:cs typeface="Calibri" pitchFamily="34" charset="-120"/>
              </a:rPr>
              <a:t>Doing it with Snakemake</a:t>
            </a:r>
            <a:endParaRPr lang="en-US" sz="1700" dirty="0"/>
          </a:p>
        </p:txBody>
      </p:sp>
      <p:sp>
        <p:nvSpPr>
          <p:cNvPr id="7" name="Shape 4"/>
          <p:cNvSpPr/>
          <p:nvPr/>
        </p:nvSpPr>
        <p:spPr>
          <a:xfrm>
            <a:off x="548640" y="2121408"/>
            <a:ext cx="365760" cy="365760"/>
          </a:xfrm>
          <a:prstGeom prst="ellipse">
            <a:avLst/>
          </a:prstGeom>
          <a:solidFill>
            <a:srgbClr val="FFFFFF"/>
          </a:solidFill>
          <a:ln/>
        </p:spPr>
        <p:txBody>
          <a:bodyPr/>
          <a:lstStyle/>
          <a:p>
            <a:endParaRPr lang="en-US"/>
          </a:p>
        </p:txBody>
      </p:sp>
      <p:pic>
        <p:nvPicPr>
          <p:cNvPr id="8" name="Image 1" descr="/home/claude/work/build/icons/check_teal.png"/>
          <p:cNvPicPr>
            <a:picLocks noChangeAspect="1"/>
          </p:cNvPicPr>
          <p:nvPr/>
        </p:nvPicPr>
        <p:blipFill>
          <a:blip r:embed="rId4"/>
          <a:stretch>
            <a:fillRect/>
          </a:stretch>
        </p:blipFill>
        <p:spPr>
          <a:xfrm>
            <a:off x="643738" y="2216506"/>
            <a:ext cx="175565" cy="175565"/>
          </a:xfrm>
          <a:prstGeom prst="rect">
            <a:avLst/>
          </a:prstGeom>
        </p:spPr>
      </p:pic>
      <p:sp>
        <p:nvSpPr>
          <p:cNvPr id="9" name="Text 5"/>
          <p:cNvSpPr/>
          <p:nvPr/>
        </p:nvSpPr>
        <p:spPr>
          <a:xfrm>
            <a:off x="1115568" y="2093976"/>
            <a:ext cx="6153912" cy="457200"/>
          </a:xfrm>
          <a:prstGeom prst="rect">
            <a:avLst/>
          </a:prstGeom>
          <a:noFill/>
          <a:ln/>
        </p:spPr>
        <p:txBody>
          <a:bodyPr wrap="square" rtlCol="0" anchor="t"/>
          <a:lstStyle/>
          <a:p>
            <a:pPr marL="0" indent="0">
              <a:lnSpc>
                <a:spcPct val="112000"/>
              </a:lnSpc>
              <a:buNone/>
            </a:pPr>
            <a:r>
              <a:rPr lang="en-US" sz="1450" dirty="0">
                <a:solidFill>
                  <a:srgbClr val="22302B"/>
                </a:solidFill>
                <a:latin typeface="Calibri" pitchFamily="34" charset="0"/>
                <a:ea typeface="Calibri" pitchFamily="34" charset="-122"/>
                <a:cs typeface="Calibri" pitchFamily="34" charset="-120"/>
              </a:rPr>
              <a:t>Rules declare dependencies — order is inferred, not memorized</a:t>
            </a:r>
            <a:endParaRPr lang="en-US" sz="1450" dirty="0"/>
          </a:p>
        </p:txBody>
      </p:sp>
      <p:sp>
        <p:nvSpPr>
          <p:cNvPr id="10" name="Shape 6"/>
          <p:cNvSpPr/>
          <p:nvPr/>
        </p:nvSpPr>
        <p:spPr>
          <a:xfrm>
            <a:off x="548640" y="2907792"/>
            <a:ext cx="365760" cy="365760"/>
          </a:xfrm>
          <a:prstGeom prst="ellipse">
            <a:avLst/>
          </a:prstGeom>
          <a:solidFill>
            <a:srgbClr val="FFFFFF"/>
          </a:solidFill>
          <a:ln/>
        </p:spPr>
        <p:txBody>
          <a:bodyPr/>
          <a:lstStyle/>
          <a:p>
            <a:endParaRPr lang="en-US"/>
          </a:p>
        </p:txBody>
      </p:sp>
      <p:pic>
        <p:nvPicPr>
          <p:cNvPr id="11" name="Image 2" descr="/home/claude/work/build/icons/check_teal.png"/>
          <p:cNvPicPr>
            <a:picLocks noChangeAspect="1"/>
          </p:cNvPicPr>
          <p:nvPr/>
        </p:nvPicPr>
        <p:blipFill>
          <a:blip r:embed="rId4"/>
          <a:stretch>
            <a:fillRect/>
          </a:stretch>
        </p:blipFill>
        <p:spPr>
          <a:xfrm>
            <a:off x="643738" y="3002890"/>
            <a:ext cx="175565" cy="175565"/>
          </a:xfrm>
          <a:prstGeom prst="rect">
            <a:avLst/>
          </a:prstGeom>
        </p:spPr>
      </p:pic>
      <p:sp>
        <p:nvSpPr>
          <p:cNvPr id="12" name="Text 7"/>
          <p:cNvSpPr/>
          <p:nvPr/>
        </p:nvSpPr>
        <p:spPr>
          <a:xfrm>
            <a:off x="1115568" y="2880360"/>
            <a:ext cx="6153912" cy="457200"/>
          </a:xfrm>
          <a:prstGeom prst="rect">
            <a:avLst/>
          </a:prstGeom>
          <a:noFill/>
          <a:ln/>
        </p:spPr>
        <p:txBody>
          <a:bodyPr wrap="square" rtlCol="0" anchor="t"/>
          <a:lstStyle/>
          <a:p>
            <a:pPr marL="0" indent="0">
              <a:lnSpc>
                <a:spcPct val="112000"/>
              </a:lnSpc>
              <a:buNone/>
            </a:pPr>
            <a:r>
              <a:rPr lang="en-US" sz="1450" dirty="0">
                <a:solidFill>
                  <a:srgbClr val="22302B"/>
                </a:solidFill>
                <a:latin typeface="Calibri" pitchFamily="34" charset="0"/>
                <a:ea typeface="Calibri" pitchFamily="34" charset="-122"/>
                <a:cs typeface="Calibri" pitchFamily="34" charset="-120"/>
              </a:rPr>
              <a:t>Only what changed gets re-run</a:t>
            </a:r>
            <a:endParaRPr lang="en-US" sz="1450" dirty="0"/>
          </a:p>
        </p:txBody>
      </p:sp>
      <p:sp>
        <p:nvSpPr>
          <p:cNvPr id="13" name="Shape 8"/>
          <p:cNvSpPr/>
          <p:nvPr/>
        </p:nvSpPr>
        <p:spPr>
          <a:xfrm>
            <a:off x="548640" y="3694176"/>
            <a:ext cx="365760" cy="365760"/>
          </a:xfrm>
          <a:prstGeom prst="ellipse">
            <a:avLst/>
          </a:prstGeom>
          <a:solidFill>
            <a:srgbClr val="FFFFFF"/>
          </a:solidFill>
          <a:ln/>
        </p:spPr>
        <p:txBody>
          <a:bodyPr/>
          <a:lstStyle/>
          <a:p>
            <a:endParaRPr lang="en-US"/>
          </a:p>
        </p:txBody>
      </p:sp>
      <p:pic>
        <p:nvPicPr>
          <p:cNvPr id="14" name="Image 3" descr="/home/claude/work/build/icons/check_teal.png"/>
          <p:cNvPicPr>
            <a:picLocks noChangeAspect="1"/>
          </p:cNvPicPr>
          <p:nvPr/>
        </p:nvPicPr>
        <p:blipFill>
          <a:blip r:embed="rId4"/>
          <a:stretch>
            <a:fillRect/>
          </a:stretch>
        </p:blipFill>
        <p:spPr>
          <a:xfrm>
            <a:off x="643738" y="3789274"/>
            <a:ext cx="175565" cy="175565"/>
          </a:xfrm>
          <a:prstGeom prst="rect">
            <a:avLst/>
          </a:prstGeom>
        </p:spPr>
      </p:pic>
      <p:sp>
        <p:nvSpPr>
          <p:cNvPr id="15" name="Text 9"/>
          <p:cNvSpPr/>
          <p:nvPr/>
        </p:nvSpPr>
        <p:spPr>
          <a:xfrm>
            <a:off x="1115568" y="3666744"/>
            <a:ext cx="6153912" cy="457200"/>
          </a:xfrm>
          <a:prstGeom prst="rect">
            <a:avLst/>
          </a:prstGeom>
          <a:noFill/>
          <a:ln/>
        </p:spPr>
        <p:txBody>
          <a:bodyPr wrap="square" rtlCol="0" anchor="t"/>
          <a:lstStyle/>
          <a:p>
            <a:pPr marL="0" indent="0">
              <a:lnSpc>
                <a:spcPct val="112000"/>
              </a:lnSpc>
              <a:buNone/>
            </a:pPr>
            <a:r>
              <a:rPr lang="en-US" sz="1450" dirty="0">
                <a:solidFill>
                  <a:srgbClr val="22302B"/>
                </a:solidFill>
                <a:latin typeface="Calibri" pitchFamily="34" charset="0"/>
                <a:ea typeface="Calibri" pitchFamily="34" charset="-122"/>
                <a:cs typeface="Calibri" pitchFamily="34" charset="-120"/>
              </a:rPr>
              <a:t>Same workflow: laptop → cluster → cloud, unchanged</a:t>
            </a:r>
            <a:endParaRPr lang="en-US" sz="1450" dirty="0"/>
          </a:p>
        </p:txBody>
      </p:sp>
      <p:sp>
        <p:nvSpPr>
          <p:cNvPr id="16" name="Shape 10"/>
          <p:cNvSpPr/>
          <p:nvPr/>
        </p:nvSpPr>
        <p:spPr>
          <a:xfrm>
            <a:off x="548640" y="4480560"/>
            <a:ext cx="365760" cy="365760"/>
          </a:xfrm>
          <a:prstGeom prst="ellipse">
            <a:avLst/>
          </a:prstGeom>
          <a:solidFill>
            <a:srgbClr val="FFFFFF"/>
          </a:solidFill>
          <a:ln/>
        </p:spPr>
        <p:txBody>
          <a:bodyPr/>
          <a:lstStyle/>
          <a:p>
            <a:endParaRPr lang="en-US"/>
          </a:p>
        </p:txBody>
      </p:sp>
      <p:pic>
        <p:nvPicPr>
          <p:cNvPr id="17" name="Image 4" descr="/home/claude/work/build/icons/check_teal.png"/>
          <p:cNvPicPr>
            <a:picLocks noChangeAspect="1"/>
          </p:cNvPicPr>
          <p:nvPr/>
        </p:nvPicPr>
        <p:blipFill>
          <a:blip r:embed="rId4"/>
          <a:stretch>
            <a:fillRect/>
          </a:stretch>
        </p:blipFill>
        <p:spPr>
          <a:xfrm>
            <a:off x="643738" y="4575658"/>
            <a:ext cx="175565" cy="175565"/>
          </a:xfrm>
          <a:prstGeom prst="rect">
            <a:avLst/>
          </a:prstGeom>
        </p:spPr>
      </p:pic>
      <p:sp>
        <p:nvSpPr>
          <p:cNvPr id="18" name="Text 11"/>
          <p:cNvSpPr/>
          <p:nvPr/>
        </p:nvSpPr>
        <p:spPr>
          <a:xfrm>
            <a:off x="1115568" y="4453128"/>
            <a:ext cx="6153912" cy="457200"/>
          </a:xfrm>
          <a:prstGeom prst="rect">
            <a:avLst/>
          </a:prstGeom>
          <a:noFill/>
          <a:ln/>
        </p:spPr>
        <p:txBody>
          <a:bodyPr wrap="square" rtlCol="0" anchor="t"/>
          <a:lstStyle/>
          <a:p>
            <a:pPr marL="0" indent="0">
              <a:lnSpc>
                <a:spcPct val="112000"/>
              </a:lnSpc>
              <a:buNone/>
            </a:pPr>
            <a:r>
              <a:rPr lang="en-US" sz="1450" dirty="0">
                <a:solidFill>
                  <a:srgbClr val="22302B"/>
                </a:solidFill>
                <a:latin typeface="Calibri" pitchFamily="34" charset="0"/>
                <a:ea typeface="Calibri" pitchFamily="34" charset="-122"/>
                <a:cs typeface="Calibri" pitchFamily="34" charset="-120"/>
              </a:rPr>
              <a:t>Rules + environments become a record of exactly what you did</a:t>
            </a:r>
            <a:endParaRPr lang="en-US" sz="1450" dirty="0"/>
          </a:p>
        </p:txBody>
      </p:sp>
      <p:sp>
        <p:nvSpPr>
          <p:cNvPr id="19" name="Text 12"/>
          <p:cNvSpPr/>
          <p:nvPr/>
        </p:nvSpPr>
        <p:spPr>
          <a:xfrm>
            <a:off x="548640" y="5449824"/>
            <a:ext cx="6720840" cy="548640"/>
          </a:xfrm>
          <a:prstGeom prst="rect">
            <a:avLst/>
          </a:prstGeom>
          <a:noFill/>
          <a:ln/>
        </p:spPr>
        <p:txBody>
          <a:bodyPr wrap="square" rtlCol="0" anchor="ctr"/>
          <a:lstStyle/>
          <a:p>
            <a:pPr marL="0" indent="0">
              <a:lnSpc>
                <a:spcPct val="125000"/>
              </a:lnSpc>
              <a:buNone/>
            </a:pPr>
            <a:r>
              <a:rPr lang="en-US" sz="1300" i="1" dirty="0">
                <a:solidFill>
                  <a:srgbClr val="5C6B66"/>
                </a:solidFill>
                <a:latin typeface="Calibri" pitchFamily="34" charset="0"/>
                <a:ea typeface="Calibri" pitchFamily="34" charset="-122"/>
                <a:cs typeface="Calibri" pitchFamily="34" charset="-120"/>
              </a:rPr>
              <a:t>Same person, same desk, same data — the difference is that the pipeline is now the computer's job to remember.</a:t>
            </a:r>
            <a:endParaRPr lang="en-US" sz="1300" dirty="0"/>
          </a:p>
        </p:txBody>
      </p:sp>
      <p:sp>
        <p:nvSpPr>
          <p:cNvPr id="20" name="Text 13"/>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21" name="Text 14"/>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4</a:t>
            </a:r>
            <a:endParaRPr lang="en-US" sz="900" dirty="0"/>
          </a:p>
        </p:txBody>
      </p:sp>
      <p:sp>
        <p:nvSpPr>
          <p:cNvPr id="22" name="TextBox 21">
            <a:extLst>
              <a:ext uri="{FF2B5EF4-FFF2-40B4-BE49-F238E27FC236}">
                <a16:creationId xmlns:a16="http://schemas.microsoft.com/office/drawing/2014/main" id="{3EC17AC8-78B0-D872-9D3C-9800A93FC1D3}"/>
              </a:ext>
            </a:extLst>
          </p:cNvPr>
          <p:cNvSpPr txBox="1"/>
          <p:nvPr/>
        </p:nvSpPr>
        <p:spPr>
          <a:xfrm>
            <a:off x="9185564" y="6172200"/>
            <a:ext cx="2592530" cy="253916"/>
          </a:xfrm>
          <a:prstGeom prst="rect">
            <a:avLst/>
          </a:prstGeom>
          <a:noFill/>
        </p:spPr>
        <p:txBody>
          <a:bodyPr wrap="square">
            <a:spAutoFit/>
          </a:bodyPr>
          <a:lstStyle/>
          <a:p>
            <a:pPr marL="0" indent="0" algn="ctr">
              <a:buNone/>
            </a:pPr>
            <a:r>
              <a:rPr lang="en-US" sz="1050" i="1" dirty="0">
                <a:solidFill>
                  <a:srgbClr val="5E7269"/>
                </a:solidFill>
                <a:latin typeface="Calibri" pitchFamily="34" charset="0"/>
                <a:ea typeface="Calibri" pitchFamily="34" charset="-122"/>
                <a:cs typeface="Calibri" pitchFamily="34" charset="-120"/>
              </a:rPr>
              <a:t>Photo: Eliza Daigle · Pictured: Anup Bhusal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GOALS FOR THIS SESSION</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3200" b="1" dirty="0">
                <a:solidFill>
                  <a:srgbClr val="22302B"/>
                </a:solidFill>
                <a:latin typeface="Calibri" pitchFamily="34" charset="0"/>
                <a:ea typeface="Calibri" pitchFamily="34" charset="-122"/>
                <a:cs typeface="Calibri" pitchFamily="34" charset="-120"/>
              </a:rPr>
              <a:t>Today's objectives</a:t>
            </a:r>
            <a:endParaRPr lang="en-US" sz="3200" dirty="0"/>
          </a:p>
        </p:txBody>
      </p:sp>
      <p:sp>
        <p:nvSpPr>
          <p:cNvPr id="4" name="Text 2"/>
          <p:cNvSpPr/>
          <p:nvPr/>
        </p:nvSpPr>
        <p:spPr>
          <a:xfrm>
            <a:off x="548640" y="1243584"/>
            <a:ext cx="11094415" cy="320040"/>
          </a:xfrm>
          <a:prstGeom prst="rect">
            <a:avLst/>
          </a:prstGeom>
          <a:noFill/>
          <a:ln/>
        </p:spPr>
        <p:txBody>
          <a:bodyPr wrap="square" rtlCol="0" anchor="ctr"/>
          <a:lstStyle/>
          <a:p>
            <a:pPr marL="0" indent="0">
              <a:buNone/>
            </a:pPr>
            <a:r>
              <a:rPr lang="en-US" sz="1400" i="1" dirty="0">
                <a:solidFill>
                  <a:srgbClr val="5C6B66"/>
                </a:solidFill>
                <a:latin typeface="Calibri" pitchFamily="34" charset="0"/>
                <a:ea typeface="Calibri" pitchFamily="34" charset="-122"/>
                <a:cs typeface="Calibri" pitchFamily="34" charset="-120"/>
              </a:rPr>
              <a:t>By the end of this session, you'll be able to:</a:t>
            </a:r>
            <a:endParaRPr lang="en-US" sz="1400" dirty="0"/>
          </a:p>
        </p:txBody>
      </p:sp>
      <p:sp>
        <p:nvSpPr>
          <p:cNvPr id="5" name="Shape 3"/>
          <p:cNvSpPr/>
          <p:nvPr/>
        </p:nvSpPr>
        <p:spPr>
          <a:xfrm>
            <a:off x="548640" y="1783080"/>
            <a:ext cx="384048" cy="384048"/>
          </a:xfrm>
          <a:prstGeom prst="ellipse">
            <a:avLst/>
          </a:prstGeom>
          <a:solidFill>
            <a:srgbClr val="039475"/>
          </a:solidFill>
          <a:ln/>
        </p:spPr>
        <p:txBody>
          <a:bodyPr/>
          <a:lstStyle/>
          <a:p>
            <a:endParaRPr lang="en-US"/>
          </a:p>
        </p:txBody>
      </p:sp>
      <p:pic>
        <p:nvPicPr>
          <p:cNvPr id="6" name="Image 0" descr="/home/claude/work/build/icons/lightbulb_white.png"/>
          <p:cNvPicPr>
            <a:picLocks noChangeAspect="1"/>
          </p:cNvPicPr>
          <p:nvPr/>
        </p:nvPicPr>
        <p:blipFill>
          <a:blip r:embed="rId3"/>
          <a:stretch>
            <a:fillRect/>
          </a:stretch>
        </p:blipFill>
        <p:spPr>
          <a:xfrm>
            <a:off x="648492" y="1882932"/>
            <a:ext cx="184343" cy="184343"/>
          </a:xfrm>
          <a:prstGeom prst="rect">
            <a:avLst/>
          </a:prstGeom>
        </p:spPr>
      </p:pic>
      <p:sp>
        <p:nvSpPr>
          <p:cNvPr id="7" name="Text 4"/>
          <p:cNvSpPr/>
          <p:nvPr/>
        </p:nvSpPr>
        <p:spPr>
          <a:xfrm>
            <a:off x="1115568" y="1755648"/>
            <a:ext cx="10527487" cy="475488"/>
          </a:xfrm>
          <a:prstGeom prst="rect">
            <a:avLst/>
          </a:prstGeom>
          <a:noFill/>
          <a:ln/>
        </p:spPr>
        <p:txBody>
          <a:bodyPr wrap="square" rtlCol="0" anchor="t"/>
          <a:lstStyle/>
          <a:p>
            <a:pPr marL="0" indent="0">
              <a:lnSpc>
                <a:spcPct val="112000"/>
              </a:lnSpc>
              <a:buNone/>
            </a:pPr>
            <a:r>
              <a:rPr lang="en-US" sz="1500" b="1" dirty="0">
                <a:solidFill>
                  <a:srgbClr val="22302B"/>
                </a:solidFill>
                <a:latin typeface="Calibri" pitchFamily="34" charset="0"/>
                <a:ea typeface="Calibri" pitchFamily="34" charset="-122"/>
                <a:cs typeface="Calibri" pitchFamily="34" charset="-120"/>
              </a:rPr>
              <a:t>Explain why a workflow manager pays off for reproducible bioinformatics</a:t>
            </a:r>
            <a:endParaRPr lang="en-US" sz="1500" dirty="0"/>
          </a:p>
        </p:txBody>
      </p:sp>
      <p:sp>
        <p:nvSpPr>
          <p:cNvPr id="8" name="Shape 5"/>
          <p:cNvSpPr/>
          <p:nvPr/>
        </p:nvSpPr>
        <p:spPr>
          <a:xfrm>
            <a:off x="548640" y="2350008"/>
            <a:ext cx="384048" cy="384048"/>
          </a:xfrm>
          <a:prstGeom prst="ellipse">
            <a:avLst/>
          </a:prstGeom>
          <a:solidFill>
            <a:srgbClr val="039475"/>
          </a:solidFill>
          <a:ln/>
        </p:spPr>
        <p:txBody>
          <a:bodyPr/>
          <a:lstStyle/>
          <a:p>
            <a:endParaRPr lang="en-US"/>
          </a:p>
        </p:txBody>
      </p:sp>
      <p:pic>
        <p:nvPicPr>
          <p:cNvPr id="9" name="Image 1" descr="/home/claude/work/build/icons/puzzle_white.png"/>
          <p:cNvPicPr>
            <a:picLocks noChangeAspect="1"/>
          </p:cNvPicPr>
          <p:nvPr/>
        </p:nvPicPr>
        <p:blipFill>
          <a:blip r:embed="rId4"/>
          <a:stretch>
            <a:fillRect/>
          </a:stretch>
        </p:blipFill>
        <p:spPr>
          <a:xfrm>
            <a:off x="648492" y="2449860"/>
            <a:ext cx="184343" cy="184343"/>
          </a:xfrm>
          <a:prstGeom prst="rect">
            <a:avLst/>
          </a:prstGeom>
        </p:spPr>
      </p:pic>
      <p:sp>
        <p:nvSpPr>
          <p:cNvPr id="10" name="Text 6"/>
          <p:cNvSpPr/>
          <p:nvPr/>
        </p:nvSpPr>
        <p:spPr>
          <a:xfrm>
            <a:off x="1115568" y="2322576"/>
            <a:ext cx="10527487" cy="475488"/>
          </a:xfrm>
          <a:prstGeom prst="rect">
            <a:avLst/>
          </a:prstGeom>
          <a:noFill/>
          <a:ln/>
        </p:spPr>
        <p:txBody>
          <a:bodyPr wrap="square" rtlCol="0" anchor="t"/>
          <a:lstStyle/>
          <a:p>
            <a:pPr marL="0" indent="0">
              <a:lnSpc>
                <a:spcPct val="112000"/>
              </a:lnSpc>
              <a:buNone/>
            </a:pPr>
            <a:r>
              <a:rPr lang="en-US" sz="1500" b="1" dirty="0">
                <a:solidFill>
                  <a:srgbClr val="22302B"/>
                </a:solidFill>
                <a:latin typeface="Calibri" pitchFamily="34" charset="0"/>
                <a:ea typeface="Calibri" pitchFamily="34" charset="-122"/>
                <a:cs typeface="Calibri" pitchFamily="34" charset="-120"/>
              </a:rPr>
              <a:t>Read a Snakemake rule and know what each part does</a:t>
            </a:r>
            <a:endParaRPr lang="en-US" sz="1500" dirty="0"/>
          </a:p>
        </p:txBody>
      </p:sp>
      <p:sp>
        <p:nvSpPr>
          <p:cNvPr id="11" name="Shape 7"/>
          <p:cNvSpPr/>
          <p:nvPr/>
        </p:nvSpPr>
        <p:spPr>
          <a:xfrm>
            <a:off x="548640" y="2916936"/>
            <a:ext cx="384048" cy="384048"/>
          </a:xfrm>
          <a:prstGeom prst="ellipse">
            <a:avLst/>
          </a:prstGeom>
          <a:solidFill>
            <a:srgbClr val="039475"/>
          </a:solidFill>
          <a:ln/>
        </p:spPr>
        <p:txBody>
          <a:bodyPr/>
          <a:lstStyle/>
          <a:p>
            <a:endParaRPr lang="en-US"/>
          </a:p>
        </p:txBody>
      </p:sp>
      <p:pic>
        <p:nvPicPr>
          <p:cNvPr id="12" name="Image 2" descr="/home/claude/work/build/icons/sitemap_white.png"/>
          <p:cNvPicPr>
            <a:picLocks noChangeAspect="1"/>
          </p:cNvPicPr>
          <p:nvPr/>
        </p:nvPicPr>
        <p:blipFill>
          <a:blip r:embed="rId5"/>
          <a:stretch>
            <a:fillRect/>
          </a:stretch>
        </p:blipFill>
        <p:spPr>
          <a:xfrm>
            <a:off x="648492" y="3016788"/>
            <a:ext cx="184343" cy="184343"/>
          </a:xfrm>
          <a:prstGeom prst="rect">
            <a:avLst/>
          </a:prstGeom>
        </p:spPr>
      </p:pic>
      <p:sp>
        <p:nvSpPr>
          <p:cNvPr id="13" name="Text 8"/>
          <p:cNvSpPr/>
          <p:nvPr/>
        </p:nvSpPr>
        <p:spPr>
          <a:xfrm>
            <a:off x="1115568" y="2889504"/>
            <a:ext cx="10527487" cy="475488"/>
          </a:xfrm>
          <a:prstGeom prst="rect">
            <a:avLst/>
          </a:prstGeom>
          <a:noFill/>
          <a:ln/>
        </p:spPr>
        <p:txBody>
          <a:bodyPr wrap="square" rtlCol="0" anchor="t"/>
          <a:lstStyle/>
          <a:p>
            <a:pPr marL="0" indent="0">
              <a:lnSpc>
                <a:spcPct val="112000"/>
              </a:lnSpc>
              <a:buNone/>
            </a:pPr>
            <a:r>
              <a:rPr lang="en-US" sz="1500" b="1" dirty="0">
                <a:solidFill>
                  <a:srgbClr val="22302B"/>
                </a:solidFill>
                <a:latin typeface="Calibri" pitchFamily="34" charset="0"/>
                <a:ea typeface="Calibri" pitchFamily="34" charset="-122"/>
                <a:cs typeface="Calibri" pitchFamily="34" charset="-120"/>
              </a:rPr>
              <a:t>Explain how wildcards and file dependencies build a DAG of jobs</a:t>
            </a:r>
            <a:endParaRPr lang="en-US" sz="1500" dirty="0"/>
          </a:p>
        </p:txBody>
      </p:sp>
      <p:sp>
        <p:nvSpPr>
          <p:cNvPr id="14" name="Shape 9"/>
          <p:cNvSpPr/>
          <p:nvPr/>
        </p:nvSpPr>
        <p:spPr>
          <a:xfrm>
            <a:off x="548640" y="3483864"/>
            <a:ext cx="384048" cy="384048"/>
          </a:xfrm>
          <a:prstGeom prst="ellipse">
            <a:avLst/>
          </a:prstGeom>
          <a:solidFill>
            <a:srgbClr val="039475"/>
          </a:solidFill>
          <a:ln/>
        </p:spPr>
        <p:txBody>
          <a:bodyPr/>
          <a:lstStyle/>
          <a:p>
            <a:endParaRPr lang="en-US"/>
          </a:p>
        </p:txBody>
      </p:sp>
      <p:pic>
        <p:nvPicPr>
          <p:cNvPr id="15" name="Image 3" descr="/home/claude/work/build/icons/terminal_white.png"/>
          <p:cNvPicPr>
            <a:picLocks noChangeAspect="1"/>
          </p:cNvPicPr>
          <p:nvPr/>
        </p:nvPicPr>
        <p:blipFill>
          <a:blip r:embed="rId6"/>
          <a:stretch>
            <a:fillRect/>
          </a:stretch>
        </p:blipFill>
        <p:spPr>
          <a:xfrm>
            <a:off x="648492" y="3583716"/>
            <a:ext cx="184343" cy="184343"/>
          </a:xfrm>
          <a:prstGeom prst="rect">
            <a:avLst/>
          </a:prstGeom>
        </p:spPr>
      </p:pic>
      <p:sp>
        <p:nvSpPr>
          <p:cNvPr id="16" name="Text 10"/>
          <p:cNvSpPr/>
          <p:nvPr/>
        </p:nvSpPr>
        <p:spPr>
          <a:xfrm>
            <a:off x="1115568" y="3456432"/>
            <a:ext cx="10527487" cy="475488"/>
          </a:xfrm>
          <a:prstGeom prst="rect">
            <a:avLst/>
          </a:prstGeom>
          <a:noFill/>
          <a:ln/>
        </p:spPr>
        <p:txBody>
          <a:bodyPr wrap="square" rtlCol="0" anchor="t"/>
          <a:lstStyle/>
          <a:p>
            <a:pPr marL="0" indent="0">
              <a:lnSpc>
                <a:spcPct val="112000"/>
              </a:lnSpc>
              <a:buNone/>
            </a:pPr>
            <a:r>
              <a:rPr lang="en-US" sz="1500" b="1" dirty="0">
                <a:solidFill>
                  <a:srgbClr val="22302B"/>
                </a:solidFill>
                <a:latin typeface="Calibri" pitchFamily="34" charset="0"/>
                <a:ea typeface="Calibri" pitchFamily="34" charset="-122"/>
                <a:cs typeface="Calibri" pitchFamily="34" charset="-120"/>
              </a:rPr>
              <a:t>Run a Snakemake workflow: dry-run, execute, and visualize it</a:t>
            </a:r>
            <a:endParaRPr lang="en-US" sz="1500" dirty="0"/>
          </a:p>
        </p:txBody>
      </p:sp>
      <p:sp>
        <p:nvSpPr>
          <p:cNvPr id="17" name="Shape 11"/>
          <p:cNvSpPr/>
          <p:nvPr/>
        </p:nvSpPr>
        <p:spPr>
          <a:xfrm>
            <a:off x="548640" y="4050792"/>
            <a:ext cx="384048" cy="384048"/>
          </a:xfrm>
          <a:prstGeom prst="ellipse">
            <a:avLst/>
          </a:prstGeom>
          <a:solidFill>
            <a:srgbClr val="039475"/>
          </a:solidFill>
          <a:ln/>
        </p:spPr>
        <p:txBody>
          <a:bodyPr/>
          <a:lstStyle/>
          <a:p>
            <a:endParaRPr lang="en-US"/>
          </a:p>
        </p:txBody>
      </p:sp>
      <p:pic>
        <p:nvPicPr>
          <p:cNvPr id="18" name="Image 4" descr="/home/claude/work/build/icons/book_white.png"/>
          <p:cNvPicPr>
            <a:picLocks noChangeAspect="1"/>
          </p:cNvPicPr>
          <p:nvPr/>
        </p:nvPicPr>
        <p:blipFill>
          <a:blip r:embed="rId7"/>
          <a:stretch>
            <a:fillRect/>
          </a:stretch>
        </p:blipFill>
        <p:spPr>
          <a:xfrm>
            <a:off x="648492" y="4150644"/>
            <a:ext cx="184343" cy="184343"/>
          </a:xfrm>
          <a:prstGeom prst="rect">
            <a:avLst/>
          </a:prstGeom>
        </p:spPr>
      </p:pic>
      <p:sp>
        <p:nvSpPr>
          <p:cNvPr id="19" name="Text 12"/>
          <p:cNvSpPr/>
          <p:nvPr/>
        </p:nvSpPr>
        <p:spPr>
          <a:xfrm>
            <a:off x="1115568" y="4023360"/>
            <a:ext cx="10527487" cy="475488"/>
          </a:xfrm>
          <a:prstGeom prst="rect">
            <a:avLst/>
          </a:prstGeom>
          <a:noFill/>
          <a:ln/>
        </p:spPr>
        <p:txBody>
          <a:bodyPr wrap="square" rtlCol="0" anchor="t"/>
          <a:lstStyle/>
          <a:p>
            <a:pPr marL="0" indent="0">
              <a:lnSpc>
                <a:spcPct val="112000"/>
              </a:lnSpc>
              <a:buNone/>
            </a:pPr>
            <a:r>
              <a:rPr lang="en-US" sz="1500" b="1" dirty="0">
                <a:solidFill>
                  <a:srgbClr val="22302B"/>
                </a:solidFill>
                <a:latin typeface="Calibri" pitchFamily="34" charset="0"/>
                <a:ea typeface="Calibri" pitchFamily="34" charset="-122"/>
                <a:cs typeface="Calibri" pitchFamily="34" charset="-120"/>
              </a:rPr>
              <a:t>Know where to go to learn more</a:t>
            </a:r>
            <a:endParaRPr lang="en-US" sz="1500" dirty="0"/>
          </a:p>
        </p:txBody>
      </p:sp>
      <p:sp>
        <p:nvSpPr>
          <p:cNvPr id="20" name="Shape 13"/>
          <p:cNvSpPr/>
          <p:nvPr/>
        </p:nvSpPr>
        <p:spPr>
          <a:xfrm>
            <a:off x="548640" y="4754880"/>
            <a:ext cx="11094415" cy="868680"/>
          </a:xfrm>
          <a:prstGeom prst="roundRect">
            <a:avLst>
              <a:gd name="adj" fmla="val 10526"/>
            </a:avLst>
          </a:prstGeom>
          <a:solidFill>
            <a:srgbClr val="16211D"/>
          </a:solidFill>
          <a:ln/>
        </p:spPr>
        <p:txBody>
          <a:bodyPr/>
          <a:lstStyle/>
          <a:p>
            <a:endParaRPr lang="en-US"/>
          </a:p>
        </p:txBody>
      </p:sp>
      <p:sp>
        <p:nvSpPr>
          <p:cNvPr id="21" name="Shape 14"/>
          <p:cNvSpPr/>
          <p:nvPr/>
        </p:nvSpPr>
        <p:spPr>
          <a:xfrm>
            <a:off x="822960" y="4960620"/>
            <a:ext cx="457200" cy="457200"/>
          </a:xfrm>
          <a:prstGeom prst="ellipse">
            <a:avLst/>
          </a:prstGeom>
          <a:solidFill>
            <a:srgbClr val="039475"/>
          </a:solidFill>
          <a:ln/>
        </p:spPr>
        <p:txBody>
          <a:bodyPr/>
          <a:lstStyle/>
          <a:p>
            <a:endParaRPr lang="en-US"/>
          </a:p>
        </p:txBody>
      </p:sp>
      <p:pic>
        <p:nvPicPr>
          <p:cNvPr id="22" name="Image 5" descr="/home/claude/work/build/icons/play_white.png"/>
          <p:cNvPicPr>
            <a:picLocks noChangeAspect="1"/>
          </p:cNvPicPr>
          <p:nvPr/>
        </p:nvPicPr>
        <p:blipFill>
          <a:blip r:embed="rId8"/>
          <a:stretch>
            <a:fillRect/>
          </a:stretch>
        </p:blipFill>
        <p:spPr>
          <a:xfrm>
            <a:off x="941832" y="5079492"/>
            <a:ext cx="219456" cy="219456"/>
          </a:xfrm>
          <a:prstGeom prst="rect">
            <a:avLst/>
          </a:prstGeom>
        </p:spPr>
      </p:pic>
      <p:sp>
        <p:nvSpPr>
          <p:cNvPr id="24" name="Text 16"/>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25" name="Text 17"/>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5</a:t>
            </a:r>
            <a:endParaRPr lang="en-US" sz="900" dirty="0"/>
          </a:p>
        </p:txBody>
      </p:sp>
      <p:sp>
        <p:nvSpPr>
          <p:cNvPr id="26" name="Text 15">
            <a:extLst>
              <a:ext uri="{FF2B5EF4-FFF2-40B4-BE49-F238E27FC236}">
                <a16:creationId xmlns:a16="http://schemas.microsoft.com/office/drawing/2014/main" id="{2248139B-89EF-D434-27E8-0D7905CFBAAE}"/>
              </a:ext>
            </a:extLst>
          </p:cNvPr>
          <p:cNvSpPr/>
          <p:nvPr/>
        </p:nvSpPr>
        <p:spPr>
          <a:xfrm>
            <a:off x="1426464" y="4754880"/>
            <a:ext cx="9905695" cy="868680"/>
          </a:xfrm>
          <a:prstGeom prst="rect">
            <a:avLst/>
          </a:prstGeom>
          <a:noFill/>
          <a:ln/>
        </p:spPr>
        <p:txBody>
          <a:bodyPr wrap="square" rtlCol="0" anchor="ctr"/>
          <a:lstStyle/>
          <a:p>
            <a:pPr marL="0" indent="0">
              <a:lnSpc>
                <a:spcPct val="120000"/>
              </a:lnSpc>
              <a:buNone/>
            </a:pPr>
            <a:r>
              <a:rPr lang="en-US" sz="1350" b="1" dirty="0">
                <a:solidFill>
                  <a:srgbClr val="FFFFFF"/>
                </a:solidFill>
                <a:latin typeface="Calibri" pitchFamily="34" charset="0"/>
                <a:ea typeface="Calibri" pitchFamily="34" charset="-122"/>
                <a:cs typeface="Calibri" pitchFamily="34" charset="-120"/>
              </a:rPr>
              <a:t>Later this morning:  </a:t>
            </a:r>
            <a:r>
              <a:rPr lang="en-US" sz="1350" dirty="0">
                <a:solidFill>
                  <a:srgbClr val="C9D6D1"/>
                </a:solidFill>
                <a:latin typeface="Calibri" pitchFamily="34" charset="0"/>
                <a:ea typeface="Calibri" pitchFamily="34" charset="-122"/>
                <a:cs typeface="Calibri" pitchFamily="34" charset="-120"/>
              </a:rPr>
              <a:t>you'll put this into practice directly in the </a:t>
            </a:r>
            <a:r>
              <a:rPr lang="en-US" sz="1350" dirty="0" err="1">
                <a:solidFill>
                  <a:srgbClr val="C9D6D1"/>
                </a:solidFill>
                <a:latin typeface="Calibri" pitchFamily="34" charset="0"/>
                <a:ea typeface="Calibri" pitchFamily="34" charset="-122"/>
                <a:cs typeface="Calibri" pitchFamily="34" charset="-120"/>
              </a:rPr>
              <a:t>Sourmash</a:t>
            </a:r>
            <a:r>
              <a:rPr lang="en-US" sz="1350" dirty="0">
                <a:solidFill>
                  <a:srgbClr val="C9D6D1"/>
                </a:solidFill>
                <a:latin typeface="Calibri" pitchFamily="34" charset="0"/>
                <a:ea typeface="Calibri" pitchFamily="34" charset="-122"/>
                <a:cs typeface="Calibri" pitchFamily="34" charset="-120"/>
              </a:rPr>
              <a:t> lesson.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OVERVIEW OF SNAKEMAKE</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3200" b="1" dirty="0">
                <a:solidFill>
                  <a:srgbClr val="22302B"/>
                </a:solidFill>
                <a:latin typeface="Calibri" pitchFamily="34" charset="0"/>
                <a:ea typeface="Calibri" pitchFamily="34" charset="-122"/>
                <a:cs typeface="Calibri" pitchFamily="34" charset="-120"/>
              </a:rPr>
              <a:t>What is Snakemake?</a:t>
            </a:r>
            <a:endParaRPr lang="en-US" sz="3200" dirty="0"/>
          </a:p>
        </p:txBody>
      </p:sp>
      <p:sp>
        <p:nvSpPr>
          <p:cNvPr id="4" name="Text 2"/>
          <p:cNvSpPr/>
          <p:nvPr/>
        </p:nvSpPr>
        <p:spPr>
          <a:xfrm>
            <a:off x="548640" y="1417320"/>
            <a:ext cx="6309360" cy="822960"/>
          </a:xfrm>
          <a:prstGeom prst="rect">
            <a:avLst/>
          </a:prstGeom>
          <a:noFill/>
          <a:ln/>
        </p:spPr>
        <p:txBody>
          <a:bodyPr wrap="square" rtlCol="0" anchor="t"/>
          <a:lstStyle/>
          <a:p>
            <a:pPr marL="0" indent="0">
              <a:lnSpc>
                <a:spcPct val="125000"/>
              </a:lnSpc>
              <a:buNone/>
            </a:pPr>
            <a:r>
              <a:rPr lang="en-US" sz="1600" b="1" dirty="0">
                <a:solidFill>
                  <a:srgbClr val="22302B"/>
                </a:solidFill>
                <a:latin typeface="Calibri" pitchFamily="34" charset="0"/>
                <a:ea typeface="Calibri" pitchFamily="34" charset="-122"/>
                <a:cs typeface="Calibri" pitchFamily="34" charset="-120"/>
              </a:rPr>
              <a:t>A Python-based workflow management system for building reproducible, scalable data analyses.</a:t>
            </a:r>
            <a:endParaRPr lang="en-US" sz="1600" dirty="0"/>
          </a:p>
        </p:txBody>
      </p:sp>
      <p:sp>
        <p:nvSpPr>
          <p:cNvPr id="5" name="Shape 3"/>
          <p:cNvSpPr/>
          <p:nvPr/>
        </p:nvSpPr>
        <p:spPr>
          <a:xfrm>
            <a:off x="548640" y="2331720"/>
            <a:ext cx="402336" cy="402336"/>
          </a:xfrm>
          <a:prstGeom prst="ellipse">
            <a:avLst/>
          </a:prstGeom>
          <a:solidFill>
            <a:srgbClr val="039475"/>
          </a:solidFill>
          <a:ln/>
        </p:spPr>
        <p:txBody>
          <a:bodyPr/>
          <a:lstStyle/>
          <a:p>
            <a:endParaRPr lang="en-US"/>
          </a:p>
        </p:txBody>
      </p:sp>
      <p:pic>
        <p:nvPicPr>
          <p:cNvPr id="6" name="Image 0" descr="/home/claude/work/build/icons/layer_white.png"/>
          <p:cNvPicPr>
            <a:picLocks noChangeAspect="1"/>
          </p:cNvPicPr>
          <p:nvPr/>
        </p:nvPicPr>
        <p:blipFill>
          <a:blip r:embed="rId3"/>
          <a:stretch>
            <a:fillRect/>
          </a:stretch>
        </p:blipFill>
        <p:spPr>
          <a:xfrm>
            <a:off x="653247" y="2436327"/>
            <a:ext cx="193121" cy="193121"/>
          </a:xfrm>
          <a:prstGeom prst="rect">
            <a:avLst/>
          </a:prstGeom>
        </p:spPr>
      </p:pic>
      <p:sp>
        <p:nvSpPr>
          <p:cNvPr id="7" name="Text 4"/>
          <p:cNvSpPr/>
          <p:nvPr/>
        </p:nvSpPr>
        <p:spPr>
          <a:xfrm>
            <a:off x="1133856" y="2304288"/>
            <a:ext cx="5724144" cy="493776"/>
          </a:xfrm>
          <a:prstGeom prst="rect">
            <a:avLst/>
          </a:prstGeom>
          <a:noFill/>
          <a:ln/>
        </p:spPr>
        <p:txBody>
          <a:bodyPr wrap="square" rtlCol="0" anchor="t"/>
          <a:lstStyle/>
          <a:p>
            <a:pPr marL="0" indent="0">
              <a:lnSpc>
                <a:spcPct val="112000"/>
              </a:lnSpc>
              <a:buNone/>
            </a:pPr>
            <a:r>
              <a:rPr lang="en-US" sz="1400" b="1" dirty="0">
                <a:solidFill>
                  <a:srgbClr val="22302B"/>
                </a:solidFill>
                <a:latin typeface="Calibri" pitchFamily="34" charset="0"/>
                <a:ea typeface="Calibri" pitchFamily="34" charset="-122"/>
                <a:cs typeface="Calibri" pitchFamily="34" charset="-120"/>
              </a:rPr>
              <a:t>Extends the classic GNU Make idea</a:t>
            </a:r>
            <a:endParaRPr lang="en-US" sz="1400" dirty="0"/>
          </a:p>
          <a:p>
            <a:pPr marL="0" indent="0">
              <a:lnSpc>
                <a:spcPct val="112000"/>
              </a:lnSpc>
              <a:buNone/>
            </a:pPr>
            <a:r>
              <a:rPr lang="en-US" sz="1200" dirty="0">
                <a:solidFill>
                  <a:srgbClr val="5C6B66"/>
                </a:solidFill>
                <a:latin typeface="Calibri" pitchFamily="34" charset="0"/>
                <a:ea typeface="Calibri" pitchFamily="34" charset="-122"/>
                <a:cs typeface="Calibri" pitchFamily="34" charset="-120"/>
              </a:rPr>
              <a:t>rules describe how to turn input files into output files</a:t>
            </a:r>
            <a:endParaRPr lang="en-US" sz="1400" dirty="0"/>
          </a:p>
        </p:txBody>
      </p:sp>
      <p:sp>
        <p:nvSpPr>
          <p:cNvPr id="8" name="Shape 5"/>
          <p:cNvSpPr/>
          <p:nvPr/>
        </p:nvSpPr>
        <p:spPr>
          <a:xfrm>
            <a:off x="548640" y="3172968"/>
            <a:ext cx="402336" cy="402336"/>
          </a:xfrm>
          <a:prstGeom prst="ellipse">
            <a:avLst/>
          </a:prstGeom>
          <a:solidFill>
            <a:srgbClr val="039475"/>
          </a:solidFill>
          <a:ln/>
        </p:spPr>
        <p:txBody>
          <a:bodyPr/>
          <a:lstStyle/>
          <a:p>
            <a:endParaRPr lang="en-US"/>
          </a:p>
        </p:txBody>
      </p:sp>
      <p:pic>
        <p:nvPicPr>
          <p:cNvPr id="9" name="Image 1" descr="/home/claude/work/build/icons/code_white.png"/>
          <p:cNvPicPr>
            <a:picLocks noChangeAspect="1"/>
          </p:cNvPicPr>
          <p:nvPr/>
        </p:nvPicPr>
        <p:blipFill>
          <a:blip r:embed="rId4"/>
          <a:stretch>
            <a:fillRect/>
          </a:stretch>
        </p:blipFill>
        <p:spPr>
          <a:xfrm>
            <a:off x="653247" y="3277575"/>
            <a:ext cx="193121" cy="193121"/>
          </a:xfrm>
          <a:prstGeom prst="rect">
            <a:avLst/>
          </a:prstGeom>
        </p:spPr>
      </p:pic>
      <p:sp>
        <p:nvSpPr>
          <p:cNvPr id="10" name="Text 6"/>
          <p:cNvSpPr/>
          <p:nvPr/>
        </p:nvSpPr>
        <p:spPr>
          <a:xfrm>
            <a:off x="1133856" y="3145536"/>
            <a:ext cx="5724144" cy="493776"/>
          </a:xfrm>
          <a:prstGeom prst="rect">
            <a:avLst/>
          </a:prstGeom>
          <a:noFill/>
          <a:ln/>
        </p:spPr>
        <p:txBody>
          <a:bodyPr wrap="square" rtlCol="0" anchor="t"/>
          <a:lstStyle/>
          <a:p>
            <a:pPr marL="0" indent="0">
              <a:lnSpc>
                <a:spcPct val="112000"/>
              </a:lnSpc>
              <a:buNone/>
            </a:pPr>
            <a:r>
              <a:rPr lang="en-US" sz="1400" b="1" dirty="0">
                <a:solidFill>
                  <a:srgbClr val="22302B"/>
                </a:solidFill>
                <a:latin typeface="Calibri" pitchFamily="34" charset="0"/>
                <a:ea typeface="Calibri" pitchFamily="34" charset="-122"/>
                <a:cs typeface="Calibri" pitchFamily="34" charset="-120"/>
              </a:rPr>
              <a:t>Plain-text and readable, Python underneath</a:t>
            </a:r>
            <a:endParaRPr lang="en-US" sz="1400" dirty="0"/>
          </a:p>
          <a:p>
            <a:pPr marL="0" indent="0">
              <a:lnSpc>
                <a:spcPct val="112000"/>
              </a:lnSpc>
              <a:buNone/>
            </a:pPr>
            <a:r>
              <a:rPr lang="en-US" sz="1200" dirty="0">
                <a:solidFill>
                  <a:srgbClr val="5C6B66"/>
                </a:solidFill>
                <a:latin typeface="Calibri" pitchFamily="34" charset="0"/>
                <a:ea typeface="Calibri" pitchFamily="34" charset="-122"/>
                <a:cs typeface="Calibri" pitchFamily="34" charset="-120"/>
              </a:rPr>
              <a:t>no bioinformatics or Python experience required to get started</a:t>
            </a:r>
            <a:endParaRPr lang="en-US" sz="1400" dirty="0"/>
          </a:p>
        </p:txBody>
      </p:sp>
      <p:sp>
        <p:nvSpPr>
          <p:cNvPr id="11" name="Shape 7"/>
          <p:cNvSpPr/>
          <p:nvPr/>
        </p:nvSpPr>
        <p:spPr>
          <a:xfrm>
            <a:off x="548640" y="4014216"/>
            <a:ext cx="402336" cy="402336"/>
          </a:xfrm>
          <a:prstGeom prst="ellipse">
            <a:avLst/>
          </a:prstGeom>
          <a:solidFill>
            <a:srgbClr val="039475"/>
          </a:solidFill>
          <a:ln/>
        </p:spPr>
        <p:txBody>
          <a:bodyPr/>
          <a:lstStyle/>
          <a:p>
            <a:endParaRPr lang="en-US"/>
          </a:p>
        </p:txBody>
      </p:sp>
      <p:pic>
        <p:nvPicPr>
          <p:cNvPr id="12" name="Image 2" descr="/home/claude/work/build/icons/server_white.png"/>
          <p:cNvPicPr>
            <a:picLocks noChangeAspect="1"/>
          </p:cNvPicPr>
          <p:nvPr/>
        </p:nvPicPr>
        <p:blipFill>
          <a:blip r:embed="rId5"/>
          <a:stretch>
            <a:fillRect/>
          </a:stretch>
        </p:blipFill>
        <p:spPr>
          <a:xfrm>
            <a:off x="653247" y="4118823"/>
            <a:ext cx="193121" cy="193121"/>
          </a:xfrm>
          <a:prstGeom prst="rect">
            <a:avLst/>
          </a:prstGeom>
        </p:spPr>
      </p:pic>
      <p:sp>
        <p:nvSpPr>
          <p:cNvPr id="13" name="Text 8"/>
          <p:cNvSpPr/>
          <p:nvPr/>
        </p:nvSpPr>
        <p:spPr>
          <a:xfrm>
            <a:off x="1133856" y="3986784"/>
            <a:ext cx="5724144" cy="493776"/>
          </a:xfrm>
          <a:prstGeom prst="rect">
            <a:avLst/>
          </a:prstGeom>
          <a:noFill/>
          <a:ln/>
        </p:spPr>
        <p:txBody>
          <a:bodyPr wrap="square" rtlCol="0" anchor="t"/>
          <a:lstStyle/>
          <a:p>
            <a:pPr marL="0" indent="0">
              <a:lnSpc>
                <a:spcPct val="112000"/>
              </a:lnSpc>
              <a:buNone/>
            </a:pPr>
            <a:r>
              <a:rPr lang="en-US" sz="1400" b="1" dirty="0">
                <a:solidFill>
                  <a:srgbClr val="22302B"/>
                </a:solidFill>
                <a:latin typeface="Calibri" pitchFamily="34" charset="0"/>
                <a:ea typeface="Calibri" pitchFamily="34" charset="-122"/>
                <a:cs typeface="Calibri" pitchFamily="34" charset="-120"/>
              </a:rPr>
              <a:t>Same workflow, any scale</a:t>
            </a:r>
            <a:endParaRPr lang="en-US" sz="1400" dirty="0"/>
          </a:p>
          <a:p>
            <a:pPr marL="0" indent="0">
              <a:lnSpc>
                <a:spcPct val="112000"/>
              </a:lnSpc>
              <a:buNone/>
            </a:pPr>
            <a:r>
              <a:rPr lang="en-US" sz="1200" dirty="0">
                <a:solidFill>
                  <a:srgbClr val="5C6B66"/>
                </a:solidFill>
                <a:latin typeface="Calibri" pitchFamily="34" charset="0"/>
                <a:ea typeface="Calibri" pitchFamily="34" charset="-122"/>
                <a:cs typeface="Calibri" pitchFamily="34" charset="-120"/>
              </a:rPr>
              <a:t>runs unmodified on a laptop, an HPC cluster, or the cloud</a:t>
            </a:r>
            <a:endParaRPr lang="en-US" sz="1400" dirty="0"/>
          </a:p>
        </p:txBody>
      </p:sp>
      <p:sp>
        <p:nvSpPr>
          <p:cNvPr id="14" name="Shape 9"/>
          <p:cNvSpPr/>
          <p:nvPr/>
        </p:nvSpPr>
        <p:spPr>
          <a:xfrm>
            <a:off x="7315200" y="1417320"/>
            <a:ext cx="4327855" cy="3977640"/>
          </a:xfrm>
          <a:prstGeom prst="roundRect">
            <a:avLst>
              <a:gd name="adj" fmla="val 2299"/>
            </a:avLst>
          </a:prstGeom>
          <a:solidFill>
            <a:srgbClr val="E4F3EF"/>
          </a:solidFill>
          <a:ln/>
        </p:spPr>
        <p:txBody>
          <a:bodyPr/>
          <a:lstStyle/>
          <a:p>
            <a:endParaRPr lang="en-US"/>
          </a:p>
        </p:txBody>
      </p:sp>
      <p:sp>
        <p:nvSpPr>
          <p:cNvPr id="15" name="Text 10"/>
          <p:cNvSpPr/>
          <p:nvPr/>
        </p:nvSpPr>
        <p:spPr>
          <a:xfrm>
            <a:off x="7635240" y="1691640"/>
            <a:ext cx="3687775" cy="566928"/>
          </a:xfrm>
          <a:prstGeom prst="rect">
            <a:avLst/>
          </a:prstGeom>
          <a:noFill/>
          <a:ln/>
        </p:spPr>
        <p:txBody>
          <a:bodyPr wrap="square" rtlCol="0" anchor="ctr"/>
          <a:lstStyle/>
          <a:p>
            <a:pPr marL="0" indent="0" algn="l">
              <a:buNone/>
            </a:pPr>
            <a:r>
              <a:rPr lang="en-US" sz="3400" b="1" dirty="0">
                <a:solidFill>
                  <a:srgbClr val="039475"/>
                </a:solidFill>
                <a:latin typeface="Calibri" pitchFamily="34" charset="0"/>
                <a:ea typeface="Calibri" pitchFamily="34" charset="-122"/>
                <a:cs typeface="Calibri" pitchFamily="34" charset="-120"/>
              </a:rPr>
              <a:t>2012</a:t>
            </a:r>
            <a:endParaRPr lang="en-US" sz="3400" dirty="0"/>
          </a:p>
        </p:txBody>
      </p:sp>
      <p:sp>
        <p:nvSpPr>
          <p:cNvPr id="16" name="Text 11"/>
          <p:cNvSpPr/>
          <p:nvPr/>
        </p:nvSpPr>
        <p:spPr>
          <a:xfrm>
            <a:off x="7635240" y="2258568"/>
            <a:ext cx="3687775" cy="621792"/>
          </a:xfrm>
          <a:prstGeom prst="rect">
            <a:avLst/>
          </a:prstGeom>
          <a:noFill/>
          <a:ln/>
        </p:spPr>
        <p:txBody>
          <a:bodyPr wrap="square" rtlCol="0" anchor="ctr"/>
          <a:lstStyle/>
          <a:p>
            <a:pPr marL="0" indent="0">
              <a:lnSpc>
                <a:spcPct val="115000"/>
              </a:lnSpc>
              <a:buNone/>
            </a:pPr>
            <a:r>
              <a:rPr lang="en-US" sz="1200" dirty="0">
                <a:solidFill>
                  <a:srgbClr val="22302B"/>
                </a:solidFill>
                <a:latin typeface="Calibri" pitchFamily="34" charset="0"/>
                <a:ea typeface="Calibri" pitchFamily="34" charset="-122"/>
                <a:cs typeface="Calibri" pitchFamily="34" charset="-120"/>
              </a:rPr>
              <a:t>Introduced by Köster &amp; Rahmann as a scalable bioinformatics workflow engine</a:t>
            </a:r>
            <a:endParaRPr lang="en-US" sz="1200" dirty="0"/>
          </a:p>
        </p:txBody>
      </p:sp>
      <p:sp>
        <p:nvSpPr>
          <p:cNvPr id="17" name="Text 12"/>
          <p:cNvSpPr/>
          <p:nvPr/>
        </p:nvSpPr>
        <p:spPr>
          <a:xfrm>
            <a:off x="7635240" y="2990088"/>
            <a:ext cx="3687775" cy="566928"/>
          </a:xfrm>
          <a:prstGeom prst="rect">
            <a:avLst/>
          </a:prstGeom>
          <a:noFill/>
          <a:ln/>
        </p:spPr>
        <p:txBody>
          <a:bodyPr wrap="square" rtlCol="0" anchor="ctr"/>
          <a:lstStyle/>
          <a:p>
            <a:pPr marL="0" indent="0" algn="l">
              <a:buNone/>
            </a:pPr>
            <a:r>
              <a:rPr lang="en-US" sz="3400" b="1" dirty="0">
                <a:solidFill>
                  <a:srgbClr val="039475"/>
                </a:solidFill>
                <a:latin typeface="Calibri" pitchFamily="34" charset="0"/>
                <a:ea typeface="Calibri" pitchFamily="34" charset="-122"/>
                <a:cs typeface="Calibri" pitchFamily="34" charset="-120"/>
              </a:rPr>
              <a:t>1M+</a:t>
            </a:r>
            <a:endParaRPr lang="en-US" sz="3400" dirty="0"/>
          </a:p>
        </p:txBody>
      </p:sp>
      <p:sp>
        <p:nvSpPr>
          <p:cNvPr id="18" name="Text 13"/>
          <p:cNvSpPr/>
          <p:nvPr/>
        </p:nvSpPr>
        <p:spPr>
          <a:xfrm>
            <a:off x="7635240" y="3557016"/>
            <a:ext cx="3687775" cy="621792"/>
          </a:xfrm>
          <a:prstGeom prst="rect">
            <a:avLst/>
          </a:prstGeom>
          <a:noFill/>
          <a:ln/>
        </p:spPr>
        <p:txBody>
          <a:bodyPr wrap="square" rtlCol="0" anchor="ctr"/>
          <a:lstStyle/>
          <a:p>
            <a:pPr marL="0" indent="0">
              <a:lnSpc>
                <a:spcPct val="115000"/>
              </a:lnSpc>
              <a:buNone/>
            </a:pPr>
            <a:r>
              <a:rPr lang="en-US" sz="1200" dirty="0">
                <a:solidFill>
                  <a:srgbClr val="22302B"/>
                </a:solidFill>
                <a:latin typeface="Calibri" pitchFamily="34" charset="0"/>
                <a:ea typeface="Calibri" pitchFamily="34" charset="-122"/>
                <a:cs typeface="Calibri" pitchFamily="34" charset="-120"/>
              </a:rPr>
              <a:t>Downloads on Anaconda.org and still climbing</a:t>
            </a:r>
            <a:endParaRPr lang="en-US" sz="1200" dirty="0"/>
          </a:p>
        </p:txBody>
      </p:sp>
      <p:sp>
        <p:nvSpPr>
          <p:cNvPr id="19" name="Text 14"/>
          <p:cNvSpPr/>
          <p:nvPr/>
        </p:nvSpPr>
        <p:spPr>
          <a:xfrm>
            <a:off x="7635240" y="4288536"/>
            <a:ext cx="3687775" cy="566928"/>
          </a:xfrm>
          <a:prstGeom prst="rect">
            <a:avLst/>
          </a:prstGeom>
          <a:noFill/>
          <a:ln/>
        </p:spPr>
        <p:txBody>
          <a:bodyPr wrap="square" rtlCol="0" anchor="ctr"/>
          <a:lstStyle/>
          <a:p>
            <a:pPr marL="0" indent="0" algn="l">
              <a:buNone/>
            </a:pPr>
            <a:r>
              <a:rPr lang="en-US" sz="3400" b="1" dirty="0">
                <a:solidFill>
                  <a:srgbClr val="039475"/>
                </a:solidFill>
                <a:latin typeface="Calibri" pitchFamily="34" charset="0"/>
                <a:ea typeface="Calibri" pitchFamily="34" charset="-122"/>
                <a:cs typeface="Calibri" pitchFamily="34" charset="-120"/>
              </a:rPr>
              <a:t>10+</a:t>
            </a:r>
            <a:endParaRPr lang="en-US" sz="3400" dirty="0"/>
          </a:p>
        </p:txBody>
      </p:sp>
      <p:sp>
        <p:nvSpPr>
          <p:cNvPr id="20" name="Text 15"/>
          <p:cNvSpPr/>
          <p:nvPr/>
        </p:nvSpPr>
        <p:spPr>
          <a:xfrm>
            <a:off x="7635240" y="4855464"/>
            <a:ext cx="3687775" cy="621792"/>
          </a:xfrm>
          <a:prstGeom prst="rect">
            <a:avLst/>
          </a:prstGeom>
          <a:noFill/>
          <a:ln/>
        </p:spPr>
        <p:txBody>
          <a:bodyPr wrap="square" rtlCol="0" anchor="ctr"/>
          <a:lstStyle/>
          <a:p>
            <a:pPr marL="0" indent="0">
              <a:lnSpc>
                <a:spcPct val="115000"/>
              </a:lnSpc>
              <a:buNone/>
            </a:pPr>
            <a:r>
              <a:rPr lang="en-US" sz="1200" dirty="0">
                <a:solidFill>
                  <a:srgbClr val="22302B"/>
                </a:solidFill>
                <a:latin typeface="Calibri" pitchFamily="34" charset="0"/>
                <a:ea typeface="Calibri" pitchFamily="34" charset="-122"/>
                <a:cs typeface="Calibri" pitchFamily="34" charset="-120"/>
              </a:rPr>
              <a:t>New papers citing Snakemake every week</a:t>
            </a:r>
            <a:endParaRPr lang="en-US" sz="1200" dirty="0"/>
          </a:p>
        </p:txBody>
      </p:sp>
      <p:sp>
        <p:nvSpPr>
          <p:cNvPr id="21" name="Text 16"/>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22" name="Text 17"/>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CONCEPTUAL FRAMEWORK</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2700" b="1" dirty="0">
                <a:solidFill>
                  <a:srgbClr val="22302B"/>
                </a:solidFill>
                <a:latin typeface="Calibri" pitchFamily="34" charset="0"/>
                <a:ea typeface="Calibri" pitchFamily="34" charset="-122"/>
                <a:cs typeface="Calibri" pitchFamily="34" charset="-120"/>
              </a:rPr>
              <a:t>A rule: input files in, output files out</a:t>
            </a:r>
            <a:endParaRPr lang="en-US" sz="2700" dirty="0"/>
          </a:p>
        </p:txBody>
      </p:sp>
      <p:sp>
        <p:nvSpPr>
          <p:cNvPr id="4" name="Shape 2"/>
          <p:cNvSpPr/>
          <p:nvPr/>
        </p:nvSpPr>
        <p:spPr>
          <a:xfrm>
            <a:off x="548640" y="1874520"/>
            <a:ext cx="2834640" cy="914400"/>
          </a:xfrm>
          <a:prstGeom prst="roundRect">
            <a:avLst>
              <a:gd name="adj" fmla="val 9000"/>
            </a:avLst>
          </a:prstGeom>
          <a:solidFill>
            <a:srgbClr val="22302B"/>
          </a:solidFill>
          <a:ln/>
          <a:effectLst>
            <a:outerShdw blurRad="76200" dist="25400" dir="5400000" algn="bl" rotWithShape="0">
              <a:srgbClr val="1B2E27">
                <a:alpha val="18000"/>
              </a:srgbClr>
            </a:outerShdw>
          </a:effectLst>
        </p:spPr>
        <p:txBody>
          <a:bodyPr/>
          <a:lstStyle/>
          <a:p>
            <a:endParaRPr lang="en-US"/>
          </a:p>
        </p:txBody>
      </p:sp>
      <p:sp>
        <p:nvSpPr>
          <p:cNvPr id="5" name="Text 3"/>
          <p:cNvSpPr/>
          <p:nvPr/>
        </p:nvSpPr>
        <p:spPr>
          <a:xfrm>
            <a:off x="548640" y="1874520"/>
            <a:ext cx="283464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input file(s)</a:t>
            </a:r>
            <a:endParaRPr lang="en-US" sz="1400" dirty="0"/>
          </a:p>
          <a:p>
            <a:pPr marL="0" indent="0" algn="ctr">
              <a:buNone/>
            </a:pPr>
            <a:r>
              <a:rPr lang="en-US" sz="1100" dirty="0">
                <a:solidFill>
                  <a:srgbClr val="AEC0BA"/>
                </a:solidFill>
                <a:latin typeface="Calibri" pitchFamily="34" charset="0"/>
                <a:ea typeface="Calibri" pitchFamily="34" charset="-122"/>
                <a:cs typeface="Calibri" pitchFamily="34" charset="-120"/>
              </a:rPr>
              <a:t>raw_reads.fastq</a:t>
            </a:r>
            <a:endParaRPr lang="en-US" sz="1400" dirty="0"/>
          </a:p>
        </p:txBody>
      </p:sp>
      <p:sp>
        <p:nvSpPr>
          <p:cNvPr id="6" name="Shape 4"/>
          <p:cNvSpPr/>
          <p:nvPr/>
        </p:nvSpPr>
        <p:spPr>
          <a:xfrm>
            <a:off x="4678528" y="1874520"/>
            <a:ext cx="2834640" cy="914400"/>
          </a:xfrm>
          <a:prstGeom prst="roundRect">
            <a:avLst>
              <a:gd name="adj" fmla="val 9000"/>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7" name="Text 5"/>
          <p:cNvSpPr/>
          <p:nvPr/>
        </p:nvSpPr>
        <p:spPr>
          <a:xfrm>
            <a:off x="4678528" y="1874520"/>
            <a:ext cx="283464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rule</a:t>
            </a:r>
            <a:endParaRPr lang="en-US" sz="1400" dirty="0"/>
          </a:p>
          <a:p>
            <a:pPr marL="0" indent="0" algn="ctr">
              <a:buNone/>
            </a:pPr>
            <a:r>
              <a:rPr lang="en-US" sz="1100" dirty="0">
                <a:solidFill>
                  <a:srgbClr val="D8F0E9"/>
                </a:solidFill>
                <a:latin typeface="Calibri" pitchFamily="34" charset="0"/>
                <a:ea typeface="Calibri" pitchFamily="34" charset="-122"/>
                <a:cs typeface="Calibri" pitchFamily="34" charset="-120"/>
              </a:rPr>
              <a:t>the recipe</a:t>
            </a:r>
            <a:endParaRPr lang="en-US" sz="1400" dirty="0"/>
          </a:p>
        </p:txBody>
      </p:sp>
      <p:sp>
        <p:nvSpPr>
          <p:cNvPr id="8" name="Shape 6"/>
          <p:cNvSpPr/>
          <p:nvPr/>
        </p:nvSpPr>
        <p:spPr>
          <a:xfrm>
            <a:off x="8808415" y="1874520"/>
            <a:ext cx="2834640" cy="914400"/>
          </a:xfrm>
          <a:prstGeom prst="roundRect">
            <a:avLst>
              <a:gd name="adj" fmla="val 9000"/>
            </a:avLst>
          </a:prstGeom>
          <a:solidFill>
            <a:srgbClr val="22302B"/>
          </a:solidFill>
          <a:ln/>
          <a:effectLst>
            <a:outerShdw blurRad="76200" dist="25400" dir="5400000" algn="bl" rotWithShape="0">
              <a:srgbClr val="1B2E27">
                <a:alpha val="18000"/>
              </a:srgbClr>
            </a:outerShdw>
          </a:effectLst>
        </p:spPr>
        <p:txBody>
          <a:bodyPr/>
          <a:lstStyle/>
          <a:p>
            <a:endParaRPr lang="en-US"/>
          </a:p>
        </p:txBody>
      </p:sp>
      <p:sp>
        <p:nvSpPr>
          <p:cNvPr id="9" name="Text 7"/>
          <p:cNvSpPr/>
          <p:nvPr/>
        </p:nvSpPr>
        <p:spPr>
          <a:xfrm>
            <a:off x="8808415" y="1874520"/>
            <a:ext cx="283464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output file(s)</a:t>
            </a:r>
            <a:endParaRPr lang="en-US" sz="1400" dirty="0"/>
          </a:p>
          <a:p>
            <a:pPr marL="0" indent="0" algn="ctr">
              <a:buNone/>
            </a:pPr>
            <a:r>
              <a:rPr lang="en-US" sz="1100" dirty="0">
                <a:solidFill>
                  <a:srgbClr val="AEC0BA"/>
                </a:solidFill>
                <a:latin typeface="Calibri" pitchFamily="34" charset="0"/>
                <a:ea typeface="Calibri" pitchFamily="34" charset="-122"/>
                <a:cs typeface="Calibri" pitchFamily="34" charset="-120"/>
              </a:rPr>
              <a:t>trimmed_reads.fastq</a:t>
            </a:r>
            <a:endParaRPr lang="en-US" sz="1400" dirty="0"/>
          </a:p>
        </p:txBody>
      </p:sp>
      <p:sp>
        <p:nvSpPr>
          <p:cNvPr id="10" name="Shape 8"/>
          <p:cNvSpPr/>
          <p:nvPr/>
        </p:nvSpPr>
        <p:spPr>
          <a:xfrm>
            <a:off x="3383280" y="2331720"/>
            <a:ext cx="1295248" cy="0"/>
          </a:xfrm>
          <a:prstGeom prst="line">
            <a:avLst/>
          </a:prstGeom>
          <a:noFill/>
          <a:ln w="22225">
            <a:solidFill>
              <a:srgbClr val="22302B"/>
            </a:solidFill>
            <a:prstDash val="solid"/>
            <a:tailEnd type="triangle"/>
          </a:ln>
        </p:spPr>
        <p:txBody>
          <a:bodyPr/>
          <a:lstStyle/>
          <a:p>
            <a:endParaRPr lang="en-US"/>
          </a:p>
        </p:txBody>
      </p:sp>
      <p:sp>
        <p:nvSpPr>
          <p:cNvPr id="11" name="Shape 9"/>
          <p:cNvSpPr/>
          <p:nvPr/>
        </p:nvSpPr>
        <p:spPr>
          <a:xfrm>
            <a:off x="7513168" y="2331720"/>
            <a:ext cx="1295248" cy="0"/>
          </a:xfrm>
          <a:prstGeom prst="line">
            <a:avLst/>
          </a:prstGeom>
          <a:noFill/>
          <a:ln w="22225">
            <a:solidFill>
              <a:srgbClr val="22302B"/>
            </a:solidFill>
            <a:prstDash val="solid"/>
            <a:tailEnd type="triangle"/>
          </a:ln>
        </p:spPr>
        <p:txBody>
          <a:bodyPr/>
          <a:lstStyle/>
          <a:p>
            <a:endParaRPr lang="en-US"/>
          </a:p>
        </p:txBody>
      </p:sp>
      <p:sp>
        <p:nvSpPr>
          <p:cNvPr id="12" name="Shape 10"/>
          <p:cNvSpPr/>
          <p:nvPr/>
        </p:nvSpPr>
        <p:spPr>
          <a:xfrm>
            <a:off x="548640" y="3337560"/>
            <a:ext cx="384048" cy="384048"/>
          </a:xfrm>
          <a:prstGeom prst="ellipse">
            <a:avLst/>
          </a:prstGeom>
          <a:solidFill>
            <a:srgbClr val="E4F3EF"/>
          </a:solidFill>
          <a:ln/>
        </p:spPr>
        <p:txBody>
          <a:bodyPr/>
          <a:lstStyle/>
          <a:p>
            <a:endParaRPr lang="en-US"/>
          </a:p>
        </p:txBody>
      </p:sp>
      <p:pic>
        <p:nvPicPr>
          <p:cNvPr id="13" name="Image 0" descr="/home/claude/work/build/icons/eye_teal.png"/>
          <p:cNvPicPr>
            <a:picLocks noChangeAspect="1"/>
          </p:cNvPicPr>
          <p:nvPr/>
        </p:nvPicPr>
        <p:blipFill>
          <a:blip r:embed="rId3"/>
          <a:stretch>
            <a:fillRect/>
          </a:stretch>
        </p:blipFill>
        <p:spPr>
          <a:xfrm>
            <a:off x="648492" y="3437412"/>
            <a:ext cx="184343" cy="184343"/>
          </a:xfrm>
          <a:prstGeom prst="rect">
            <a:avLst/>
          </a:prstGeom>
        </p:spPr>
      </p:pic>
      <p:sp>
        <p:nvSpPr>
          <p:cNvPr id="14" name="Text 11"/>
          <p:cNvSpPr/>
          <p:nvPr/>
        </p:nvSpPr>
        <p:spPr>
          <a:xfrm>
            <a:off x="1115568" y="3310128"/>
            <a:ext cx="10527487" cy="475488"/>
          </a:xfrm>
          <a:prstGeom prst="rect">
            <a:avLst/>
          </a:prstGeom>
          <a:noFill/>
          <a:ln/>
        </p:spPr>
        <p:txBody>
          <a:bodyPr wrap="square" rtlCol="0" anchor="t"/>
          <a:lstStyle/>
          <a:p>
            <a:pPr marL="0" indent="0">
              <a:lnSpc>
                <a:spcPct val="112000"/>
              </a:lnSpc>
              <a:buNone/>
            </a:pPr>
            <a:r>
              <a:rPr lang="en-US" sz="1450" b="1" dirty="0">
                <a:solidFill>
                  <a:srgbClr val="22302B"/>
                </a:solidFill>
                <a:latin typeface="Calibri" pitchFamily="34" charset="0"/>
                <a:ea typeface="Calibri" pitchFamily="34" charset="-122"/>
                <a:cs typeface="Calibri" pitchFamily="34" charset="-120"/>
              </a:rPr>
              <a:t>Snakemake works backward from the output you ask for</a:t>
            </a:r>
            <a:endParaRPr lang="en-US" sz="1450" dirty="0"/>
          </a:p>
          <a:p>
            <a:pPr marL="0" indent="0">
              <a:lnSpc>
                <a:spcPct val="112000"/>
              </a:lnSpc>
              <a:buNone/>
            </a:pPr>
            <a:r>
              <a:rPr lang="en-US" sz="1250" dirty="0">
                <a:solidFill>
                  <a:srgbClr val="5C6B66"/>
                </a:solidFill>
                <a:latin typeface="Calibri" pitchFamily="34" charset="0"/>
                <a:ea typeface="Calibri" pitchFamily="34" charset="-122"/>
                <a:cs typeface="Calibri" pitchFamily="34" charset="-120"/>
              </a:rPr>
              <a:t>you name the destination; it figures out how to get there</a:t>
            </a:r>
            <a:endParaRPr lang="en-US" sz="1450" dirty="0"/>
          </a:p>
        </p:txBody>
      </p:sp>
      <p:sp>
        <p:nvSpPr>
          <p:cNvPr id="15" name="Shape 12"/>
          <p:cNvSpPr/>
          <p:nvPr/>
        </p:nvSpPr>
        <p:spPr>
          <a:xfrm>
            <a:off x="548640" y="4233672"/>
            <a:ext cx="384048" cy="384048"/>
          </a:xfrm>
          <a:prstGeom prst="ellipse">
            <a:avLst/>
          </a:prstGeom>
          <a:solidFill>
            <a:srgbClr val="E4F3EF"/>
          </a:solidFill>
          <a:ln/>
        </p:spPr>
        <p:txBody>
          <a:bodyPr/>
          <a:lstStyle/>
          <a:p>
            <a:endParaRPr lang="en-US"/>
          </a:p>
        </p:txBody>
      </p:sp>
      <p:pic>
        <p:nvPicPr>
          <p:cNvPr id="16" name="Image 1" descr="/home/claude/work/build/icons/layer_teal.png"/>
          <p:cNvPicPr>
            <a:picLocks noChangeAspect="1"/>
          </p:cNvPicPr>
          <p:nvPr/>
        </p:nvPicPr>
        <p:blipFill>
          <a:blip r:embed="rId4"/>
          <a:stretch>
            <a:fillRect/>
          </a:stretch>
        </p:blipFill>
        <p:spPr>
          <a:xfrm>
            <a:off x="648492" y="4333524"/>
            <a:ext cx="184343" cy="184343"/>
          </a:xfrm>
          <a:prstGeom prst="rect">
            <a:avLst/>
          </a:prstGeom>
        </p:spPr>
      </p:pic>
      <p:sp>
        <p:nvSpPr>
          <p:cNvPr id="17" name="Text 13"/>
          <p:cNvSpPr/>
          <p:nvPr/>
        </p:nvSpPr>
        <p:spPr>
          <a:xfrm>
            <a:off x="1115568" y="4206240"/>
            <a:ext cx="10527487" cy="475488"/>
          </a:xfrm>
          <a:prstGeom prst="rect">
            <a:avLst/>
          </a:prstGeom>
          <a:noFill/>
          <a:ln/>
        </p:spPr>
        <p:txBody>
          <a:bodyPr wrap="square" rtlCol="0" anchor="t"/>
          <a:lstStyle/>
          <a:p>
            <a:pPr marL="0" indent="0">
              <a:lnSpc>
                <a:spcPct val="112000"/>
              </a:lnSpc>
              <a:buNone/>
            </a:pPr>
            <a:r>
              <a:rPr lang="en-US" sz="1450" b="1" dirty="0">
                <a:solidFill>
                  <a:srgbClr val="22302B"/>
                </a:solidFill>
                <a:latin typeface="Calibri" pitchFamily="34" charset="0"/>
                <a:ea typeface="Calibri" pitchFamily="34" charset="-122"/>
                <a:cs typeface="Calibri" pitchFamily="34" charset="-120"/>
              </a:rPr>
              <a:t>No step numbers to keep straight</a:t>
            </a:r>
            <a:endParaRPr lang="en-US" sz="1450" dirty="0"/>
          </a:p>
          <a:p>
            <a:pPr marL="0" indent="0">
              <a:lnSpc>
                <a:spcPct val="112000"/>
              </a:lnSpc>
              <a:buNone/>
            </a:pPr>
            <a:r>
              <a:rPr lang="en-US" sz="1250" dirty="0">
                <a:solidFill>
                  <a:srgbClr val="5C6B66"/>
                </a:solidFill>
                <a:latin typeface="Calibri" pitchFamily="34" charset="0"/>
                <a:ea typeface="Calibri" pitchFamily="34" charset="-122"/>
                <a:cs typeface="Calibri" pitchFamily="34" charset="-120"/>
              </a:rPr>
              <a:t>order is inferred automatically by matching filenames between rules</a:t>
            </a:r>
            <a:endParaRPr lang="en-US" sz="1450" dirty="0"/>
          </a:p>
        </p:txBody>
      </p:sp>
      <p:sp>
        <p:nvSpPr>
          <p:cNvPr id="18" name="Shape 14"/>
          <p:cNvSpPr/>
          <p:nvPr/>
        </p:nvSpPr>
        <p:spPr>
          <a:xfrm>
            <a:off x="548640" y="5129784"/>
            <a:ext cx="384048" cy="384048"/>
          </a:xfrm>
          <a:prstGeom prst="ellipse">
            <a:avLst/>
          </a:prstGeom>
          <a:solidFill>
            <a:srgbClr val="E4F3EF"/>
          </a:solidFill>
          <a:ln/>
        </p:spPr>
        <p:txBody>
          <a:bodyPr/>
          <a:lstStyle/>
          <a:p>
            <a:endParaRPr lang="en-US"/>
          </a:p>
        </p:txBody>
      </p:sp>
      <p:pic>
        <p:nvPicPr>
          <p:cNvPr id="19" name="Image 2" descr="/home/claude/work/build/icons/refresh_teal.png"/>
          <p:cNvPicPr>
            <a:picLocks noChangeAspect="1"/>
          </p:cNvPicPr>
          <p:nvPr/>
        </p:nvPicPr>
        <p:blipFill>
          <a:blip r:embed="rId5"/>
          <a:stretch>
            <a:fillRect/>
          </a:stretch>
        </p:blipFill>
        <p:spPr>
          <a:xfrm>
            <a:off x="648492" y="5229636"/>
            <a:ext cx="184343" cy="184343"/>
          </a:xfrm>
          <a:prstGeom prst="rect">
            <a:avLst/>
          </a:prstGeom>
        </p:spPr>
      </p:pic>
      <p:sp>
        <p:nvSpPr>
          <p:cNvPr id="20" name="Text 15"/>
          <p:cNvSpPr/>
          <p:nvPr/>
        </p:nvSpPr>
        <p:spPr>
          <a:xfrm>
            <a:off x="1115568" y="5102352"/>
            <a:ext cx="10527487" cy="475488"/>
          </a:xfrm>
          <a:prstGeom prst="rect">
            <a:avLst/>
          </a:prstGeom>
          <a:noFill/>
          <a:ln/>
        </p:spPr>
        <p:txBody>
          <a:bodyPr wrap="square" rtlCol="0" anchor="t"/>
          <a:lstStyle/>
          <a:p>
            <a:pPr marL="0" indent="0">
              <a:lnSpc>
                <a:spcPct val="112000"/>
              </a:lnSpc>
              <a:buNone/>
            </a:pPr>
            <a:r>
              <a:rPr lang="en-US" sz="1450" b="1" dirty="0">
                <a:solidFill>
                  <a:srgbClr val="22302B"/>
                </a:solidFill>
                <a:latin typeface="Calibri" pitchFamily="34" charset="0"/>
                <a:ea typeface="Calibri" pitchFamily="34" charset="-122"/>
                <a:cs typeface="Calibri" pitchFamily="34" charset="-120"/>
              </a:rPr>
              <a:t>Nothing reruns unless it has to</a:t>
            </a:r>
            <a:endParaRPr lang="en-US" sz="1450" dirty="0"/>
          </a:p>
          <a:p>
            <a:pPr marL="0" indent="0">
              <a:lnSpc>
                <a:spcPct val="112000"/>
              </a:lnSpc>
              <a:buNone/>
            </a:pPr>
            <a:r>
              <a:rPr lang="en-US" sz="1250" dirty="0">
                <a:solidFill>
                  <a:srgbClr val="5C6B66"/>
                </a:solidFill>
                <a:latin typeface="Calibri" pitchFamily="34" charset="0"/>
                <a:ea typeface="Calibri" pitchFamily="34" charset="-122"/>
                <a:cs typeface="Calibri" pitchFamily="34" charset="-120"/>
              </a:rPr>
              <a:t>a rule only fires when its output is missing or its input changed</a:t>
            </a:r>
            <a:endParaRPr lang="en-US" sz="1450" dirty="0"/>
          </a:p>
        </p:txBody>
      </p:sp>
      <p:sp>
        <p:nvSpPr>
          <p:cNvPr id="21" name="Text 16"/>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22" name="Text 17"/>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CONCEPTUAL FRAMEWORK</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2600" b="1" dirty="0">
                <a:solidFill>
                  <a:srgbClr val="22302B"/>
                </a:solidFill>
                <a:latin typeface="Calibri" pitchFamily="34" charset="0"/>
                <a:ea typeface="Calibri" pitchFamily="34" charset="-122"/>
                <a:cs typeface="Calibri" pitchFamily="34" charset="-120"/>
              </a:rPr>
              <a:t>Wildcards: write one rule, apply it to every sample</a:t>
            </a:r>
            <a:endParaRPr lang="en-US" sz="2600" dirty="0"/>
          </a:p>
        </p:txBody>
      </p:sp>
      <p:sp>
        <p:nvSpPr>
          <p:cNvPr id="4" name="Shape 2"/>
          <p:cNvSpPr/>
          <p:nvPr/>
        </p:nvSpPr>
        <p:spPr>
          <a:xfrm>
            <a:off x="548640" y="1965960"/>
            <a:ext cx="2148840" cy="621792"/>
          </a:xfrm>
          <a:prstGeom prst="roundRect">
            <a:avLst>
              <a:gd name="adj" fmla="val 13235"/>
            </a:avLst>
          </a:prstGeom>
          <a:solidFill>
            <a:srgbClr val="22302B"/>
          </a:solidFill>
          <a:ln/>
          <a:effectLst>
            <a:outerShdw blurRad="76200" dist="25400" dir="5400000" algn="bl" rotWithShape="0">
              <a:srgbClr val="1B2E27">
                <a:alpha val="18000"/>
              </a:srgbClr>
            </a:outerShdw>
          </a:effectLst>
        </p:spPr>
        <p:txBody>
          <a:bodyPr/>
          <a:lstStyle/>
          <a:p>
            <a:endParaRPr lang="en-US"/>
          </a:p>
        </p:txBody>
      </p:sp>
      <p:sp>
        <p:nvSpPr>
          <p:cNvPr id="5" name="Text 3"/>
          <p:cNvSpPr/>
          <p:nvPr/>
        </p:nvSpPr>
        <p:spPr>
          <a:xfrm>
            <a:off x="548640" y="1965960"/>
            <a:ext cx="2148840" cy="62179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sample01.fastq</a:t>
            </a:r>
            <a:endParaRPr lang="en-US" sz="1150" dirty="0"/>
          </a:p>
        </p:txBody>
      </p:sp>
      <p:sp>
        <p:nvSpPr>
          <p:cNvPr id="6" name="Shape 4"/>
          <p:cNvSpPr/>
          <p:nvPr/>
        </p:nvSpPr>
        <p:spPr>
          <a:xfrm>
            <a:off x="2697480" y="2276856"/>
            <a:ext cx="2011680" cy="1060704"/>
          </a:xfrm>
          <a:prstGeom prst="line">
            <a:avLst/>
          </a:prstGeom>
          <a:noFill/>
          <a:ln w="22225">
            <a:solidFill>
              <a:srgbClr val="9AA8A3"/>
            </a:solidFill>
            <a:prstDash val="solid"/>
            <a:tailEnd type="triangle"/>
          </a:ln>
        </p:spPr>
        <p:txBody>
          <a:bodyPr/>
          <a:lstStyle/>
          <a:p>
            <a:endParaRPr lang="en-US"/>
          </a:p>
        </p:txBody>
      </p:sp>
      <p:sp>
        <p:nvSpPr>
          <p:cNvPr id="7" name="Shape 5"/>
          <p:cNvSpPr/>
          <p:nvPr/>
        </p:nvSpPr>
        <p:spPr>
          <a:xfrm>
            <a:off x="548640" y="2752344"/>
            <a:ext cx="2148840" cy="621792"/>
          </a:xfrm>
          <a:prstGeom prst="roundRect">
            <a:avLst>
              <a:gd name="adj" fmla="val 13235"/>
            </a:avLst>
          </a:prstGeom>
          <a:solidFill>
            <a:srgbClr val="22302B"/>
          </a:solidFill>
          <a:ln/>
          <a:effectLst>
            <a:outerShdw blurRad="76200" dist="25400" dir="5400000" algn="bl" rotWithShape="0">
              <a:srgbClr val="1B2E27">
                <a:alpha val="18000"/>
              </a:srgbClr>
            </a:outerShdw>
          </a:effectLst>
        </p:spPr>
        <p:txBody>
          <a:bodyPr/>
          <a:lstStyle/>
          <a:p>
            <a:endParaRPr lang="en-US"/>
          </a:p>
        </p:txBody>
      </p:sp>
      <p:sp>
        <p:nvSpPr>
          <p:cNvPr id="8" name="Text 6"/>
          <p:cNvSpPr/>
          <p:nvPr/>
        </p:nvSpPr>
        <p:spPr>
          <a:xfrm>
            <a:off x="548640" y="2752344"/>
            <a:ext cx="2148840" cy="62179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sample02.fastq</a:t>
            </a:r>
            <a:endParaRPr lang="en-US" sz="1150" dirty="0"/>
          </a:p>
        </p:txBody>
      </p:sp>
      <p:sp>
        <p:nvSpPr>
          <p:cNvPr id="9" name="Shape 7"/>
          <p:cNvSpPr/>
          <p:nvPr/>
        </p:nvSpPr>
        <p:spPr>
          <a:xfrm>
            <a:off x="2697480" y="3063240"/>
            <a:ext cx="2011680" cy="274320"/>
          </a:xfrm>
          <a:prstGeom prst="line">
            <a:avLst/>
          </a:prstGeom>
          <a:noFill/>
          <a:ln w="22225">
            <a:solidFill>
              <a:srgbClr val="9AA8A3"/>
            </a:solidFill>
            <a:prstDash val="solid"/>
            <a:tailEnd type="triangle"/>
          </a:ln>
        </p:spPr>
        <p:txBody>
          <a:bodyPr/>
          <a:lstStyle/>
          <a:p>
            <a:endParaRPr lang="en-US"/>
          </a:p>
        </p:txBody>
      </p:sp>
      <p:sp>
        <p:nvSpPr>
          <p:cNvPr id="10" name="Shape 8"/>
          <p:cNvSpPr/>
          <p:nvPr/>
        </p:nvSpPr>
        <p:spPr>
          <a:xfrm>
            <a:off x="548640" y="3538728"/>
            <a:ext cx="2148840" cy="621792"/>
          </a:xfrm>
          <a:prstGeom prst="roundRect">
            <a:avLst>
              <a:gd name="adj" fmla="val 13235"/>
            </a:avLst>
          </a:prstGeom>
          <a:solidFill>
            <a:srgbClr val="22302B"/>
          </a:solidFill>
          <a:ln/>
          <a:effectLst>
            <a:outerShdw blurRad="76200" dist="25400" dir="5400000" algn="bl" rotWithShape="0">
              <a:srgbClr val="1B2E27">
                <a:alpha val="18000"/>
              </a:srgbClr>
            </a:outerShdw>
          </a:effectLst>
        </p:spPr>
        <p:txBody>
          <a:bodyPr/>
          <a:lstStyle/>
          <a:p>
            <a:endParaRPr lang="en-US"/>
          </a:p>
        </p:txBody>
      </p:sp>
      <p:sp>
        <p:nvSpPr>
          <p:cNvPr id="11" name="Text 9"/>
          <p:cNvSpPr/>
          <p:nvPr/>
        </p:nvSpPr>
        <p:spPr>
          <a:xfrm>
            <a:off x="548640" y="3538728"/>
            <a:ext cx="2148840" cy="62179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sample03.fastq</a:t>
            </a:r>
            <a:endParaRPr lang="en-US" sz="1150" dirty="0"/>
          </a:p>
        </p:txBody>
      </p:sp>
      <p:sp>
        <p:nvSpPr>
          <p:cNvPr id="12" name="Shape 10"/>
          <p:cNvSpPr/>
          <p:nvPr/>
        </p:nvSpPr>
        <p:spPr>
          <a:xfrm flipV="1">
            <a:off x="2697480" y="3337560"/>
            <a:ext cx="2011680" cy="512064"/>
          </a:xfrm>
          <a:prstGeom prst="line">
            <a:avLst/>
          </a:prstGeom>
          <a:noFill/>
          <a:ln w="22225">
            <a:solidFill>
              <a:srgbClr val="9AA8A3"/>
            </a:solidFill>
            <a:prstDash val="solid"/>
            <a:tailEnd type="triangle"/>
          </a:ln>
        </p:spPr>
        <p:txBody>
          <a:bodyPr/>
          <a:lstStyle/>
          <a:p>
            <a:endParaRPr lang="en-US"/>
          </a:p>
        </p:txBody>
      </p:sp>
      <p:sp>
        <p:nvSpPr>
          <p:cNvPr id="13" name="Shape 11"/>
          <p:cNvSpPr/>
          <p:nvPr/>
        </p:nvSpPr>
        <p:spPr>
          <a:xfrm>
            <a:off x="4709160" y="2880360"/>
            <a:ext cx="2606040" cy="914400"/>
          </a:xfrm>
          <a:prstGeom prst="roundRect">
            <a:avLst>
              <a:gd name="adj" fmla="val 9000"/>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14" name="Text 12"/>
          <p:cNvSpPr/>
          <p:nvPr/>
        </p:nvSpPr>
        <p:spPr>
          <a:xfrm>
            <a:off x="4709160" y="2880360"/>
            <a:ext cx="2606040" cy="9144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rule trim_reads</a:t>
            </a:r>
            <a:endParaRPr lang="en-US" sz="1350" dirty="0"/>
          </a:p>
          <a:p>
            <a:pPr marL="0" indent="0" algn="ctr">
              <a:buNone/>
            </a:pPr>
            <a:r>
              <a:rPr lang="en-US" sz="1050" dirty="0">
                <a:solidFill>
                  <a:srgbClr val="D8F0E9"/>
                </a:solidFill>
                <a:latin typeface="Calibri" pitchFamily="34" charset="0"/>
                <a:ea typeface="Calibri" pitchFamily="34" charset="-122"/>
                <a:cs typeface="Calibri" pitchFamily="34" charset="-120"/>
              </a:rPr>
              <a:t>input: raw/{sample}.fastq</a:t>
            </a:r>
            <a:endParaRPr lang="en-US" sz="1350" dirty="0"/>
          </a:p>
        </p:txBody>
      </p:sp>
      <p:sp>
        <p:nvSpPr>
          <p:cNvPr id="15" name="Shape 13"/>
          <p:cNvSpPr/>
          <p:nvPr/>
        </p:nvSpPr>
        <p:spPr>
          <a:xfrm>
            <a:off x="9494215" y="1965960"/>
            <a:ext cx="2148840" cy="621792"/>
          </a:xfrm>
          <a:prstGeom prst="roundRect">
            <a:avLst>
              <a:gd name="adj" fmla="val 13235"/>
            </a:avLst>
          </a:prstGeom>
          <a:solidFill>
            <a:srgbClr val="22302B"/>
          </a:solidFill>
          <a:ln/>
          <a:effectLst>
            <a:outerShdw blurRad="76200" dist="25400" dir="5400000" algn="bl" rotWithShape="0">
              <a:srgbClr val="1B2E27">
                <a:alpha val="18000"/>
              </a:srgbClr>
            </a:outerShdw>
          </a:effectLst>
        </p:spPr>
        <p:txBody>
          <a:bodyPr/>
          <a:lstStyle/>
          <a:p>
            <a:endParaRPr lang="en-US"/>
          </a:p>
        </p:txBody>
      </p:sp>
      <p:sp>
        <p:nvSpPr>
          <p:cNvPr id="16" name="Text 14"/>
          <p:cNvSpPr/>
          <p:nvPr/>
        </p:nvSpPr>
        <p:spPr>
          <a:xfrm>
            <a:off x="9494215" y="1965960"/>
            <a:ext cx="2148840" cy="62179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sample01_trimmed.fastq</a:t>
            </a:r>
            <a:endParaRPr lang="en-US" sz="1050" dirty="0"/>
          </a:p>
        </p:txBody>
      </p:sp>
      <p:sp>
        <p:nvSpPr>
          <p:cNvPr id="17" name="Shape 15"/>
          <p:cNvSpPr/>
          <p:nvPr/>
        </p:nvSpPr>
        <p:spPr>
          <a:xfrm flipV="1">
            <a:off x="7315200" y="2276856"/>
            <a:ext cx="2179015" cy="1060704"/>
          </a:xfrm>
          <a:prstGeom prst="line">
            <a:avLst/>
          </a:prstGeom>
          <a:noFill/>
          <a:ln w="22225">
            <a:solidFill>
              <a:srgbClr val="9AA8A3"/>
            </a:solidFill>
            <a:prstDash val="solid"/>
            <a:tailEnd type="triangle"/>
          </a:ln>
        </p:spPr>
        <p:txBody>
          <a:bodyPr/>
          <a:lstStyle/>
          <a:p>
            <a:endParaRPr lang="en-US"/>
          </a:p>
        </p:txBody>
      </p:sp>
      <p:sp>
        <p:nvSpPr>
          <p:cNvPr id="18" name="Shape 16"/>
          <p:cNvSpPr/>
          <p:nvPr/>
        </p:nvSpPr>
        <p:spPr>
          <a:xfrm>
            <a:off x="9494215" y="2752344"/>
            <a:ext cx="2148840" cy="621792"/>
          </a:xfrm>
          <a:prstGeom prst="roundRect">
            <a:avLst>
              <a:gd name="adj" fmla="val 13235"/>
            </a:avLst>
          </a:prstGeom>
          <a:solidFill>
            <a:srgbClr val="22302B"/>
          </a:solidFill>
          <a:ln/>
          <a:effectLst>
            <a:outerShdw blurRad="76200" dist="25400" dir="5400000" algn="bl" rotWithShape="0">
              <a:srgbClr val="1B2E27">
                <a:alpha val="18000"/>
              </a:srgbClr>
            </a:outerShdw>
          </a:effectLst>
        </p:spPr>
        <p:txBody>
          <a:bodyPr/>
          <a:lstStyle/>
          <a:p>
            <a:endParaRPr lang="en-US"/>
          </a:p>
        </p:txBody>
      </p:sp>
      <p:sp>
        <p:nvSpPr>
          <p:cNvPr id="19" name="Text 17"/>
          <p:cNvSpPr/>
          <p:nvPr/>
        </p:nvSpPr>
        <p:spPr>
          <a:xfrm>
            <a:off x="9494215" y="2752344"/>
            <a:ext cx="2148840" cy="62179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sample02_trimmed.fastq</a:t>
            </a:r>
            <a:endParaRPr lang="en-US" sz="1050" dirty="0"/>
          </a:p>
        </p:txBody>
      </p:sp>
      <p:sp>
        <p:nvSpPr>
          <p:cNvPr id="20" name="Shape 18"/>
          <p:cNvSpPr/>
          <p:nvPr/>
        </p:nvSpPr>
        <p:spPr>
          <a:xfrm flipV="1">
            <a:off x="7315200" y="3063240"/>
            <a:ext cx="2179015" cy="274320"/>
          </a:xfrm>
          <a:prstGeom prst="line">
            <a:avLst/>
          </a:prstGeom>
          <a:noFill/>
          <a:ln w="22225">
            <a:solidFill>
              <a:srgbClr val="9AA8A3"/>
            </a:solidFill>
            <a:prstDash val="solid"/>
            <a:tailEnd type="triangle"/>
          </a:ln>
        </p:spPr>
        <p:txBody>
          <a:bodyPr/>
          <a:lstStyle/>
          <a:p>
            <a:endParaRPr lang="en-US"/>
          </a:p>
        </p:txBody>
      </p:sp>
      <p:sp>
        <p:nvSpPr>
          <p:cNvPr id="21" name="Shape 19"/>
          <p:cNvSpPr/>
          <p:nvPr/>
        </p:nvSpPr>
        <p:spPr>
          <a:xfrm>
            <a:off x="9494215" y="3538728"/>
            <a:ext cx="2148840" cy="621792"/>
          </a:xfrm>
          <a:prstGeom prst="roundRect">
            <a:avLst>
              <a:gd name="adj" fmla="val 13235"/>
            </a:avLst>
          </a:prstGeom>
          <a:solidFill>
            <a:srgbClr val="22302B"/>
          </a:solidFill>
          <a:ln/>
          <a:effectLst>
            <a:outerShdw blurRad="76200" dist="25400" dir="5400000" algn="bl" rotWithShape="0">
              <a:srgbClr val="1B2E27">
                <a:alpha val="18000"/>
              </a:srgbClr>
            </a:outerShdw>
          </a:effectLst>
        </p:spPr>
        <p:txBody>
          <a:bodyPr/>
          <a:lstStyle/>
          <a:p>
            <a:endParaRPr lang="en-US"/>
          </a:p>
        </p:txBody>
      </p:sp>
      <p:sp>
        <p:nvSpPr>
          <p:cNvPr id="22" name="Text 20"/>
          <p:cNvSpPr/>
          <p:nvPr/>
        </p:nvSpPr>
        <p:spPr>
          <a:xfrm>
            <a:off x="9494215" y="3538728"/>
            <a:ext cx="2148840" cy="62179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sample03_trimmed.fastq</a:t>
            </a:r>
            <a:endParaRPr lang="en-US" sz="1050" dirty="0"/>
          </a:p>
        </p:txBody>
      </p:sp>
      <p:sp>
        <p:nvSpPr>
          <p:cNvPr id="23" name="Shape 21"/>
          <p:cNvSpPr/>
          <p:nvPr/>
        </p:nvSpPr>
        <p:spPr>
          <a:xfrm>
            <a:off x="7315200" y="3337560"/>
            <a:ext cx="2179015" cy="512064"/>
          </a:xfrm>
          <a:prstGeom prst="line">
            <a:avLst/>
          </a:prstGeom>
          <a:noFill/>
          <a:ln w="22225">
            <a:solidFill>
              <a:srgbClr val="9AA8A3"/>
            </a:solidFill>
            <a:prstDash val="solid"/>
            <a:tailEnd type="triangle"/>
          </a:ln>
        </p:spPr>
        <p:txBody>
          <a:bodyPr/>
          <a:lstStyle/>
          <a:p>
            <a:endParaRPr lang="en-US"/>
          </a:p>
        </p:txBody>
      </p:sp>
      <p:sp>
        <p:nvSpPr>
          <p:cNvPr id="24" name="Text 22"/>
          <p:cNvSpPr/>
          <p:nvPr/>
        </p:nvSpPr>
        <p:spPr>
          <a:xfrm>
            <a:off x="548640" y="4224528"/>
            <a:ext cx="11094415" cy="411480"/>
          </a:xfrm>
          <a:prstGeom prst="rect">
            <a:avLst/>
          </a:prstGeom>
          <a:noFill/>
          <a:ln/>
        </p:spPr>
        <p:txBody>
          <a:bodyPr wrap="square" rtlCol="0" anchor="ctr"/>
          <a:lstStyle/>
          <a:p>
            <a:pPr marL="0" indent="0">
              <a:lnSpc>
                <a:spcPct val="130000"/>
              </a:lnSpc>
              <a:buNone/>
            </a:pPr>
            <a:r>
              <a:rPr lang="en-US" sz="1450" b="1" dirty="0">
                <a:solidFill>
                  <a:srgbClr val="039475"/>
                </a:solidFill>
                <a:latin typeface="Courier New" pitchFamily="34" charset="0"/>
                <a:ea typeface="Courier New" pitchFamily="34" charset="-122"/>
                <a:cs typeface="Courier New" pitchFamily="34" charset="-120"/>
              </a:rPr>
              <a:t>{sample}</a:t>
            </a:r>
            <a:r>
              <a:rPr lang="en-US" sz="1450" dirty="0">
                <a:solidFill>
                  <a:srgbClr val="22302B"/>
                </a:solidFill>
                <a:latin typeface="Calibri" pitchFamily="34" charset="0"/>
                <a:ea typeface="Calibri" pitchFamily="34" charset="-122"/>
                <a:cs typeface="Calibri" pitchFamily="34" charset="-120"/>
              </a:rPr>
              <a:t>  is a placeholder. Snakemake matches it against the files it needs to produce, then runs the rule once per sample.</a:t>
            </a:r>
            <a:endParaRPr lang="en-US" sz="1450" dirty="0"/>
          </a:p>
        </p:txBody>
      </p:sp>
      <p:sp>
        <p:nvSpPr>
          <p:cNvPr id="25" name="Shape 23"/>
          <p:cNvSpPr/>
          <p:nvPr/>
        </p:nvSpPr>
        <p:spPr>
          <a:xfrm>
            <a:off x="548640" y="4773168"/>
            <a:ext cx="11094415" cy="1417320"/>
          </a:xfrm>
          <a:prstGeom prst="roundRect">
            <a:avLst>
              <a:gd name="adj" fmla="val 5806"/>
            </a:avLst>
          </a:prstGeom>
          <a:solidFill>
            <a:srgbClr val="17211D"/>
          </a:solidFill>
          <a:ln/>
        </p:spPr>
        <p:txBody>
          <a:bodyPr/>
          <a:lstStyle/>
          <a:p>
            <a:endParaRPr lang="en-US"/>
          </a:p>
        </p:txBody>
      </p:sp>
      <p:sp>
        <p:nvSpPr>
          <p:cNvPr id="26" name="Shape 24"/>
          <p:cNvSpPr/>
          <p:nvPr/>
        </p:nvSpPr>
        <p:spPr>
          <a:xfrm>
            <a:off x="749808" y="4937760"/>
            <a:ext cx="64008" cy="64008"/>
          </a:xfrm>
          <a:prstGeom prst="ellipse">
            <a:avLst/>
          </a:prstGeom>
          <a:solidFill>
            <a:srgbClr val="E0972E"/>
          </a:solidFill>
          <a:ln/>
        </p:spPr>
        <p:txBody>
          <a:bodyPr/>
          <a:lstStyle/>
          <a:p>
            <a:endParaRPr lang="en-US"/>
          </a:p>
        </p:txBody>
      </p:sp>
      <p:sp>
        <p:nvSpPr>
          <p:cNvPr id="27" name="Shape 25"/>
          <p:cNvSpPr/>
          <p:nvPr/>
        </p:nvSpPr>
        <p:spPr>
          <a:xfrm>
            <a:off x="950976" y="4937760"/>
            <a:ext cx="64008" cy="64008"/>
          </a:xfrm>
          <a:prstGeom prst="ellipse">
            <a:avLst/>
          </a:prstGeom>
          <a:solidFill>
            <a:srgbClr val="6FCDAE"/>
          </a:solidFill>
          <a:ln/>
        </p:spPr>
        <p:txBody>
          <a:bodyPr/>
          <a:lstStyle/>
          <a:p>
            <a:endParaRPr lang="en-US"/>
          </a:p>
        </p:txBody>
      </p:sp>
      <p:sp>
        <p:nvSpPr>
          <p:cNvPr id="28" name="Shape 26"/>
          <p:cNvSpPr/>
          <p:nvPr/>
        </p:nvSpPr>
        <p:spPr>
          <a:xfrm>
            <a:off x="1152144" y="4937760"/>
            <a:ext cx="64008" cy="64008"/>
          </a:xfrm>
          <a:prstGeom prst="ellipse">
            <a:avLst/>
          </a:prstGeom>
          <a:solidFill>
            <a:srgbClr val="8A9995"/>
          </a:solidFill>
          <a:ln/>
        </p:spPr>
        <p:txBody>
          <a:bodyPr/>
          <a:lstStyle/>
          <a:p>
            <a:endParaRPr lang="en-US"/>
          </a:p>
        </p:txBody>
      </p:sp>
      <p:sp>
        <p:nvSpPr>
          <p:cNvPr id="29" name="Text 27"/>
          <p:cNvSpPr/>
          <p:nvPr/>
        </p:nvSpPr>
        <p:spPr>
          <a:xfrm>
            <a:off x="804672" y="5193792"/>
            <a:ext cx="10582351" cy="813816"/>
          </a:xfrm>
          <a:prstGeom prst="rect">
            <a:avLst/>
          </a:prstGeom>
          <a:noFill/>
          <a:ln/>
        </p:spPr>
        <p:txBody>
          <a:bodyPr wrap="square" rtlCol="0" anchor="t"/>
          <a:lstStyle/>
          <a:p>
            <a:pPr marL="0" indent="0">
              <a:lnSpc>
                <a:spcPct val="128000"/>
              </a:lnSpc>
              <a:buNone/>
            </a:pPr>
            <a:r>
              <a:rPr lang="en-US" sz="1300" dirty="0">
                <a:solidFill>
                  <a:srgbClr val="6FCDAE"/>
                </a:solidFill>
                <a:latin typeface="Courier New" pitchFamily="34" charset="0"/>
                <a:ea typeface="Courier New" pitchFamily="34" charset="-122"/>
                <a:cs typeface="Courier New" pitchFamily="34" charset="-120"/>
              </a:rPr>
              <a:t>rule </a:t>
            </a:r>
            <a:r>
              <a:rPr lang="en-US" sz="1300" dirty="0">
                <a:solidFill>
                  <a:srgbClr val="E7EEEB"/>
                </a:solidFill>
                <a:latin typeface="Courier New" pitchFamily="34" charset="0"/>
                <a:ea typeface="Courier New" pitchFamily="34" charset="-122"/>
                <a:cs typeface="Courier New" pitchFamily="34" charset="-120"/>
              </a:rPr>
              <a:t>trim_reads:</a:t>
            </a:r>
            <a:endParaRPr lang="en-US" sz="1300" dirty="0"/>
          </a:p>
          <a:p>
            <a:pPr marL="0" indent="0">
              <a:lnSpc>
                <a:spcPct val="128000"/>
              </a:lnSpc>
              <a:buNone/>
            </a:pPr>
            <a:r>
              <a:rPr lang="en-US" sz="1300" dirty="0">
                <a:solidFill>
                  <a:srgbClr val="6FCDAE"/>
                </a:solidFill>
                <a:latin typeface="Courier New" pitchFamily="34" charset="0"/>
                <a:ea typeface="Courier New" pitchFamily="34" charset="-122"/>
                <a:cs typeface="Courier New" pitchFamily="34" charset="-120"/>
              </a:rPr>
              <a:t>    input:  </a:t>
            </a:r>
            <a:r>
              <a:rPr lang="en-US" sz="1300" dirty="0">
                <a:solidFill>
                  <a:srgbClr val="E0972E"/>
                </a:solidFill>
                <a:latin typeface="Courier New" pitchFamily="34" charset="0"/>
                <a:ea typeface="Courier New" pitchFamily="34" charset="-122"/>
                <a:cs typeface="Courier New" pitchFamily="34" charset="-120"/>
              </a:rPr>
              <a:t>"raw/{sample}.fastq"</a:t>
            </a:r>
            <a:endParaRPr lang="en-US" sz="1300" dirty="0"/>
          </a:p>
          <a:p>
            <a:pPr marL="0" indent="0">
              <a:lnSpc>
                <a:spcPct val="128000"/>
              </a:lnSpc>
              <a:buNone/>
            </a:pPr>
            <a:r>
              <a:rPr lang="en-US" sz="1300" dirty="0">
                <a:solidFill>
                  <a:srgbClr val="6FCDAE"/>
                </a:solidFill>
                <a:latin typeface="Courier New" pitchFamily="34" charset="0"/>
                <a:ea typeface="Courier New" pitchFamily="34" charset="-122"/>
                <a:cs typeface="Courier New" pitchFamily="34" charset="-120"/>
              </a:rPr>
              <a:t>    output: </a:t>
            </a:r>
            <a:r>
              <a:rPr lang="en-US" sz="1300" dirty="0">
                <a:solidFill>
                  <a:srgbClr val="E0972E"/>
                </a:solidFill>
                <a:latin typeface="Courier New" pitchFamily="34" charset="0"/>
                <a:ea typeface="Courier New" pitchFamily="34" charset="-122"/>
                <a:cs typeface="Courier New" pitchFamily="34" charset="-120"/>
              </a:rPr>
              <a:t>"trimmed/{sample}.fastq"</a:t>
            </a:r>
            <a:endParaRPr lang="en-US" sz="1300" dirty="0"/>
          </a:p>
        </p:txBody>
      </p:sp>
      <p:sp>
        <p:nvSpPr>
          <p:cNvPr id="30" name="Text 28"/>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31" name="Text 29"/>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CONCEPTUAL FRAMEWORK</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2700" b="1" dirty="0">
                <a:solidFill>
                  <a:srgbClr val="22302B"/>
                </a:solidFill>
                <a:latin typeface="Calibri" pitchFamily="34" charset="0"/>
                <a:ea typeface="Calibri" pitchFamily="34" charset="-122"/>
                <a:cs typeface="Calibri" pitchFamily="34" charset="-120"/>
              </a:rPr>
              <a:t>The DAG: rules chain together automatically</a:t>
            </a:r>
            <a:endParaRPr lang="en-US" sz="2700" dirty="0"/>
          </a:p>
        </p:txBody>
      </p:sp>
      <p:sp>
        <p:nvSpPr>
          <p:cNvPr id="4" name="Text 2"/>
          <p:cNvSpPr/>
          <p:nvPr/>
        </p:nvSpPr>
        <p:spPr>
          <a:xfrm>
            <a:off x="548640" y="1298448"/>
            <a:ext cx="11094415" cy="502920"/>
          </a:xfrm>
          <a:prstGeom prst="rect">
            <a:avLst/>
          </a:prstGeom>
          <a:noFill/>
          <a:ln/>
        </p:spPr>
        <p:txBody>
          <a:bodyPr wrap="square" rtlCol="0" anchor="ctr"/>
          <a:lstStyle/>
          <a:p>
            <a:pPr marL="0" indent="0">
              <a:lnSpc>
                <a:spcPct val="125000"/>
              </a:lnSpc>
              <a:buNone/>
            </a:pPr>
            <a:r>
              <a:rPr lang="en-US" sz="1350" dirty="0">
                <a:solidFill>
                  <a:srgbClr val="5C6B66"/>
                </a:solidFill>
                <a:latin typeface="Calibri" pitchFamily="34" charset="0"/>
                <a:ea typeface="Calibri" pitchFamily="34" charset="-122"/>
                <a:cs typeface="Calibri" pitchFamily="34" charset="-120"/>
              </a:rPr>
              <a:t>Output of one rule becomes input to the next — Snakemake assembles a Directed Acyclic Graph (DAG) of jobs, and runs independent branches in parallel.</a:t>
            </a:r>
            <a:endParaRPr lang="en-US" sz="1350" dirty="0"/>
          </a:p>
        </p:txBody>
      </p:sp>
      <p:sp>
        <p:nvSpPr>
          <p:cNvPr id="5" name="Shape 3"/>
          <p:cNvSpPr/>
          <p:nvPr/>
        </p:nvSpPr>
        <p:spPr>
          <a:xfrm>
            <a:off x="838048" y="3063240"/>
            <a:ext cx="1691640" cy="777240"/>
          </a:xfrm>
          <a:prstGeom prst="roundRect">
            <a:avLst>
              <a:gd name="adj" fmla="val 10588"/>
            </a:avLst>
          </a:prstGeom>
          <a:solidFill>
            <a:srgbClr val="22302B"/>
          </a:solidFill>
          <a:ln/>
          <a:effectLst>
            <a:outerShdw blurRad="76200" dist="25400" dir="5400000" algn="bl" rotWithShape="0">
              <a:srgbClr val="1B2E27">
                <a:alpha val="18000"/>
              </a:srgbClr>
            </a:outerShdw>
          </a:effectLst>
        </p:spPr>
        <p:txBody>
          <a:bodyPr/>
          <a:lstStyle/>
          <a:p>
            <a:endParaRPr lang="en-US"/>
          </a:p>
        </p:txBody>
      </p:sp>
      <p:sp>
        <p:nvSpPr>
          <p:cNvPr id="6" name="Text 4"/>
          <p:cNvSpPr/>
          <p:nvPr/>
        </p:nvSpPr>
        <p:spPr>
          <a:xfrm>
            <a:off x="838048" y="3063240"/>
            <a:ext cx="1691640" cy="7772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raw reads</a:t>
            </a:r>
            <a:endParaRPr lang="en-US" sz="1250" dirty="0"/>
          </a:p>
        </p:txBody>
      </p:sp>
      <p:sp>
        <p:nvSpPr>
          <p:cNvPr id="7" name="Shape 5"/>
          <p:cNvSpPr/>
          <p:nvPr/>
        </p:nvSpPr>
        <p:spPr>
          <a:xfrm>
            <a:off x="3032608" y="3063240"/>
            <a:ext cx="1691640" cy="777240"/>
          </a:xfrm>
          <a:prstGeom prst="roundRect">
            <a:avLst>
              <a:gd name="adj" fmla="val 10588"/>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8" name="Text 6"/>
          <p:cNvSpPr/>
          <p:nvPr/>
        </p:nvSpPr>
        <p:spPr>
          <a:xfrm>
            <a:off x="3032608" y="3063240"/>
            <a:ext cx="1691640" cy="7772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QC &amp; trim</a:t>
            </a:r>
            <a:endParaRPr lang="en-US" sz="1250" dirty="0"/>
          </a:p>
        </p:txBody>
      </p:sp>
      <p:sp>
        <p:nvSpPr>
          <p:cNvPr id="9" name="Shape 7"/>
          <p:cNvSpPr/>
          <p:nvPr/>
        </p:nvSpPr>
        <p:spPr>
          <a:xfrm>
            <a:off x="5227168" y="3063240"/>
            <a:ext cx="1691640" cy="777240"/>
          </a:xfrm>
          <a:prstGeom prst="roundRect">
            <a:avLst>
              <a:gd name="adj" fmla="val 10588"/>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10" name="Text 8"/>
          <p:cNvSpPr/>
          <p:nvPr/>
        </p:nvSpPr>
        <p:spPr>
          <a:xfrm>
            <a:off x="5227168" y="3063240"/>
            <a:ext cx="1691640" cy="7772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assembly</a:t>
            </a:r>
            <a:endParaRPr lang="en-US" sz="1250" dirty="0"/>
          </a:p>
        </p:txBody>
      </p:sp>
      <p:sp>
        <p:nvSpPr>
          <p:cNvPr id="11" name="Shape 9"/>
          <p:cNvSpPr/>
          <p:nvPr/>
        </p:nvSpPr>
        <p:spPr>
          <a:xfrm>
            <a:off x="7421728" y="2194560"/>
            <a:ext cx="1737360" cy="777240"/>
          </a:xfrm>
          <a:prstGeom prst="roundRect">
            <a:avLst>
              <a:gd name="adj" fmla="val 10588"/>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12" name="Text 10"/>
          <p:cNvSpPr/>
          <p:nvPr/>
        </p:nvSpPr>
        <p:spPr>
          <a:xfrm>
            <a:off x="7421728" y="2194560"/>
            <a:ext cx="1737360" cy="7772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binning</a:t>
            </a:r>
            <a:endParaRPr lang="en-US" sz="1250" dirty="0"/>
          </a:p>
        </p:txBody>
      </p:sp>
      <p:sp>
        <p:nvSpPr>
          <p:cNvPr id="13" name="Shape 11"/>
          <p:cNvSpPr/>
          <p:nvPr/>
        </p:nvSpPr>
        <p:spPr>
          <a:xfrm>
            <a:off x="7421728" y="3931920"/>
            <a:ext cx="1737360" cy="777240"/>
          </a:xfrm>
          <a:prstGeom prst="roundRect">
            <a:avLst>
              <a:gd name="adj" fmla="val 10588"/>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14" name="Text 12"/>
          <p:cNvSpPr/>
          <p:nvPr/>
        </p:nvSpPr>
        <p:spPr>
          <a:xfrm>
            <a:off x="7421728" y="3931920"/>
            <a:ext cx="1737360" cy="7772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taxonomic profiling</a:t>
            </a:r>
            <a:endParaRPr lang="en-US" sz="1150" dirty="0"/>
          </a:p>
        </p:txBody>
      </p:sp>
      <p:sp>
        <p:nvSpPr>
          <p:cNvPr id="15" name="Shape 13"/>
          <p:cNvSpPr/>
          <p:nvPr/>
        </p:nvSpPr>
        <p:spPr>
          <a:xfrm>
            <a:off x="9662008" y="3063240"/>
            <a:ext cx="1691640" cy="777240"/>
          </a:xfrm>
          <a:prstGeom prst="roundRect">
            <a:avLst>
              <a:gd name="adj" fmla="val 10588"/>
            </a:avLst>
          </a:prstGeom>
          <a:solidFill>
            <a:srgbClr val="E0972E"/>
          </a:solidFill>
          <a:ln/>
          <a:effectLst>
            <a:outerShdw blurRad="76200" dist="25400" dir="5400000" algn="bl" rotWithShape="0">
              <a:srgbClr val="1B2E27">
                <a:alpha val="18000"/>
              </a:srgbClr>
            </a:outerShdw>
          </a:effectLst>
        </p:spPr>
        <p:txBody>
          <a:bodyPr/>
          <a:lstStyle/>
          <a:p>
            <a:endParaRPr lang="en-US"/>
          </a:p>
        </p:txBody>
      </p:sp>
      <p:sp>
        <p:nvSpPr>
          <p:cNvPr id="16" name="Text 14"/>
          <p:cNvSpPr/>
          <p:nvPr/>
        </p:nvSpPr>
        <p:spPr>
          <a:xfrm>
            <a:off x="9662008" y="3063240"/>
            <a:ext cx="1691640" cy="7772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report</a:t>
            </a:r>
            <a:endParaRPr lang="en-US" sz="1250" dirty="0"/>
          </a:p>
        </p:txBody>
      </p:sp>
      <p:sp>
        <p:nvSpPr>
          <p:cNvPr id="17" name="Shape 15"/>
          <p:cNvSpPr/>
          <p:nvPr/>
        </p:nvSpPr>
        <p:spPr>
          <a:xfrm>
            <a:off x="2529688" y="3451860"/>
            <a:ext cx="502920" cy="0"/>
          </a:xfrm>
          <a:prstGeom prst="line">
            <a:avLst/>
          </a:prstGeom>
          <a:noFill/>
          <a:ln w="22225">
            <a:solidFill>
              <a:srgbClr val="22302B"/>
            </a:solidFill>
            <a:prstDash val="solid"/>
            <a:tailEnd type="triangle"/>
          </a:ln>
        </p:spPr>
        <p:txBody>
          <a:bodyPr/>
          <a:lstStyle/>
          <a:p>
            <a:endParaRPr lang="en-US"/>
          </a:p>
        </p:txBody>
      </p:sp>
      <p:sp>
        <p:nvSpPr>
          <p:cNvPr id="18" name="Shape 16"/>
          <p:cNvSpPr/>
          <p:nvPr/>
        </p:nvSpPr>
        <p:spPr>
          <a:xfrm>
            <a:off x="4724248" y="3451860"/>
            <a:ext cx="502920" cy="0"/>
          </a:xfrm>
          <a:prstGeom prst="line">
            <a:avLst/>
          </a:prstGeom>
          <a:noFill/>
          <a:ln w="22225">
            <a:solidFill>
              <a:srgbClr val="22302B"/>
            </a:solidFill>
            <a:prstDash val="solid"/>
            <a:tailEnd type="triangle"/>
          </a:ln>
        </p:spPr>
        <p:txBody>
          <a:bodyPr/>
          <a:lstStyle/>
          <a:p>
            <a:endParaRPr lang="en-US"/>
          </a:p>
        </p:txBody>
      </p:sp>
      <p:sp>
        <p:nvSpPr>
          <p:cNvPr id="19" name="Shape 17"/>
          <p:cNvSpPr/>
          <p:nvPr/>
        </p:nvSpPr>
        <p:spPr>
          <a:xfrm flipV="1">
            <a:off x="6918808" y="2583180"/>
            <a:ext cx="502920" cy="868680"/>
          </a:xfrm>
          <a:prstGeom prst="line">
            <a:avLst/>
          </a:prstGeom>
          <a:noFill/>
          <a:ln w="22225">
            <a:solidFill>
              <a:srgbClr val="22302B"/>
            </a:solidFill>
            <a:prstDash val="solid"/>
            <a:tailEnd type="triangle"/>
          </a:ln>
        </p:spPr>
        <p:txBody>
          <a:bodyPr/>
          <a:lstStyle/>
          <a:p>
            <a:endParaRPr lang="en-US"/>
          </a:p>
        </p:txBody>
      </p:sp>
      <p:sp>
        <p:nvSpPr>
          <p:cNvPr id="20" name="Shape 18"/>
          <p:cNvSpPr/>
          <p:nvPr/>
        </p:nvSpPr>
        <p:spPr>
          <a:xfrm>
            <a:off x="6918808" y="3451860"/>
            <a:ext cx="502920" cy="868680"/>
          </a:xfrm>
          <a:prstGeom prst="line">
            <a:avLst/>
          </a:prstGeom>
          <a:noFill/>
          <a:ln w="22225">
            <a:solidFill>
              <a:srgbClr val="22302B"/>
            </a:solidFill>
            <a:prstDash val="solid"/>
            <a:tailEnd type="triangle"/>
          </a:ln>
        </p:spPr>
        <p:txBody>
          <a:bodyPr/>
          <a:lstStyle/>
          <a:p>
            <a:endParaRPr lang="en-US"/>
          </a:p>
        </p:txBody>
      </p:sp>
      <p:sp>
        <p:nvSpPr>
          <p:cNvPr id="21" name="Shape 19"/>
          <p:cNvSpPr/>
          <p:nvPr/>
        </p:nvSpPr>
        <p:spPr>
          <a:xfrm>
            <a:off x="9159088" y="2583180"/>
            <a:ext cx="502920" cy="868680"/>
          </a:xfrm>
          <a:prstGeom prst="line">
            <a:avLst/>
          </a:prstGeom>
          <a:noFill/>
          <a:ln w="22225">
            <a:solidFill>
              <a:srgbClr val="22302B"/>
            </a:solidFill>
            <a:prstDash val="solid"/>
            <a:tailEnd type="triangle"/>
          </a:ln>
        </p:spPr>
        <p:txBody>
          <a:bodyPr/>
          <a:lstStyle/>
          <a:p>
            <a:endParaRPr lang="en-US"/>
          </a:p>
        </p:txBody>
      </p:sp>
      <p:sp>
        <p:nvSpPr>
          <p:cNvPr id="22" name="Shape 20"/>
          <p:cNvSpPr/>
          <p:nvPr/>
        </p:nvSpPr>
        <p:spPr>
          <a:xfrm flipV="1">
            <a:off x="9159088" y="3451860"/>
            <a:ext cx="502920" cy="868680"/>
          </a:xfrm>
          <a:prstGeom prst="line">
            <a:avLst/>
          </a:prstGeom>
          <a:noFill/>
          <a:ln w="22225">
            <a:solidFill>
              <a:srgbClr val="22302B"/>
            </a:solidFill>
            <a:prstDash val="solid"/>
            <a:tailEnd type="triangle"/>
          </a:ln>
        </p:spPr>
        <p:txBody>
          <a:bodyPr/>
          <a:lstStyle/>
          <a:p>
            <a:endParaRPr lang="en-US"/>
          </a:p>
        </p:txBody>
      </p:sp>
      <p:sp>
        <p:nvSpPr>
          <p:cNvPr id="23" name="Shape 21"/>
          <p:cNvSpPr/>
          <p:nvPr/>
        </p:nvSpPr>
        <p:spPr>
          <a:xfrm>
            <a:off x="548640" y="5212080"/>
            <a:ext cx="11094415" cy="841248"/>
          </a:xfrm>
          <a:prstGeom prst="roundRect">
            <a:avLst>
              <a:gd name="adj" fmla="val 10870"/>
            </a:avLst>
          </a:prstGeom>
          <a:solidFill>
            <a:srgbClr val="E4F3EF"/>
          </a:solidFill>
          <a:ln/>
        </p:spPr>
        <p:txBody>
          <a:bodyPr/>
          <a:lstStyle/>
          <a:p>
            <a:endParaRPr lang="en-US"/>
          </a:p>
        </p:txBody>
      </p:sp>
      <p:sp>
        <p:nvSpPr>
          <p:cNvPr id="24" name="Shape 22"/>
          <p:cNvSpPr/>
          <p:nvPr/>
        </p:nvSpPr>
        <p:spPr>
          <a:xfrm>
            <a:off x="804672" y="5413248"/>
            <a:ext cx="438912" cy="438912"/>
          </a:xfrm>
          <a:prstGeom prst="ellipse">
            <a:avLst/>
          </a:prstGeom>
          <a:solidFill>
            <a:srgbClr val="039475"/>
          </a:solidFill>
          <a:ln/>
        </p:spPr>
        <p:txBody>
          <a:bodyPr/>
          <a:lstStyle/>
          <a:p>
            <a:endParaRPr lang="en-US"/>
          </a:p>
        </p:txBody>
      </p:sp>
      <p:pic>
        <p:nvPicPr>
          <p:cNvPr id="25" name="Image 0" descr="/home/claude/work/build/icons/sitemap_white.png"/>
          <p:cNvPicPr>
            <a:picLocks noChangeAspect="1"/>
          </p:cNvPicPr>
          <p:nvPr/>
        </p:nvPicPr>
        <p:blipFill>
          <a:blip r:embed="rId3"/>
          <a:stretch>
            <a:fillRect/>
          </a:stretch>
        </p:blipFill>
        <p:spPr>
          <a:xfrm>
            <a:off x="914400" y="5522976"/>
            <a:ext cx="219456" cy="219456"/>
          </a:xfrm>
          <a:prstGeom prst="rect">
            <a:avLst/>
          </a:prstGeom>
        </p:spPr>
      </p:pic>
      <p:sp>
        <p:nvSpPr>
          <p:cNvPr id="26" name="Text 23"/>
          <p:cNvSpPr/>
          <p:nvPr/>
        </p:nvSpPr>
        <p:spPr>
          <a:xfrm>
            <a:off x="1408176" y="5212080"/>
            <a:ext cx="9905695" cy="841248"/>
          </a:xfrm>
          <a:prstGeom prst="rect">
            <a:avLst/>
          </a:prstGeom>
          <a:noFill/>
          <a:ln/>
        </p:spPr>
        <p:txBody>
          <a:bodyPr wrap="square" rtlCol="0" anchor="ctr"/>
          <a:lstStyle/>
          <a:p>
            <a:pPr marL="0" indent="0">
              <a:lnSpc>
                <a:spcPct val="120000"/>
              </a:lnSpc>
              <a:buNone/>
            </a:pPr>
            <a:r>
              <a:rPr lang="en-US" sz="1300" dirty="0">
                <a:solidFill>
                  <a:srgbClr val="22302B"/>
                </a:solidFill>
                <a:latin typeface="Calibri" pitchFamily="34" charset="0"/>
                <a:ea typeface="Calibri" pitchFamily="34" charset="-122"/>
                <a:cs typeface="Calibri" pitchFamily="34" charset="-120"/>
              </a:rPr>
              <a:t>Binning and profiling don't depend on each other, so Snakemake runs them at the same time. </a:t>
            </a:r>
            <a:r>
              <a:rPr lang="en-US" sz="1300" b="1" dirty="0">
                <a:solidFill>
                  <a:srgbClr val="057A62"/>
                </a:solidFill>
                <a:latin typeface="Calibri" pitchFamily="34" charset="0"/>
                <a:ea typeface="Calibri" pitchFamily="34" charset="-122"/>
                <a:cs typeface="Calibri" pitchFamily="34" charset="-120"/>
              </a:rPr>
              <a:t>This is exactly the shape of this afternoon's shotgun-metagenomics pipeline.</a:t>
            </a:r>
            <a:endParaRPr lang="en-US" sz="1300" dirty="0"/>
          </a:p>
        </p:txBody>
      </p:sp>
      <p:sp>
        <p:nvSpPr>
          <p:cNvPr id="27" name="Text 24"/>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28" name="Text 25"/>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OVERVIEW OF SNAKEMAKE</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2700" b="1" dirty="0">
                <a:solidFill>
                  <a:srgbClr val="22302B"/>
                </a:solidFill>
                <a:latin typeface="Calibri" pitchFamily="34" charset="0"/>
                <a:ea typeface="Calibri" pitchFamily="34" charset="-122"/>
                <a:cs typeface="Calibri" pitchFamily="34" charset="-120"/>
              </a:rPr>
              <a:t>Setup: a standardized project structure</a:t>
            </a:r>
            <a:endParaRPr lang="en-US" sz="2700" dirty="0"/>
          </a:p>
        </p:txBody>
      </p:sp>
      <p:sp>
        <p:nvSpPr>
          <p:cNvPr id="4" name="Shape 2"/>
          <p:cNvSpPr/>
          <p:nvPr/>
        </p:nvSpPr>
        <p:spPr>
          <a:xfrm>
            <a:off x="548640" y="1417320"/>
            <a:ext cx="5166360" cy="4617720"/>
          </a:xfrm>
          <a:prstGeom prst="roundRect">
            <a:avLst>
              <a:gd name="adj" fmla="val 1782"/>
            </a:avLst>
          </a:prstGeom>
          <a:solidFill>
            <a:srgbClr val="17211D"/>
          </a:solidFill>
          <a:ln/>
        </p:spPr>
        <p:txBody>
          <a:bodyPr/>
          <a:lstStyle/>
          <a:p>
            <a:endParaRPr lang="en-US"/>
          </a:p>
        </p:txBody>
      </p:sp>
      <p:sp>
        <p:nvSpPr>
          <p:cNvPr id="5" name="Shape 3"/>
          <p:cNvSpPr/>
          <p:nvPr/>
        </p:nvSpPr>
        <p:spPr>
          <a:xfrm>
            <a:off x="749808" y="1581912"/>
            <a:ext cx="64008" cy="64008"/>
          </a:xfrm>
          <a:prstGeom prst="ellipse">
            <a:avLst/>
          </a:prstGeom>
          <a:solidFill>
            <a:srgbClr val="E0972E"/>
          </a:solidFill>
          <a:ln/>
        </p:spPr>
        <p:txBody>
          <a:bodyPr/>
          <a:lstStyle/>
          <a:p>
            <a:endParaRPr lang="en-US"/>
          </a:p>
        </p:txBody>
      </p:sp>
      <p:sp>
        <p:nvSpPr>
          <p:cNvPr id="6" name="Shape 4"/>
          <p:cNvSpPr/>
          <p:nvPr/>
        </p:nvSpPr>
        <p:spPr>
          <a:xfrm>
            <a:off x="950976" y="1581912"/>
            <a:ext cx="64008" cy="64008"/>
          </a:xfrm>
          <a:prstGeom prst="ellipse">
            <a:avLst/>
          </a:prstGeom>
          <a:solidFill>
            <a:srgbClr val="6FCDAE"/>
          </a:solidFill>
          <a:ln/>
        </p:spPr>
        <p:txBody>
          <a:bodyPr/>
          <a:lstStyle/>
          <a:p>
            <a:endParaRPr lang="en-US"/>
          </a:p>
        </p:txBody>
      </p:sp>
      <p:sp>
        <p:nvSpPr>
          <p:cNvPr id="7" name="Shape 5"/>
          <p:cNvSpPr/>
          <p:nvPr/>
        </p:nvSpPr>
        <p:spPr>
          <a:xfrm>
            <a:off x="1152144" y="1581912"/>
            <a:ext cx="64008" cy="64008"/>
          </a:xfrm>
          <a:prstGeom prst="ellipse">
            <a:avLst/>
          </a:prstGeom>
          <a:solidFill>
            <a:srgbClr val="8A9995"/>
          </a:solidFill>
          <a:ln/>
        </p:spPr>
        <p:txBody>
          <a:bodyPr/>
          <a:lstStyle/>
          <a:p>
            <a:endParaRPr lang="en-US"/>
          </a:p>
        </p:txBody>
      </p:sp>
      <p:sp>
        <p:nvSpPr>
          <p:cNvPr id="8" name="Text 6"/>
          <p:cNvSpPr/>
          <p:nvPr/>
        </p:nvSpPr>
        <p:spPr>
          <a:xfrm>
            <a:off x="804672" y="1837944"/>
            <a:ext cx="4654296" cy="4014216"/>
          </a:xfrm>
          <a:prstGeom prst="rect">
            <a:avLst/>
          </a:prstGeom>
          <a:noFill/>
          <a:ln/>
        </p:spPr>
        <p:txBody>
          <a:bodyPr wrap="square" rtlCol="0" anchor="t"/>
          <a:lstStyle/>
          <a:p>
            <a:pPr marL="0" indent="0">
              <a:lnSpc>
                <a:spcPct val="128000"/>
              </a:lnSpc>
              <a:buNone/>
            </a:pPr>
            <a:r>
              <a:rPr lang="en-US" sz="1100" dirty="0">
                <a:solidFill>
                  <a:srgbClr val="7C8B86"/>
                </a:solidFill>
                <a:latin typeface="Courier New" pitchFamily="34" charset="0"/>
                <a:ea typeface="Courier New" pitchFamily="34" charset="-122"/>
                <a:cs typeface="Courier New" pitchFamily="34" charset="-120"/>
              </a:rPr>
              <a:t>.</a:t>
            </a:r>
            <a:endParaRPr lang="en-US" sz="1100" dirty="0"/>
          </a:p>
          <a:p>
            <a:pPr marL="0" indent="0">
              <a:lnSpc>
                <a:spcPct val="128000"/>
              </a:lnSpc>
              <a:buNone/>
            </a:pPr>
            <a:r>
              <a:rPr lang="en-US" sz="1100" dirty="0">
                <a:solidFill>
                  <a:srgbClr val="E7EEEB"/>
                </a:solidFill>
                <a:latin typeface="Courier New" pitchFamily="34" charset="0"/>
                <a:ea typeface="Courier New" pitchFamily="34" charset="-122"/>
                <a:cs typeface="Courier New" pitchFamily="34" charset="-120"/>
              </a:rPr>
              <a:t>├── README.md</a:t>
            </a:r>
            <a:endParaRPr lang="en-US" sz="1100" dirty="0"/>
          </a:p>
          <a:p>
            <a:pPr marL="0" indent="0">
              <a:lnSpc>
                <a:spcPct val="128000"/>
              </a:lnSpc>
              <a:buNone/>
            </a:pPr>
            <a:r>
              <a:rPr lang="en-US" sz="1100" dirty="0">
                <a:solidFill>
                  <a:srgbClr val="E7EEEB"/>
                </a:solidFill>
                <a:latin typeface="Courier New" pitchFamily="34" charset="0"/>
                <a:ea typeface="Courier New" pitchFamily="34" charset="-122"/>
                <a:cs typeface="Courier New" pitchFamily="34" charset="-120"/>
              </a:rPr>
              <a:t>├── </a:t>
            </a:r>
            <a:r>
              <a:rPr lang="en-US" sz="1100" b="1" dirty="0">
                <a:solidFill>
                  <a:srgbClr val="6FCDAE"/>
                </a:solidFill>
                <a:latin typeface="Courier New" pitchFamily="34" charset="0"/>
                <a:ea typeface="Courier New" pitchFamily="34" charset="-122"/>
                <a:cs typeface="Courier New" pitchFamily="34" charset="-120"/>
              </a:rPr>
              <a:t>workflow/</a:t>
            </a:r>
            <a:endParaRPr lang="en-US" sz="1100" dirty="0"/>
          </a:p>
          <a:p>
            <a:pPr marL="0" indent="0">
              <a:lnSpc>
                <a:spcPct val="128000"/>
              </a:lnSpc>
              <a:buNone/>
            </a:pPr>
            <a:r>
              <a:rPr lang="en-US" sz="1100" dirty="0">
                <a:solidFill>
                  <a:srgbClr val="E0972E"/>
                </a:solidFill>
                <a:latin typeface="Courier New" pitchFamily="34" charset="0"/>
                <a:ea typeface="Courier New" pitchFamily="34" charset="-122"/>
                <a:cs typeface="Courier New" pitchFamily="34" charset="-120"/>
              </a:rPr>
              <a:t>│   ├── Snakefile</a:t>
            </a:r>
            <a:endParaRPr lang="en-US" sz="1100" dirty="0"/>
          </a:p>
          <a:p>
            <a:pPr marL="0" indent="0">
              <a:lnSpc>
                <a:spcPct val="128000"/>
              </a:lnSpc>
              <a:buNone/>
            </a:pPr>
            <a:r>
              <a:rPr lang="en-US" sz="1100" dirty="0">
                <a:solidFill>
                  <a:srgbClr val="E7EEEB"/>
                </a:solidFill>
                <a:latin typeface="Courier New" pitchFamily="34" charset="0"/>
                <a:ea typeface="Courier New" pitchFamily="34" charset="-122"/>
                <a:cs typeface="Courier New" pitchFamily="34" charset="-120"/>
              </a:rPr>
              <a:t>│   ├── rules/</a:t>
            </a:r>
            <a:endParaRPr lang="en-US" sz="1100" dirty="0"/>
          </a:p>
          <a:p>
            <a:pPr marL="0" indent="0">
              <a:lnSpc>
                <a:spcPct val="128000"/>
              </a:lnSpc>
              <a:buNone/>
            </a:pPr>
            <a:r>
              <a:rPr lang="en-US" sz="1100" dirty="0">
                <a:solidFill>
                  <a:srgbClr val="E7EEEB"/>
                </a:solidFill>
                <a:latin typeface="Courier New" pitchFamily="34" charset="0"/>
                <a:ea typeface="Courier New" pitchFamily="34" charset="-122"/>
                <a:cs typeface="Courier New" pitchFamily="34" charset="-120"/>
              </a:rPr>
              <a:t>│   │   ├── qc.smk</a:t>
            </a:r>
            <a:endParaRPr lang="en-US" sz="1100" dirty="0"/>
          </a:p>
          <a:p>
            <a:pPr marL="0" indent="0">
              <a:lnSpc>
                <a:spcPct val="128000"/>
              </a:lnSpc>
              <a:buNone/>
            </a:pPr>
            <a:r>
              <a:rPr lang="en-US" sz="1100" dirty="0">
                <a:solidFill>
                  <a:srgbClr val="E7EEEB"/>
                </a:solidFill>
                <a:latin typeface="Courier New" pitchFamily="34" charset="0"/>
                <a:ea typeface="Courier New" pitchFamily="34" charset="-122"/>
                <a:cs typeface="Courier New" pitchFamily="34" charset="-120"/>
              </a:rPr>
              <a:t>│   │   ├── assembly.smk</a:t>
            </a:r>
            <a:endParaRPr lang="en-US" sz="1100" dirty="0"/>
          </a:p>
          <a:p>
            <a:pPr marL="0" indent="0">
              <a:lnSpc>
                <a:spcPct val="128000"/>
              </a:lnSpc>
              <a:buNone/>
            </a:pPr>
            <a:r>
              <a:rPr lang="en-US" sz="1100" dirty="0">
                <a:solidFill>
                  <a:srgbClr val="E7EEEB"/>
                </a:solidFill>
                <a:latin typeface="Courier New" pitchFamily="34" charset="0"/>
                <a:ea typeface="Courier New" pitchFamily="34" charset="-122"/>
                <a:cs typeface="Courier New" pitchFamily="34" charset="-120"/>
              </a:rPr>
              <a:t>│   │   └── binning.smk</a:t>
            </a:r>
            <a:endParaRPr lang="en-US" sz="1100" dirty="0"/>
          </a:p>
          <a:p>
            <a:pPr marL="0" indent="0">
              <a:lnSpc>
                <a:spcPct val="128000"/>
              </a:lnSpc>
              <a:buNone/>
            </a:pPr>
            <a:r>
              <a:rPr lang="en-US" sz="1100" dirty="0">
                <a:solidFill>
                  <a:srgbClr val="E7EEEB"/>
                </a:solidFill>
                <a:latin typeface="Courier New" pitchFamily="34" charset="0"/>
                <a:ea typeface="Courier New" pitchFamily="34" charset="-122"/>
                <a:cs typeface="Courier New" pitchFamily="34" charset="-120"/>
              </a:rPr>
              <a:t>│   ├── envs/</a:t>
            </a:r>
            <a:endParaRPr lang="en-US" sz="1100" dirty="0"/>
          </a:p>
          <a:p>
            <a:pPr marL="0" indent="0">
              <a:lnSpc>
                <a:spcPct val="128000"/>
              </a:lnSpc>
              <a:buNone/>
            </a:pPr>
            <a:r>
              <a:rPr lang="en-US" sz="1100" dirty="0">
                <a:solidFill>
                  <a:srgbClr val="E7EEEB"/>
                </a:solidFill>
                <a:latin typeface="Courier New" pitchFamily="34" charset="0"/>
                <a:ea typeface="Courier New" pitchFamily="34" charset="-122"/>
                <a:cs typeface="Courier New" pitchFamily="34" charset="-120"/>
              </a:rPr>
              <a:t>│   │   └── qc.yaml</a:t>
            </a:r>
            <a:endParaRPr lang="en-US" sz="1100" dirty="0"/>
          </a:p>
          <a:p>
            <a:pPr marL="0" indent="0">
              <a:lnSpc>
                <a:spcPct val="128000"/>
              </a:lnSpc>
              <a:buNone/>
            </a:pPr>
            <a:r>
              <a:rPr lang="en-US" sz="1100" dirty="0">
                <a:solidFill>
                  <a:srgbClr val="E7EEEB"/>
                </a:solidFill>
                <a:latin typeface="Courier New" pitchFamily="34" charset="0"/>
                <a:ea typeface="Courier New" pitchFamily="34" charset="-122"/>
                <a:cs typeface="Courier New" pitchFamily="34" charset="-120"/>
              </a:rPr>
              <a:t>│   └── scripts/</a:t>
            </a:r>
            <a:endParaRPr lang="en-US" sz="1100" dirty="0"/>
          </a:p>
          <a:p>
            <a:pPr marL="0" indent="0">
              <a:lnSpc>
                <a:spcPct val="128000"/>
              </a:lnSpc>
              <a:buNone/>
            </a:pPr>
            <a:r>
              <a:rPr lang="en-US" sz="1100" dirty="0">
                <a:solidFill>
                  <a:srgbClr val="E7EEEB"/>
                </a:solidFill>
                <a:latin typeface="Courier New" pitchFamily="34" charset="0"/>
                <a:ea typeface="Courier New" pitchFamily="34" charset="-122"/>
                <a:cs typeface="Courier New" pitchFamily="34" charset="-120"/>
              </a:rPr>
              <a:t>├── </a:t>
            </a:r>
            <a:r>
              <a:rPr lang="en-US" sz="1100" b="1" dirty="0">
                <a:solidFill>
                  <a:srgbClr val="6FCDAE"/>
                </a:solidFill>
                <a:latin typeface="Courier New" pitchFamily="34" charset="0"/>
                <a:ea typeface="Courier New" pitchFamily="34" charset="-122"/>
                <a:cs typeface="Courier New" pitchFamily="34" charset="-120"/>
              </a:rPr>
              <a:t>config/</a:t>
            </a:r>
            <a:endParaRPr lang="en-US" sz="1100" dirty="0"/>
          </a:p>
          <a:p>
            <a:pPr marL="0" indent="0">
              <a:lnSpc>
                <a:spcPct val="128000"/>
              </a:lnSpc>
              <a:buNone/>
            </a:pPr>
            <a:r>
              <a:rPr lang="en-US" sz="1100" dirty="0">
                <a:solidFill>
                  <a:srgbClr val="E0972E"/>
                </a:solidFill>
                <a:latin typeface="Courier New" pitchFamily="34" charset="0"/>
                <a:ea typeface="Courier New" pitchFamily="34" charset="-122"/>
                <a:cs typeface="Courier New" pitchFamily="34" charset="-120"/>
              </a:rPr>
              <a:t>│   ├── config.yaml</a:t>
            </a:r>
            <a:endParaRPr lang="en-US" sz="1100" dirty="0"/>
          </a:p>
          <a:p>
            <a:pPr marL="0" indent="0">
              <a:lnSpc>
                <a:spcPct val="128000"/>
              </a:lnSpc>
              <a:buNone/>
            </a:pPr>
            <a:r>
              <a:rPr lang="en-US" sz="1100" dirty="0">
                <a:solidFill>
                  <a:srgbClr val="E0972E"/>
                </a:solidFill>
                <a:latin typeface="Courier New" pitchFamily="34" charset="0"/>
                <a:ea typeface="Courier New" pitchFamily="34" charset="-122"/>
                <a:cs typeface="Courier New" pitchFamily="34" charset="-120"/>
              </a:rPr>
              <a:t>│   └── samples.tsv</a:t>
            </a:r>
            <a:endParaRPr lang="en-US" sz="1100" dirty="0"/>
          </a:p>
          <a:p>
            <a:pPr marL="0" indent="0">
              <a:lnSpc>
                <a:spcPct val="128000"/>
              </a:lnSpc>
              <a:buNone/>
            </a:pPr>
            <a:r>
              <a:rPr lang="en-US" sz="1100" dirty="0">
                <a:solidFill>
                  <a:srgbClr val="E7EEEB"/>
                </a:solidFill>
                <a:latin typeface="Courier New" pitchFamily="34" charset="0"/>
                <a:ea typeface="Courier New" pitchFamily="34" charset="-122"/>
                <a:cs typeface="Courier New" pitchFamily="34" charset="-120"/>
              </a:rPr>
              <a:t>├── out/</a:t>
            </a:r>
            <a:endParaRPr lang="en-US" sz="1100" dirty="0"/>
          </a:p>
          <a:p>
            <a:pPr marL="0" indent="0">
              <a:lnSpc>
                <a:spcPct val="128000"/>
              </a:lnSpc>
              <a:buNone/>
            </a:pPr>
            <a:r>
              <a:rPr lang="en-US" sz="1100" dirty="0">
                <a:solidFill>
                  <a:srgbClr val="E7EEEB"/>
                </a:solidFill>
                <a:latin typeface="Courier New" pitchFamily="34" charset="0"/>
                <a:ea typeface="Courier New" pitchFamily="34" charset="-122"/>
                <a:cs typeface="Courier New" pitchFamily="34" charset="-120"/>
              </a:rPr>
              <a:t>└── resources/</a:t>
            </a:r>
            <a:endParaRPr lang="en-US" sz="1100" dirty="0"/>
          </a:p>
        </p:txBody>
      </p:sp>
      <p:sp>
        <p:nvSpPr>
          <p:cNvPr id="9" name="Shape 7"/>
          <p:cNvSpPr/>
          <p:nvPr/>
        </p:nvSpPr>
        <p:spPr>
          <a:xfrm>
            <a:off x="6126480" y="1417320"/>
            <a:ext cx="384048" cy="384048"/>
          </a:xfrm>
          <a:prstGeom prst="ellipse">
            <a:avLst/>
          </a:prstGeom>
          <a:solidFill>
            <a:srgbClr val="039475"/>
          </a:solidFill>
          <a:ln/>
        </p:spPr>
        <p:txBody>
          <a:bodyPr/>
          <a:lstStyle/>
          <a:p>
            <a:endParaRPr lang="en-US"/>
          </a:p>
        </p:txBody>
      </p:sp>
      <p:pic>
        <p:nvPicPr>
          <p:cNvPr id="10" name="Image 0" descr="/home/claude/work/build/icons/code_white.png"/>
          <p:cNvPicPr>
            <a:picLocks noChangeAspect="1"/>
          </p:cNvPicPr>
          <p:nvPr/>
        </p:nvPicPr>
        <p:blipFill>
          <a:blip r:embed="rId3"/>
          <a:stretch>
            <a:fillRect/>
          </a:stretch>
        </p:blipFill>
        <p:spPr>
          <a:xfrm>
            <a:off x="6226332" y="1517172"/>
            <a:ext cx="184343" cy="184343"/>
          </a:xfrm>
          <a:prstGeom prst="rect">
            <a:avLst/>
          </a:prstGeom>
        </p:spPr>
      </p:pic>
      <p:sp>
        <p:nvSpPr>
          <p:cNvPr id="11" name="Text 8"/>
          <p:cNvSpPr/>
          <p:nvPr/>
        </p:nvSpPr>
        <p:spPr>
          <a:xfrm>
            <a:off x="6693408" y="1389888"/>
            <a:ext cx="4949647" cy="475488"/>
          </a:xfrm>
          <a:prstGeom prst="rect">
            <a:avLst/>
          </a:prstGeom>
          <a:noFill/>
          <a:ln/>
        </p:spPr>
        <p:txBody>
          <a:bodyPr wrap="square" rtlCol="0" anchor="t"/>
          <a:lstStyle/>
          <a:p>
            <a:pPr marL="0" indent="0">
              <a:lnSpc>
                <a:spcPct val="112000"/>
              </a:lnSpc>
              <a:buNone/>
            </a:pPr>
            <a:r>
              <a:rPr lang="en-US" sz="1400" b="1" dirty="0">
                <a:solidFill>
                  <a:srgbClr val="22302B"/>
                </a:solidFill>
                <a:latin typeface="Calibri" pitchFamily="34" charset="0"/>
                <a:ea typeface="Calibri" pitchFamily="34" charset="-122"/>
                <a:cs typeface="Calibri" pitchFamily="34" charset="-120"/>
              </a:rPr>
              <a:t>workflow/Snakefile</a:t>
            </a:r>
            <a:endParaRPr lang="en-US" sz="1400" dirty="0"/>
          </a:p>
          <a:p>
            <a:pPr marL="0" indent="0">
              <a:lnSpc>
                <a:spcPct val="112000"/>
              </a:lnSpc>
              <a:buNone/>
            </a:pPr>
            <a:r>
              <a:rPr lang="en-US" sz="1150" dirty="0">
                <a:solidFill>
                  <a:srgbClr val="5C6B66"/>
                </a:solidFill>
                <a:latin typeface="Calibri" pitchFamily="34" charset="0"/>
                <a:ea typeface="Calibri" pitchFamily="34" charset="-122"/>
                <a:cs typeface="Calibri" pitchFamily="34" charset="-120"/>
              </a:rPr>
              <a:t>the entry point that ties all the rules together</a:t>
            </a:r>
            <a:endParaRPr lang="en-US" sz="1400" dirty="0"/>
          </a:p>
        </p:txBody>
      </p:sp>
      <p:sp>
        <p:nvSpPr>
          <p:cNvPr id="12" name="Shape 9"/>
          <p:cNvSpPr/>
          <p:nvPr/>
        </p:nvSpPr>
        <p:spPr>
          <a:xfrm>
            <a:off x="6126480" y="2258568"/>
            <a:ext cx="384048" cy="384048"/>
          </a:xfrm>
          <a:prstGeom prst="ellipse">
            <a:avLst/>
          </a:prstGeom>
          <a:solidFill>
            <a:srgbClr val="039475"/>
          </a:solidFill>
          <a:ln/>
        </p:spPr>
        <p:txBody>
          <a:bodyPr/>
          <a:lstStyle/>
          <a:p>
            <a:endParaRPr lang="en-US"/>
          </a:p>
        </p:txBody>
      </p:sp>
      <p:pic>
        <p:nvPicPr>
          <p:cNvPr id="13" name="Image 1" descr="/home/claude/work/build/icons/layer_white.png"/>
          <p:cNvPicPr>
            <a:picLocks noChangeAspect="1"/>
          </p:cNvPicPr>
          <p:nvPr/>
        </p:nvPicPr>
        <p:blipFill>
          <a:blip r:embed="rId4"/>
          <a:stretch>
            <a:fillRect/>
          </a:stretch>
        </p:blipFill>
        <p:spPr>
          <a:xfrm>
            <a:off x="6226332" y="2358420"/>
            <a:ext cx="184343" cy="184343"/>
          </a:xfrm>
          <a:prstGeom prst="rect">
            <a:avLst/>
          </a:prstGeom>
        </p:spPr>
      </p:pic>
      <p:sp>
        <p:nvSpPr>
          <p:cNvPr id="14" name="Text 10"/>
          <p:cNvSpPr/>
          <p:nvPr/>
        </p:nvSpPr>
        <p:spPr>
          <a:xfrm>
            <a:off x="6693408" y="2231136"/>
            <a:ext cx="4949647" cy="475488"/>
          </a:xfrm>
          <a:prstGeom prst="rect">
            <a:avLst/>
          </a:prstGeom>
          <a:noFill/>
          <a:ln/>
        </p:spPr>
        <p:txBody>
          <a:bodyPr wrap="square" rtlCol="0" anchor="t"/>
          <a:lstStyle/>
          <a:p>
            <a:pPr marL="0" indent="0">
              <a:lnSpc>
                <a:spcPct val="112000"/>
              </a:lnSpc>
              <a:buNone/>
            </a:pPr>
            <a:r>
              <a:rPr lang="en-US" sz="1400" b="1" dirty="0">
                <a:solidFill>
                  <a:srgbClr val="22302B"/>
                </a:solidFill>
                <a:latin typeface="Calibri" pitchFamily="34" charset="0"/>
                <a:ea typeface="Calibri" pitchFamily="34" charset="-122"/>
                <a:cs typeface="Calibri" pitchFamily="34" charset="-120"/>
              </a:rPr>
              <a:t>rules/*.smk</a:t>
            </a:r>
            <a:endParaRPr lang="en-US" sz="1400" dirty="0"/>
          </a:p>
          <a:p>
            <a:pPr marL="0" indent="0">
              <a:lnSpc>
                <a:spcPct val="112000"/>
              </a:lnSpc>
              <a:buNone/>
            </a:pPr>
            <a:r>
              <a:rPr lang="en-US" sz="1150" dirty="0">
                <a:solidFill>
                  <a:srgbClr val="5C6B66"/>
                </a:solidFill>
                <a:latin typeface="Calibri" pitchFamily="34" charset="0"/>
                <a:ea typeface="Calibri" pitchFamily="34" charset="-122"/>
                <a:cs typeface="Calibri" pitchFamily="34" charset="-120"/>
              </a:rPr>
              <a:t>one file per pipeline stage keeps things readable</a:t>
            </a:r>
            <a:endParaRPr lang="en-US" sz="1400" dirty="0"/>
          </a:p>
        </p:txBody>
      </p:sp>
      <p:sp>
        <p:nvSpPr>
          <p:cNvPr id="15" name="Shape 11"/>
          <p:cNvSpPr/>
          <p:nvPr/>
        </p:nvSpPr>
        <p:spPr>
          <a:xfrm>
            <a:off x="6126480" y="3099816"/>
            <a:ext cx="384048" cy="384048"/>
          </a:xfrm>
          <a:prstGeom prst="ellipse">
            <a:avLst/>
          </a:prstGeom>
          <a:solidFill>
            <a:srgbClr val="039475"/>
          </a:solidFill>
          <a:ln/>
        </p:spPr>
        <p:txBody>
          <a:bodyPr/>
          <a:lstStyle/>
          <a:p>
            <a:endParaRPr lang="en-US"/>
          </a:p>
        </p:txBody>
      </p:sp>
      <p:pic>
        <p:nvPicPr>
          <p:cNvPr id="16" name="Image 2" descr="/home/claude/work/build/icons/gear_white.png"/>
          <p:cNvPicPr>
            <a:picLocks noChangeAspect="1"/>
          </p:cNvPicPr>
          <p:nvPr/>
        </p:nvPicPr>
        <p:blipFill>
          <a:blip r:embed="rId5"/>
          <a:stretch>
            <a:fillRect/>
          </a:stretch>
        </p:blipFill>
        <p:spPr>
          <a:xfrm>
            <a:off x="6226332" y="3199668"/>
            <a:ext cx="184343" cy="184343"/>
          </a:xfrm>
          <a:prstGeom prst="rect">
            <a:avLst/>
          </a:prstGeom>
        </p:spPr>
      </p:pic>
      <p:sp>
        <p:nvSpPr>
          <p:cNvPr id="17" name="Text 12"/>
          <p:cNvSpPr/>
          <p:nvPr/>
        </p:nvSpPr>
        <p:spPr>
          <a:xfrm>
            <a:off x="6693408" y="3072384"/>
            <a:ext cx="4949647" cy="475488"/>
          </a:xfrm>
          <a:prstGeom prst="rect">
            <a:avLst/>
          </a:prstGeom>
          <a:noFill/>
          <a:ln/>
        </p:spPr>
        <p:txBody>
          <a:bodyPr wrap="square" rtlCol="0" anchor="t"/>
          <a:lstStyle/>
          <a:p>
            <a:pPr marL="0" indent="0">
              <a:lnSpc>
                <a:spcPct val="112000"/>
              </a:lnSpc>
              <a:buNone/>
            </a:pPr>
            <a:r>
              <a:rPr lang="en-US" sz="1400" b="1" dirty="0">
                <a:solidFill>
                  <a:srgbClr val="22302B"/>
                </a:solidFill>
                <a:latin typeface="Calibri" pitchFamily="34" charset="0"/>
                <a:ea typeface="Calibri" pitchFamily="34" charset="-122"/>
                <a:cs typeface="Calibri" pitchFamily="34" charset="-120"/>
              </a:rPr>
              <a:t>envs/*.yaml</a:t>
            </a:r>
            <a:endParaRPr lang="en-US" sz="1400" dirty="0"/>
          </a:p>
          <a:p>
            <a:pPr marL="0" indent="0">
              <a:lnSpc>
                <a:spcPct val="112000"/>
              </a:lnSpc>
              <a:buNone/>
            </a:pPr>
            <a:r>
              <a:rPr lang="en-US" sz="1150" dirty="0">
                <a:solidFill>
                  <a:srgbClr val="5C6B66"/>
                </a:solidFill>
                <a:latin typeface="Calibri" pitchFamily="34" charset="0"/>
                <a:ea typeface="Calibri" pitchFamily="34" charset="-122"/>
                <a:cs typeface="Calibri" pitchFamily="34" charset="-120"/>
              </a:rPr>
              <a:t>a conda environment per rule — exact software versions</a:t>
            </a:r>
            <a:endParaRPr lang="en-US" sz="1400" dirty="0"/>
          </a:p>
        </p:txBody>
      </p:sp>
      <p:sp>
        <p:nvSpPr>
          <p:cNvPr id="18" name="Shape 13"/>
          <p:cNvSpPr/>
          <p:nvPr/>
        </p:nvSpPr>
        <p:spPr>
          <a:xfrm>
            <a:off x="6126480" y="3941064"/>
            <a:ext cx="384048" cy="384048"/>
          </a:xfrm>
          <a:prstGeom prst="ellipse">
            <a:avLst/>
          </a:prstGeom>
          <a:solidFill>
            <a:srgbClr val="039475"/>
          </a:solidFill>
          <a:ln/>
        </p:spPr>
        <p:txBody>
          <a:bodyPr/>
          <a:lstStyle/>
          <a:p>
            <a:endParaRPr lang="en-US"/>
          </a:p>
        </p:txBody>
      </p:sp>
      <p:pic>
        <p:nvPicPr>
          <p:cNvPr id="19" name="Image 3" descr="/home/claude/work/build/icons/folder_white.png"/>
          <p:cNvPicPr>
            <a:picLocks noChangeAspect="1"/>
          </p:cNvPicPr>
          <p:nvPr/>
        </p:nvPicPr>
        <p:blipFill>
          <a:blip r:embed="rId6"/>
          <a:stretch>
            <a:fillRect/>
          </a:stretch>
        </p:blipFill>
        <p:spPr>
          <a:xfrm>
            <a:off x="6226332" y="4040916"/>
            <a:ext cx="184343" cy="184343"/>
          </a:xfrm>
          <a:prstGeom prst="rect">
            <a:avLst/>
          </a:prstGeom>
        </p:spPr>
      </p:pic>
      <p:sp>
        <p:nvSpPr>
          <p:cNvPr id="20" name="Text 14"/>
          <p:cNvSpPr/>
          <p:nvPr/>
        </p:nvSpPr>
        <p:spPr>
          <a:xfrm>
            <a:off x="6693408" y="3913632"/>
            <a:ext cx="4949647" cy="475488"/>
          </a:xfrm>
          <a:prstGeom prst="rect">
            <a:avLst/>
          </a:prstGeom>
          <a:noFill/>
          <a:ln/>
        </p:spPr>
        <p:txBody>
          <a:bodyPr wrap="square" rtlCol="0" anchor="t"/>
          <a:lstStyle/>
          <a:p>
            <a:pPr marL="0" indent="0">
              <a:lnSpc>
                <a:spcPct val="112000"/>
              </a:lnSpc>
              <a:buNone/>
            </a:pPr>
            <a:r>
              <a:rPr lang="en-US" sz="1400" b="1" dirty="0">
                <a:solidFill>
                  <a:srgbClr val="22302B"/>
                </a:solidFill>
                <a:latin typeface="Calibri" pitchFamily="34" charset="0"/>
                <a:ea typeface="Calibri" pitchFamily="34" charset="-122"/>
                <a:cs typeface="Calibri" pitchFamily="34" charset="-120"/>
              </a:rPr>
              <a:t>config/</a:t>
            </a:r>
            <a:endParaRPr lang="en-US" sz="1400" dirty="0"/>
          </a:p>
          <a:p>
            <a:pPr marL="0" indent="0">
              <a:lnSpc>
                <a:spcPct val="112000"/>
              </a:lnSpc>
              <a:buNone/>
            </a:pPr>
            <a:r>
              <a:rPr lang="en-US" sz="1150" dirty="0">
                <a:solidFill>
                  <a:srgbClr val="5C6B66"/>
                </a:solidFill>
                <a:latin typeface="Calibri" pitchFamily="34" charset="0"/>
                <a:ea typeface="Calibri" pitchFamily="34" charset="-122"/>
                <a:cs typeface="Calibri" pitchFamily="34" charset="-120"/>
              </a:rPr>
              <a:t>sample sheets &amp; run settings, kept separate from logic</a:t>
            </a:r>
            <a:endParaRPr lang="en-US" sz="1400" dirty="0"/>
          </a:p>
        </p:txBody>
      </p:sp>
      <p:sp>
        <p:nvSpPr>
          <p:cNvPr id="21" name="Shape 15"/>
          <p:cNvSpPr/>
          <p:nvPr/>
        </p:nvSpPr>
        <p:spPr>
          <a:xfrm>
            <a:off x="6126480" y="4782312"/>
            <a:ext cx="384048" cy="384048"/>
          </a:xfrm>
          <a:prstGeom prst="ellipse">
            <a:avLst/>
          </a:prstGeom>
          <a:solidFill>
            <a:srgbClr val="039475"/>
          </a:solidFill>
          <a:ln/>
        </p:spPr>
        <p:txBody>
          <a:bodyPr/>
          <a:lstStyle/>
          <a:p>
            <a:endParaRPr lang="en-US"/>
          </a:p>
        </p:txBody>
      </p:sp>
      <p:pic>
        <p:nvPicPr>
          <p:cNvPr id="22" name="Image 4" descr="/home/claude/work/build/icons/clipboard_white.png"/>
          <p:cNvPicPr>
            <a:picLocks noChangeAspect="1"/>
          </p:cNvPicPr>
          <p:nvPr/>
        </p:nvPicPr>
        <p:blipFill>
          <a:blip r:embed="rId7"/>
          <a:stretch>
            <a:fillRect/>
          </a:stretch>
        </p:blipFill>
        <p:spPr>
          <a:xfrm>
            <a:off x="6226332" y="4882164"/>
            <a:ext cx="184343" cy="184343"/>
          </a:xfrm>
          <a:prstGeom prst="rect">
            <a:avLst/>
          </a:prstGeom>
        </p:spPr>
      </p:pic>
      <p:sp>
        <p:nvSpPr>
          <p:cNvPr id="23" name="Text 16"/>
          <p:cNvSpPr/>
          <p:nvPr/>
        </p:nvSpPr>
        <p:spPr>
          <a:xfrm>
            <a:off x="6693408" y="4754880"/>
            <a:ext cx="4949647" cy="475488"/>
          </a:xfrm>
          <a:prstGeom prst="rect">
            <a:avLst/>
          </a:prstGeom>
          <a:noFill/>
          <a:ln/>
        </p:spPr>
        <p:txBody>
          <a:bodyPr wrap="square" rtlCol="0" anchor="t"/>
          <a:lstStyle/>
          <a:p>
            <a:pPr marL="0" indent="0">
              <a:lnSpc>
                <a:spcPct val="112000"/>
              </a:lnSpc>
              <a:buNone/>
            </a:pPr>
            <a:r>
              <a:rPr lang="en-US" sz="1400" b="1" dirty="0">
                <a:solidFill>
                  <a:srgbClr val="22302B"/>
                </a:solidFill>
                <a:latin typeface="Calibri" pitchFamily="34" charset="0"/>
                <a:ea typeface="Calibri" pitchFamily="34" charset="-122"/>
                <a:cs typeface="Calibri" pitchFamily="34" charset="-120"/>
              </a:rPr>
              <a:t>out/</a:t>
            </a:r>
            <a:endParaRPr lang="en-US" sz="1400" dirty="0"/>
          </a:p>
          <a:p>
            <a:pPr marL="0" indent="0">
              <a:lnSpc>
                <a:spcPct val="112000"/>
              </a:lnSpc>
              <a:buNone/>
            </a:pPr>
            <a:r>
              <a:rPr lang="en-US" sz="1150" dirty="0">
                <a:solidFill>
                  <a:srgbClr val="5C6B66"/>
                </a:solidFill>
                <a:latin typeface="Calibri" pitchFamily="34" charset="0"/>
                <a:ea typeface="Calibri" pitchFamily="34" charset="-122"/>
                <a:cs typeface="Calibri" pitchFamily="34" charset="-120"/>
              </a:rPr>
              <a:t>outputs only — generated, never hand-edited</a:t>
            </a:r>
            <a:endParaRPr lang="en-US" sz="1400" dirty="0"/>
          </a:p>
        </p:txBody>
      </p:sp>
      <p:sp>
        <p:nvSpPr>
          <p:cNvPr id="24" name="Text 17"/>
          <p:cNvSpPr/>
          <p:nvPr/>
        </p:nvSpPr>
        <p:spPr>
          <a:xfrm>
            <a:off x="6126480" y="5669280"/>
            <a:ext cx="5516575" cy="548640"/>
          </a:xfrm>
          <a:prstGeom prst="rect">
            <a:avLst/>
          </a:prstGeom>
          <a:noFill/>
          <a:ln/>
        </p:spPr>
        <p:txBody>
          <a:bodyPr wrap="square" rtlCol="0" anchor="ctr"/>
          <a:lstStyle/>
          <a:p>
            <a:pPr marL="0" indent="0">
              <a:lnSpc>
                <a:spcPct val="125000"/>
              </a:lnSpc>
              <a:buNone/>
            </a:pPr>
            <a:r>
              <a:rPr lang="en-US" sz="1200" i="1" dirty="0">
                <a:solidFill>
                  <a:srgbClr val="5C6B66"/>
                </a:solidFill>
                <a:latin typeface="Calibri" pitchFamily="34" charset="0"/>
                <a:ea typeface="Calibri" pitchFamily="34" charset="-122"/>
                <a:cs typeface="Calibri" pitchFamily="34" charset="-120"/>
              </a:rPr>
              <a:t>Store it in a Git repo with this layout and it's ready to distribute, rerun, and hand off.</a:t>
            </a:r>
            <a:endParaRPr lang="en-US" sz="1200" dirty="0"/>
          </a:p>
        </p:txBody>
      </p:sp>
      <p:sp>
        <p:nvSpPr>
          <p:cNvPr id="25" name="Text 18"/>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26" name="Text 19"/>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OVERVIEW OF SNAKEMAKE</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3200" b="1" dirty="0">
                <a:solidFill>
                  <a:srgbClr val="22302B"/>
                </a:solidFill>
                <a:latin typeface="Calibri" pitchFamily="34" charset="0"/>
                <a:ea typeface="Calibri" pitchFamily="34" charset="-122"/>
                <a:cs typeface="Calibri" pitchFamily="34" charset="-120"/>
              </a:rPr>
              <a:t>Writing rules</a:t>
            </a:r>
            <a:endParaRPr lang="en-US" sz="3200" dirty="0"/>
          </a:p>
        </p:txBody>
      </p:sp>
      <p:sp>
        <p:nvSpPr>
          <p:cNvPr id="4" name="Shape 2"/>
          <p:cNvSpPr/>
          <p:nvPr/>
        </p:nvSpPr>
        <p:spPr>
          <a:xfrm>
            <a:off x="548640" y="1417320"/>
            <a:ext cx="6858000" cy="4114800"/>
          </a:xfrm>
          <a:prstGeom prst="roundRect">
            <a:avLst>
              <a:gd name="adj" fmla="val 2000"/>
            </a:avLst>
          </a:prstGeom>
          <a:solidFill>
            <a:srgbClr val="17211D"/>
          </a:solidFill>
          <a:ln/>
        </p:spPr>
        <p:txBody>
          <a:bodyPr/>
          <a:lstStyle/>
          <a:p>
            <a:endParaRPr lang="en-US"/>
          </a:p>
        </p:txBody>
      </p:sp>
      <p:sp>
        <p:nvSpPr>
          <p:cNvPr id="5" name="Shape 3"/>
          <p:cNvSpPr/>
          <p:nvPr/>
        </p:nvSpPr>
        <p:spPr>
          <a:xfrm>
            <a:off x="749808" y="1581912"/>
            <a:ext cx="64008" cy="64008"/>
          </a:xfrm>
          <a:prstGeom prst="ellipse">
            <a:avLst/>
          </a:prstGeom>
          <a:solidFill>
            <a:srgbClr val="E0972E"/>
          </a:solidFill>
          <a:ln/>
        </p:spPr>
        <p:txBody>
          <a:bodyPr/>
          <a:lstStyle/>
          <a:p>
            <a:endParaRPr lang="en-US"/>
          </a:p>
        </p:txBody>
      </p:sp>
      <p:sp>
        <p:nvSpPr>
          <p:cNvPr id="6" name="Shape 4"/>
          <p:cNvSpPr/>
          <p:nvPr/>
        </p:nvSpPr>
        <p:spPr>
          <a:xfrm>
            <a:off x="950976" y="1581912"/>
            <a:ext cx="64008" cy="64008"/>
          </a:xfrm>
          <a:prstGeom prst="ellipse">
            <a:avLst/>
          </a:prstGeom>
          <a:solidFill>
            <a:srgbClr val="6FCDAE"/>
          </a:solidFill>
          <a:ln/>
        </p:spPr>
        <p:txBody>
          <a:bodyPr/>
          <a:lstStyle/>
          <a:p>
            <a:endParaRPr lang="en-US"/>
          </a:p>
        </p:txBody>
      </p:sp>
      <p:sp>
        <p:nvSpPr>
          <p:cNvPr id="7" name="Shape 5"/>
          <p:cNvSpPr/>
          <p:nvPr/>
        </p:nvSpPr>
        <p:spPr>
          <a:xfrm>
            <a:off x="1152144" y="1581912"/>
            <a:ext cx="64008" cy="64008"/>
          </a:xfrm>
          <a:prstGeom prst="ellipse">
            <a:avLst/>
          </a:prstGeom>
          <a:solidFill>
            <a:srgbClr val="8A9995"/>
          </a:solidFill>
          <a:ln/>
        </p:spPr>
        <p:txBody>
          <a:bodyPr/>
          <a:lstStyle/>
          <a:p>
            <a:endParaRPr lang="en-US"/>
          </a:p>
        </p:txBody>
      </p:sp>
      <p:sp>
        <p:nvSpPr>
          <p:cNvPr id="8" name="Text 6"/>
          <p:cNvSpPr/>
          <p:nvPr/>
        </p:nvSpPr>
        <p:spPr>
          <a:xfrm>
            <a:off x="804672" y="1837944"/>
            <a:ext cx="6345936" cy="3511296"/>
          </a:xfrm>
          <a:prstGeom prst="rect">
            <a:avLst/>
          </a:prstGeom>
          <a:noFill/>
          <a:ln/>
        </p:spPr>
        <p:txBody>
          <a:bodyPr wrap="square" rtlCol="0" anchor="t"/>
          <a:lstStyle/>
          <a:p>
            <a:pPr marL="0" indent="0">
              <a:lnSpc>
                <a:spcPct val="128000"/>
              </a:lnSpc>
              <a:buNone/>
            </a:pPr>
            <a:r>
              <a:rPr lang="en-US" sz="1300" dirty="0">
                <a:solidFill>
                  <a:srgbClr val="6FCDAE"/>
                </a:solidFill>
                <a:latin typeface="Courier New" pitchFamily="34" charset="0"/>
                <a:ea typeface="Courier New" pitchFamily="34" charset="-122"/>
                <a:cs typeface="Courier New" pitchFamily="34" charset="-120"/>
              </a:rPr>
              <a:t>rule </a:t>
            </a:r>
            <a:r>
              <a:rPr lang="en-US" sz="1300" dirty="0">
                <a:solidFill>
                  <a:srgbClr val="E7EEEB"/>
                </a:solidFill>
                <a:latin typeface="Courier New" pitchFamily="34" charset="0"/>
                <a:ea typeface="Courier New" pitchFamily="34" charset="-122"/>
                <a:cs typeface="Courier New" pitchFamily="34" charset="-120"/>
              </a:rPr>
              <a:t>trim_reads:</a:t>
            </a:r>
            <a:endParaRPr lang="en-US" sz="1300" dirty="0"/>
          </a:p>
          <a:p>
            <a:pPr marL="0" indent="0">
              <a:lnSpc>
                <a:spcPct val="128000"/>
              </a:lnSpc>
              <a:buNone/>
            </a:pPr>
            <a:r>
              <a:rPr lang="en-US" sz="1300" dirty="0">
                <a:solidFill>
                  <a:srgbClr val="6FCDAE"/>
                </a:solidFill>
                <a:latin typeface="Courier New" pitchFamily="34" charset="0"/>
                <a:ea typeface="Courier New" pitchFamily="34" charset="-122"/>
                <a:cs typeface="Courier New" pitchFamily="34" charset="-120"/>
              </a:rPr>
              <a:t>    input:</a:t>
            </a:r>
            <a:endParaRPr lang="en-US" sz="1300" dirty="0"/>
          </a:p>
          <a:p>
            <a:pPr marL="0" indent="0">
              <a:lnSpc>
                <a:spcPct val="128000"/>
              </a:lnSpc>
              <a:buNone/>
            </a:pPr>
            <a:r>
              <a:rPr lang="en-US" sz="1300" dirty="0">
                <a:solidFill>
                  <a:srgbClr val="E7EEEB"/>
                </a:solidFill>
                <a:latin typeface="Courier New" pitchFamily="34" charset="0"/>
                <a:ea typeface="Courier New" pitchFamily="34" charset="-122"/>
                <a:cs typeface="Courier New" pitchFamily="34" charset="-120"/>
              </a:rPr>
              <a:t>        r1 = </a:t>
            </a:r>
            <a:r>
              <a:rPr lang="en-US" sz="1300" dirty="0">
                <a:solidFill>
                  <a:srgbClr val="E0972E"/>
                </a:solidFill>
                <a:latin typeface="Courier New" pitchFamily="34" charset="0"/>
                <a:ea typeface="Courier New" pitchFamily="34" charset="-122"/>
                <a:cs typeface="Courier New" pitchFamily="34" charset="-120"/>
              </a:rPr>
              <a:t>"raw/{sample}_R1.fastq.gz"</a:t>
            </a:r>
            <a:r>
              <a:rPr lang="en-US" sz="1300" dirty="0">
                <a:solidFill>
                  <a:srgbClr val="E7EEEB"/>
                </a:solidFill>
                <a:latin typeface="Courier New" pitchFamily="34" charset="0"/>
                <a:ea typeface="Courier New" pitchFamily="34" charset="-122"/>
                <a:cs typeface="Courier New" pitchFamily="34" charset="-120"/>
              </a:rPr>
              <a:t>,</a:t>
            </a:r>
            <a:endParaRPr lang="en-US" sz="1300" dirty="0"/>
          </a:p>
          <a:p>
            <a:pPr marL="0" indent="0">
              <a:lnSpc>
                <a:spcPct val="128000"/>
              </a:lnSpc>
              <a:buNone/>
            </a:pPr>
            <a:r>
              <a:rPr lang="en-US" sz="1300" dirty="0">
                <a:solidFill>
                  <a:srgbClr val="E7EEEB"/>
                </a:solidFill>
                <a:latin typeface="Courier New" pitchFamily="34" charset="0"/>
                <a:ea typeface="Courier New" pitchFamily="34" charset="-122"/>
                <a:cs typeface="Courier New" pitchFamily="34" charset="-120"/>
              </a:rPr>
              <a:t>        r2 = </a:t>
            </a:r>
            <a:r>
              <a:rPr lang="en-US" sz="1300" dirty="0">
                <a:solidFill>
                  <a:srgbClr val="E0972E"/>
                </a:solidFill>
                <a:latin typeface="Courier New" pitchFamily="34" charset="0"/>
                <a:ea typeface="Courier New" pitchFamily="34" charset="-122"/>
                <a:cs typeface="Courier New" pitchFamily="34" charset="-120"/>
              </a:rPr>
              <a:t>"raw/{sample}_R2.fastq.gz"</a:t>
            </a:r>
            <a:endParaRPr lang="en-US" sz="1300" dirty="0"/>
          </a:p>
          <a:p>
            <a:pPr marL="0" indent="0">
              <a:lnSpc>
                <a:spcPct val="128000"/>
              </a:lnSpc>
              <a:buNone/>
            </a:pPr>
            <a:r>
              <a:rPr lang="en-US" sz="1300" dirty="0">
                <a:solidFill>
                  <a:srgbClr val="6FCDAE"/>
                </a:solidFill>
                <a:latin typeface="Courier New" pitchFamily="34" charset="0"/>
                <a:ea typeface="Courier New" pitchFamily="34" charset="-122"/>
                <a:cs typeface="Courier New" pitchFamily="34" charset="-120"/>
              </a:rPr>
              <a:t>    output:</a:t>
            </a:r>
            <a:endParaRPr lang="en-US" sz="1300" dirty="0"/>
          </a:p>
          <a:p>
            <a:pPr marL="0" indent="0">
              <a:lnSpc>
                <a:spcPct val="128000"/>
              </a:lnSpc>
              <a:buNone/>
            </a:pPr>
            <a:r>
              <a:rPr lang="en-US" sz="1300" dirty="0">
                <a:solidFill>
                  <a:srgbClr val="E7EEEB"/>
                </a:solidFill>
                <a:latin typeface="Courier New" pitchFamily="34" charset="0"/>
                <a:ea typeface="Courier New" pitchFamily="34" charset="-122"/>
                <a:cs typeface="Courier New" pitchFamily="34" charset="-120"/>
              </a:rPr>
              <a:t>        r1 = </a:t>
            </a:r>
            <a:r>
              <a:rPr lang="en-US" sz="1300" dirty="0">
                <a:solidFill>
                  <a:srgbClr val="E0972E"/>
                </a:solidFill>
                <a:latin typeface="Courier New" pitchFamily="34" charset="0"/>
                <a:ea typeface="Courier New" pitchFamily="34" charset="-122"/>
                <a:cs typeface="Courier New" pitchFamily="34" charset="-120"/>
              </a:rPr>
              <a:t>"trimmed/{sample}_R1.fastq.gz"</a:t>
            </a:r>
            <a:r>
              <a:rPr lang="en-US" sz="1300" dirty="0">
                <a:solidFill>
                  <a:srgbClr val="E7EEEB"/>
                </a:solidFill>
                <a:latin typeface="Courier New" pitchFamily="34" charset="0"/>
                <a:ea typeface="Courier New" pitchFamily="34" charset="-122"/>
                <a:cs typeface="Courier New" pitchFamily="34" charset="-120"/>
              </a:rPr>
              <a:t>,</a:t>
            </a:r>
            <a:endParaRPr lang="en-US" sz="1300" dirty="0"/>
          </a:p>
          <a:p>
            <a:pPr marL="0" indent="0">
              <a:lnSpc>
                <a:spcPct val="128000"/>
              </a:lnSpc>
              <a:buNone/>
            </a:pPr>
            <a:r>
              <a:rPr lang="en-US" sz="1300" dirty="0">
                <a:solidFill>
                  <a:srgbClr val="E7EEEB"/>
                </a:solidFill>
                <a:latin typeface="Courier New" pitchFamily="34" charset="0"/>
                <a:ea typeface="Courier New" pitchFamily="34" charset="-122"/>
                <a:cs typeface="Courier New" pitchFamily="34" charset="-120"/>
              </a:rPr>
              <a:t>        r2 = </a:t>
            </a:r>
            <a:r>
              <a:rPr lang="en-US" sz="1300" dirty="0">
                <a:solidFill>
                  <a:srgbClr val="E0972E"/>
                </a:solidFill>
                <a:latin typeface="Courier New" pitchFamily="34" charset="0"/>
                <a:ea typeface="Courier New" pitchFamily="34" charset="-122"/>
                <a:cs typeface="Courier New" pitchFamily="34" charset="-120"/>
              </a:rPr>
              <a:t>"trimmed/{sample}_R2.fastq.gz"</a:t>
            </a:r>
            <a:endParaRPr lang="en-US" sz="1300" dirty="0"/>
          </a:p>
          <a:p>
            <a:pPr marL="0" indent="0">
              <a:lnSpc>
                <a:spcPct val="128000"/>
              </a:lnSpc>
              <a:buNone/>
            </a:pPr>
            <a:r>
              <a:rPr lang="en-US" sz="1300" dirty="0">
                <a:solidFill>
                  <a:srgbClr val="6FCDAE"/>
                </a:solidFill>
                <a:latin typeface="Courier New" pitchFamily="34" charset="0"/>
                <a:ea typeface="Courier New" pitchFamily="34" charset="-122"/>
                <a:cs typeface="Courier New" pitchFamily="34" charset="-120"/>
              </a:rPr>
              <a:t>    conda:</a:t>
            </a:r>
            <a:endParaRPr lang="en-US" sz="1300" dirty="0"/>
          </a:p>
          <a:p>
            <a:pPr marL="0" indent="0">
              <a:lnSpc>
                <a:spcPct val="128000"/>
              </a:lnSpc>
              <a:buNone/>
            </a:pPr>
            <a:r>
              <a:rPr lang="en-US" sz="1300" dirty="0">
                <a:solidFill>
                  <a:srgbClr val="E0972E"/>
                </a:solidFill>
                <a:latin typeface="Courier New" pitchFamily="34" charset="0"/>
                <a:ea typeface="Courier New" pitchFamily="34" charset="-122"/>
                <a:cs typeface="Courier New" pitchFamily="34" charset="-120"/>
              </a:rPr>
              <a:t>        "envs/trimmomatic.yaml"</a:t>
            </a:r>
            <a:endParaRPr lang="en-US" sz="1300" dirty="0"/>
          </a:p>
          <a:p>
            <a:pPr marL="0" indent="0">
              <a:lnSpc>
                <a:spcPct val="128000"/>
              </a:lnSpc>
              <a:buNone/>
            </a:pPr>
            <a:r>
              <a:rPr lang="en-US" sz="1300" dirty="0">
                <a:solidFill>
                  <a:srgbClr val="6FCDAE"/>
                </a:solidFill>
                <a:latin typeface="Courier New" pitchFamily="34" charset="0"/>
                <a:ea typeface="Courier New" pitchFamily="34" charset="-122"/>
                <a:cs typeface="Courier New" pitchFamily="34" charset="-120"/>
              </a:rPr>
              <a:t>    threads: </a:t>
            </a:r>
            <a:r>
              <a:rPr lang="en-US" sz="1300" dirty="0">
                <a:solidFill>
                  <a:srgbClr val="E0972E"/>
                </a:solidFill>
                <a:latin typeface="Courier New" pitchFamily="34" charset="0"/>
                <a:ea typeface="Courier New" pitchFamily="34" charset="-122"/>
                <a:cs typeface="Courier New" pitchFamily="34" charset="-120"/>
              </a:rPr>
              <a:t>4</a:t>
            </a:r>
            <a:endParaRPr lang="en-US" sz="1300" dirty="0"/>
          </a:p>
          <a:p>
            <a:pPr marL="0" indent="0">
              <a:lnSpc>
                <a:spcPct val="128000"/>
              </a:lnSpc>
              <a:buNone/>
            </a:pPr>
            <a:r>
              <a:rPr lang="en-US" sz="1300" dirty="0">
                <a:solidFill>
                  <a:srgbClr val="6FCDAE"/>
                </a:solidFill>
                <a:latin typeface="Courier New" pitchFamily="34" charset="0"/>
                <a:ea typeface="Courier New" pitchFamily="34" charset="-122"/>
                <a:cs typeface="Courier New" pitchFamily="34" charset="-120"/>
              </a:rPr>
              <a:t>    shell:</a:t>
            </a:r>
            <a:endParaRPr lang="en-US" sz="1300" dirty="0"/>
          </a:p>
          <a:p>
            <a:pPr marL="0" indent="0">
              <a:lnSpc>
                <a:spcPct val="128000"/>
              </a:lnSpc>
              <a:buNone/>
            </a:pPr>
            <a:r>
              <a:rPr lang="en-US" sz="1300" dirty="0">
                <a:solidFill>
                  <a:srgbClr val="E0972E"/>
                </a:solidFill>
                <a:latin typeface="Courier New" pitchFamily="34" charset="0"/>
                <a:ea typeface="Courier New" pitchFamily="34" charset="-122"/>
                <a:cs typeface="Courier New" pitchFamily="34" charset="-120"/>
              </a:rPr>
              <a:t>        "trimmomatic PE -threads {threads} "</a:t>
            </a:r>
            <a:endParaRPr lang="en-US" sz="1300" dirty="0"/>
          </a:p>
          <a:p>
            <a:pPr marL="0" indent="0">
              <a:lnSpc>
                <a:spcPct val="128000"/>
              </a:lnSpc>
              <a:buNone/>
            </a:pPr>
            <a:r>
              <a:rPr lang="en-US" sz="1300" dirty="0">
                <a:solidFill>
                  <a:srgbClr val="E0972E"/>
                </a:solidFill>
                <a:latin typeface="Courier New" pitchFamily="34" charset="0"/>
                <a:ea typeface="Courier New" pitchFamily="34" charset="-122"/>
                <a:cs typeface="Courier New" pitchFamily="34" charset="-120"/>
              </a:rPr>
              <a:t>        "{input.r1} {input.r2} {output.r1} {output.r2}"</a:t>
            </a:r>
            <a:endParaRPr lang="en-US" sz="1300" dirty="0"/>
          </a:p>
        </p:txBody>
      </p:sp>
      <p:sp>
        <p:nvSpPr>
          <p:cNvPr id="9" name="Shape 7"/>
          <p:cNvSpPr/>
          <p:nvPr/>
        </p:nvSpPr>
        <p:spPr>
          <a:xfrm>
            <a:off x="7772400" y="1517904"/>
            <a:ext cx="155448" cy="155448"/>
          </a:xfrm>
          <a:prstGeom prst="roundRect">
            <a:avLst>
              <a:gd name="adj" fmla="val 23529"/>
            </a:avLst>
          </a:prstGeom>
          <a:solidFill>
            <a:srgbClr val="6FCDAE"/>
          </a:solidFill>
          <a:ln/>
        </p:spPr>
        <p:txBody>
          <a:bodyPr/>
          <a:lstStyle/>
          <a:p>
            <a:endParaRPr lang="en-US"/>
          </a:p>
        </p:txBody>
      </p:sp>
      <p:sp>
        <p:nvSpPr>
          <p:cNvPr id="10" name="Text 8"/>
          <p:cNvSpPr/>
          <p:nvPr/>
        </p:nvSpPr>
        <p:spPr>
          <a:xfrm>
            <a:off x="8074152" y="1399032"/>
            <a:ext cx="3568903" cy="777240"/>
          </a:xfrm>
          <a:prstGeom prst="rect">
            <a:avLst/>
          </a:prstGeom>
          <a:noFill/>
          <a:ln/>
        </p:spPr>
        <p:txBody>
          <a:bodyPr wrap="square" lIns="0" tIns="0" rIns="0" bIns="0" rtlCol="0" anchor="ctr"/>
          <a:lstStyle/>
          <a:p>
            <a:pPr marL="0" indent="0">
              <a:lnSpc>
                <a:spcPct val="115000"/>
              </a:lnSpc>
              <a:buNone/>
            </a:pPr>
            <a:r>
              <a:rPr lang="en-US" sz="1300" b="1" dirty="0">
                <a:solidFill>
                  <a:srgbClr val="22302B"/>
                </a:solidFill>
                <a:latin typeface="Courier New" pitchFamily="34" charset="0"/>
                <a:ea typeface="Courier New" pitchFamily="34" charset="-122"/>
                <a:cs typeface="Courier New" pitchFamily="34" charset="-120"/>
              </a:rPr>
              <a:t>input:</a:t>
            </a:r>
            <a:endParaRPr lang="en-US" sz="1300" dirty="0"/>
          </a:p>
          <a:p>
            <a:pPr marL="0" indent="0">
              <a:lnSpc>
                <a:spcPct val="115000"/>
              </a:lnSpc>
              <a:buNone/>
            </a:pPr>
            <a:r>
              <a:rPr lang="en-US" sz="1150" dirty="0">
                <a:solidFill>
                  <a:srgbClr val="5C6B66"/>
                </a:solidFill>
                <a:latin typeface="Calibri" pitchFamily="34" charset="0"/>
                <a:ea typeface="Calibri" pitchFamily="34" charset="-122"/>
                <a:cs typeface="Calibri" pitchFamily="34" charset="-120"/>
              </a:rPr>
              <a:t>files that must exist before this rule can run</a:t>
            </a:r>
            <a:endParaRPr lang="en-US" sz="1300" dirty="0"/>
          </a:p>
        </p:txBody>
      </p:sp>
      <p:sp>
        <p:nvSpPr>
          <p:cNvPr id="11" name="Shape 9"/>
          <p:cNvSpPr/>
          <p:nvPr/>
        </p:nvSpPr>
        <p:spPr>
          <a:xfrm>
            <a:off x="7772400" y="2414016"/>
            <a:ext cx="155448" cy="155448"/>
          </a:xfrm>
          <a:prstGeom prst="roundRect">
            <a:avLst>
              <a:gd name="adj" fmla="val 23529"/>
            </a:avLst>
          </a:prstGeom>
          <a:solidFill>
            <a:srgbClr val="6FCDAE"/>
          </a:solidFill>
          <a:ln/>
        </p:spPr>
        <p:txBody>
          <a:bodyPr/>
          <a:lstStyle/>
          <a:p>
            <a:endParaRPr lang="en-US"/>
          </a:p>
        </p:txBody>
      </p:sp>
      <p:sp>
        <p:nvSpPr>
          <p:cNvPr id="12" name="Text 10"/>
          <p:cNvSpPr/>
          <p:nvPr/>
        </p:nvSpPr>
        <p:spPr>
          <a:xfrm>
            <a:off x="8074152" y="2295144"/>
            <a:ext cx="3568903" cy="777240"/>
          </a:xfrm>
          <a:prstGeom prst="rect">
            <a:avLst/>
          </a:prstGeom>
          <a:noFill/>
          <a:ln/>
        </p:spPr>
        <p:txBody>
          <a:bodyPr wrap="square" lIns="0" tIns="0" rIns="0" bIns="0" rtlCol="0" anchor="ctr"/>
          <a:lstStyle/>
          <a:p>
            <a:pPr marL="0" indent="0">
              <a:lnSpc>
                <a:spcPct val="115000"/>
              </a:lnSpc>
              <a:buNone/>
            </a:pPr>
            <a:r>
              <a:rPr lang="en-US" sz="1300" b="1" dirty="0">
                <a:solidFill>
                  <a:srgbClr val="22302B"/>
                </a:solidFill>
                <a:latin typeface="Courier New" pitchFamily="34" charset="0"/>
                <a:ea typeface="Courier New" pitchFamily="34" charset="-122"/>
                <a:cs typeface="Courier New" pitchFamily="34" charset="-120"/>
              </a:rPr>
              <a:t>output:</a:t>
            </a:r>
            <a:endParaRPr lang="en-US" sz="1300" dirty="0"/>
          </a:p>
          <a:p>
            <a:pPr marL="0" indent="0">
              <a:lnSpc>
                <a:spcPct val="115000"/>
              </a:lnSpc>
              <a:buNone/>
            </a:pPr>
            <a:r>
              <a:rPr lang="en-US" sz="1150" dirty="0">
                <a:solidFill>
                  <a:srgbClr val="5C6B66"/>
                </a:solidFill>
                <a:latin typeface="Calibri" pitchFamily="34" charset="0"/>
                <a:ea typeface="Calibri" pitchFamily="34" charset="-122"/>
                <a:cs typeface="Calibri" pitchFamily="34" charset="-120"/>
              </a:rPr>
              <a:t>files this rule promises to create</a:t>
            </a:r>
            <a:endParaRPr lang="en-US" sz="1300" dirty="0"/>
          </a:p>
        </p:txBody>
      </p:sp>
      <p:sp>
        <p:nvSpPr>
          <p:cNvPr id="13" name="Shape 11"/>
          <p:cNvSpPr/>
          <p:nvPr/>
        </p:nvSpPr>
        <p:spPr>
          <a:xfrm>
            <a:off x="7772400" y="3310128"/>
            <a:ext cx="155448" cy="155448"/>
          </a:xfrm>
          <a:prstGeom prst="roundRect">
            <a:avLst>
              <a:gd name="adj" fmla="val 23529"/>
            </a:avLst>
          </a:prstGeom>
          <a:solidFill>
            <a:srgbClr val="6FCDAE"/>
          </a:solidFill>
          <a:ln/>
        </p:spPr>
        <p:txBody>
          <a:bodyPr/>
          <a:lstStyle/>
          <a:p>
            <a:endParaRPr lang="en-US"/>
          </a:p>
        </p:txBody>
      </p:sp>
      <p:sp>
        <p:nvSpPr>
          <p:cNvPr id="14" name="Text 12"/>
          <p:cNvSpPr/>
          <p:nvPr/>
        </p:nvSpPr>
        <p:spPr>
          <a:xfrm>
            <a:off x="8074152" y="3191256"/>
            <a:ext cx="3568903" cy="777240"/>
          </a:xfrm>
          <a:prstGeom prst="rect">
            <a:avLst/>
          </a:prstGeom>
          <a:noFill/>
          <a:ln/>
        </p:spPr>
        <p:txBody>
          <a:bodyPr wrap="square" lIns="0" tIns="0" rIns="0" bIns="0" rtlCol="0" anchor="ctr"/>
          <a:lstStyle/>
          <a:p>
            <a:pPr marL="0" indent="0">
              <a:lnSpc>
                <a:spcPct val="115000"/>
              </a:lnSpc>
              <a:buNone/>
            </a:pPr>
            <a:r>
              <a:rPr lang="en-US" sz="1300" b="1" dirty="0">
                <a:solidFill>
                  <a:srgbClr val="22302B"/>
                </a:solidFill>
                <a:latin typeface="Courier New" pitchFamily="34" charset="0"/>
                <a:ea typeface="Courier New" pitchFamily="34" charset="-122"/>
                <a:cs typeface="Courier New" pitchFamily="34" charset="-120"/>
              </a:rPr>
              <a:t>conda:</a:t>
            </a:r>
            <a:endParaRPr lang="en-US" sz="1300" dirty="0"/>
          </a:p>
          <a:p>
            <a:pPr marL="0" indent="0">
              <a:lnSpc>
                <a:spcPct val="115000"/>
              </a:lnSpc>
              <a:buNone/>
            </a:pPr>
            <a:r>
              <a:rPr lang="en-US" sz="1150" dirty="0">
                <a:solidFill>
                  <a:srgbClr val="5C6B66"/>
                </a:solidFill>
                <a:latin typeface="Calibri" pitchFamily="34" charset="0"/>
                <a:ea typeface="Calibri" pitchFamily="34" charset="-122"/>
                <a:cs typeface="Calibri" pitchFamily="34" charset="-120"/>
              </a:rPr>
              <a:t>the exact software environment for this step</a:t>
            </a:r>
            <a:endParaRPr lang="en-US" sz="1300" dirty="0"/>
          </a:p>
        </p:txBody>
      </p:sp>
      <p:sp>
        <p:nvSpPr>
          <p:cNvPr id="15" name="Shape 13"/>
          <p:cNvSpPr/>
          <p:nvPr/>
        </p:nvSpPr>
        <p:spPr>
          <a:xfrm>
            <a:off x="7772400" y="4206240"/>
            <a:ext cx="155448" cy="155448"/>
          </a:xfrm>
          <a:prstGeom prst="roundRect">
            <a:avLst>
              <a:gd name="adj" fmla="val 23529"/>
            </a:avLst>
          </a:prstGeom>
          <a:solidFill>
            <a:srgbClr val="6FCDAE"/>
          </a:solidFill>
          <a:ln/>
        </p:spPr>
        <p:txBody>
          <a:bodyPr/>
          <a:lstStyle/>
          <a:p>
            <a:endParaRPr lang="en-US"/>
          </a:p>
        </p:txBody>
      </p:sp>
      <p:sp>
        <p:nvSpPr>
          <p:cNvPr id="16" name="Text 14"/>
          <p:cNvSpPr/>
          <p:nvPr/>
        </p:nvSpPr>
        <p:spPr>
          <a:xfrm>
            <a:off x="8074152" y="4087368"/>
            <a:ext cx="3568903" cy="777240"/>
          </a:xfrm>
          <a:prstGeom prst="rect">
            <a:avLst/>
          </a:prstGeom>
          <a:noFill/>
          <a:ln/>
        </p:spPr>
        <p:txBody>
          <a:bodyPr wrap="square" lIns="0" tIns="0" rIns="0" bIns="0" rtlCol="0" anchor="ctr"/>
          <a:lstStyle/>
          <a:p>
            <a:pPr marL="0" indent="0">
              <a:lnSpc>
                <a:spcPct val="115000"/>
              </a:lnSpc>
              <a:buNone/>
            </a:pPr>
            <a:r>
              <a:rPr lang="en-US" sz="1300" b="1" dirty="0">
                <a:solidFill>
                  <a:srgbClr val="22302B"/>
                </a:solidFill>
                <a:latin typeface="Courier New" pitchFamily="34" charset="0"/>
                <a:ea typeface="Courier New" pitchFamily="34" charset="-122"/>
                <a:cs typeface="Courier New" pitchFamily="34" charset="-120"/>
              </a:rPr>
              <a:t>shell:</a:t>
            </a:r>
            <a:endParaRPr lang="en-US" sz="1300" dirty="0"/>
          </a:p>
          <a:p>
            <a:pPr marL="0" indent="0">
              <a:lnSpc>
                <a:spcPct val="115000"/>
              </a:lnSpc>
              <a:buNone/>
            </a:pPr>
            <a:r>
              <a:rPr lang="en-US" sz="1150" dirty="0">
                <a:solidFill>
                  <a:srgbClr val="5C6B66"/>
                </a:solidFill>
                <a:latin typeface="Calibri" pitchFamily="34" charset="0"/>
                <a:ea typeface="Calibri" pitchFamily="34" charset="-122"/>
                <a:cs typeface="Calibri" pitchFamily="34" charset="-120"/>
              </a:rPr>
              <a:t>the command — {input}/{output} auto-fill</a:t>
            </a:r>
            <a:endParaRPr lang="en-US" sz="1300" dirty="0"/>
          </a:p>
        </p:txBody>
      </p:sp>
      <p:sp>
        <p:nvSpPr>
          <p:cNvPr id="17" name="Text 15"/>
          <p:cNvSpPr/>
          <p:nvPr/>
        </p:nvSpPr>
        <p:spPr>
          <a:xfrm>
            <a:off x="548640" y="5696712"/>
            <a:ext cx="11094415" cy="457200"/>
          </a:xfrm>
          <a:prstGeom prst="rect">
            <a:avLst/>
          </a:prstGeom>
          <a:noFill/>
          <a:ln/>
        </p:spPr>
        <p:txBody>
          <a:bodyPr wrap="square" rtlCol="0" anchor="ctr"/>
          <a:lstStyle/>
          <a:p>
            <a:pPr marL="0" indent="0">
              <a:lnSpc>
                <a:spcPct val="125000"/>
              </a:lnSpc>
              <a:buNone/>
            </a:pPr>
            <a:r>
              <a:rPr lang="en-US" sz="1250" b="1" dirty="0">
                <a:solidFill>
                  <a:srgbClr val="22302B"/>
                </a:solidFill>
                <a:latin typeface="Calibri" pitchFamily="34" charset="0"/>
                <a:ea typeface="Calibri" pitchFamily="34" charset="-122"/>
                <a:cs typeface="Calibri" pitchFamily="34" charset="-120"/>
              </a:rPr>
              <a:t>Beyond shell: </a:t>
            </a:r>
            <a:r>
              <a:rPr lang="en-US" sz="1250" dirty="0">
                <a:solidFill>
                  <a:srgbClr val="5C6B66"/>
                </a:solidFill>
                <a:latin typeface="Calibri" pitchFamily="34" charset="0"/>
                <a:ea typeface="Calibri" pitchFamily="34" charset="-122"/>
                <a:cs typeface="Calibri" pitchFamily="34" charset="-120"/>
              </a:rPr>
              <a:t>swap shell: for script: (a .py/.R file) or run: (inline Python) when a step needs more than a command line.</a:t>
            </a:r>
            <a:endParaRPr lang="en-US" sz="1250" dirty="0"/>
          </a:p>
        </p:txBody>
      </p:sp>
      <p:sp>
        <p:nvSpPr>
          <p:cNvPr id="18" name="Text 16"/>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19" name="Text 17"/>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OVERVIEW OF SNAKEMAKE</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3200" b="1" dirty="0">
                <a:solidFill>
                  <a:srgbClr val="22302B"/>
                </a:solidFill>
                <a:latin typeface="Calibri" pitchFamily="34" charset="0"/>
                <a:ea typeface="Calibri" pitchFamily="34" charset="-122"/>
                <a:cs typeface="Calibri" pitchFamily="34" charset="-120"/>
              </a:rPr>
              <a:t>Generating a pipeline</a:t>
            </a:r>
            <a:endParaRPr lang="en-US" sz="3200" dirty="0"/>
          </a:p>
        </p:txBody>
      </p:sp>
      <p:sp>
        <p:nvSpPr>
          <p:cNvPr id="4" name="Text 2"/>
          <p:cNvSpPr/>
          <p:nvPr/>
        </p:nvSpPr>
        <p:spPr>
          <a:xfrm>
            <a:off x="548640" y="1298448"/>
            <a:ext cx="11094415" cy="502920"/>
          </a:xfrm>
          <a:prstGeom prst="rect">
            <a:avLst/>
          </a:prstGeom>
          <a:noFill/>
          <a:ln/>
        </p:spPr>
        <p:txBody>
          <a:bodyPr wrap="square" rtlCol="0" anchor="ctr"/>
          <a:lstStyle/>
          <a:p>
            <a:pPr marL="0" indent="0">
              <a:lnSpc>
                <a:spcPct val="125000"/>
              </a:lnSpc>
              <a:buNone/>
            </a:pPr>
            <a:r>
              <a:rPr lang="en-US" sz="1350" dirty="0">
                <a:solidFill>
                  <a:srgbClr val="5C6B66"/>
                </a:solidFill>
                <a:latin typeface="Calibri" pitchFamily="34" charset="0"/>
                <a:ea typeface="Calibri" pitchFamily="34" charset="-122"/>
                <a:cs typeface="Calibri" pitchFamily="34" charset="-120"/>
              </a:rPr>
              <a:t>By convention the first rule, all, lists the final files you want. Snakemake works backward from there, chaining whichever rules are needed.</a:t>
            </a:r>
            <a:endParaRPr lang="en-US" sz="1350" dirty="0"/>
          </a:p>
        </p:txBody>
      </p:sp>
      <p:sp>
        <p:nvSpPr>
          <p:cNvPr id="5" name="Shape 3"/>
          <p:cNvSpPr/>
          <p:nvPr/>
        </p:nvSpPr>
        <p:spPr>
          <a:xfrm>
            <a:off x="548640" y="1920240"/>
            <a:ext cx="11094415" cy="1280160"/>
          </a:xfrm>
          <a:prstGeom prst="roundRect">
            <a:avLst>
              <a:gd name="adj" fmla="val 6429"/>
            </a:avLst>
          </a:prstGeom>
          <a:solidFill>
            <a:srgbClr val="17211D"/>
          </a:solidFill>
          <a:ln/>
        </p:spPr>
        <p:txBody>
          <a:bodyPr/>
          <a:lstStyle/>
          <a:p>
            <a:endParaRPr lang="en-US"/>
          </a:p>
        </p:txBody>
      </p:sp>
      <p:sp>
        <p:nvSpPr>
          <p:cNvPr id="6" name="Shape 4"/>
          <p:cNvSpPr/>
          <p:nvPr/>
        </p:nvSpPr>
        <p:spPr>
          <a:xfrm>
            <a:off x="749808" y="2084832"/>
            <a:ext cx="64008" cy="64008"/>
          </a:xfrm>
          <a:prstGeom prst="ellipse">
            <a:avLst/>
          </a:prstGeom>
          <a:solidFill>
            <a:srgbClr val="E0972E"/>
          </a:solidFill>
          <a:ln/>
        </p:spPr>
        <p:txBody>
          <a:bodyPr/>
          <a:lstStyle/>
          <a:p>
            <a:endParaRPr lang="en-US"/>
          </a:p>
        </p:txBody>
      </p:sp>
      <p:sp>
        <p:nvSpPr>
          <p:cNvPr id="7" name="Shape 5"/>
          <p:cNvSpPr/>
          <p:nvPr/>
        </p:nvSpPr>
        <p:spPr>
          <a:xfrm>
            <a:off x="950976" y="2084832"/>
            <a:ext cx="64008" cy="64008"/>
          </a:xfrm>
          <a:prstGeom prst="ellipse">
            <a:avLst/>
          </a:prstGeom>
          <a:solidFill>
            <a:srgbClr val="6FCDAE"/>
          </a:solidFill>
          <a:ln/>
        </p:spPr>
        <p:txBody>
          <a:bodyPr/>
          <a:lstStyle/>
          <a:p>
            <a:endParaRPr lang="en-US"/>
          </a:p>
        </p:txBody>
      </p:sp>
      <p:sp>
        <p:nvSpPr>
          <p:cNvPr id="8" name="Shape 6"/>
          <p:cNvSpPr/>
          <p:nvPr/>
        </p:nvSpPr>
        <p:spPr>
          <a:xfrm>
            <a:off x="1152144" y="2084832"/>
            <a:ext cx="64008" cy="64008"/>
          </a:xfrm>
          <a:prstGeom prst="ellipse">
            <a:avLst/>
          </a:prstGeom>
          <a:solidFill>
            <a:srgbClr val="8A9995"/>
          </a:solidFill>
          <a:ln/>
        </p:spPr>
        <p:txBody>
          <a:bodyPr/>
          <a:lstStyle/>
          <a:p>
            <a:endParaRPr lang="en-US"/>
          </a:p>
        </p:txBody>
      </p:sp>
      <p:sp>
        <p:nvSpPr>
          <p:cNvPr id="9" name="Text 7"/>
          <p:cNvSpPr/>
          <p:nvPr/>
        </p:nvSpPr>
        <p:spPr>
          <a:xfrm>
            <a:off x="804672" y="2340864"/>
            <a:ext cx="10582351" cy="676656"/>
          </a:xfrm>
          <a:prstGeom prst="rect">
            <a:avLst/>
          </a:prstGeom>
          <a:noFill/>
          <a:ln/>
        </p:spPr>
        <p:txBody>
          <a:bodyPr wrap="square" rtlCol="0" anchor="t"/>
          <a:lstStyle/>
          <a:p>
            <a:pPr marL="0" indent="0">
              <a:lnSpc>
                <a:spcPct val="128000"/>
              </a:lnSpc>
              <a:buNone/>
            </a:pPr>
            <a:r>
              <a:rPr lang="en-US" sz="1350" dirty="0">
                <a:solidFill>
                  <a:srgbClr val="6FCDAE"/>
                </a:solidFill>
                <a:latin typeface="Courier New" pitchFamily="34" charset="0"/>
                <a:ea typeface="Courier New" pitchFamily="34" charset="-122"/>
                <a:cs typeface="Courier New" pitchFamily="34" charset="-120"/>
              </a:rPr>
              <a:t>rule </a:t>
            </a:r>
            <a:r>
              <a:rPr lang="en-US" sz="1350" dirty="0">
                <a:solidFill>
                  <a:srgbClr val="E7EEEB"/>
                </a:solidFill>
                <a:latin typeface="Courier New" pitchFamily="34" charset="0"/>
                <a:ea typeface="Courier New" pitchFamily="34" charset="-122"/>
                <a:cs typeface="Courier New" pitchFamily="34" charset="-120"/>
              </a:rPr>
              <a:t>all:</a:t>
            </a:r>
            <a:endParaRPr lang="en-US" sz="1350" dirty="0"/>
          </a:p>
          <a:p>
            <a:pPr marL="0" indent="0">
              <a:lnSpc>
                <a:spcPct val="128000"/>
              </a:lnSpc>
              <a:buNone/>
            </a:pPr>
            <a:r>
              <a:rPr lang="en-US" sz="1350" dirty="0">
                <a:solidFill>
                  <a:srgbClr val="6FCDAE"/>
                </a:solidFill>
                <a:latin typeface="Courier New" pitchFamily="34" charset="0"/>
                <a:ea typeface="Courier New" pitchFamily="34" charset="-122"/>
                <a:cs typeface="Courier New" pitchFamily="34" charset="-120"/>
              </a:rPr>
              <a:t>    input:</a:t>
            </a:r>
            <a:endParaRPr lang="en-US" sz="1350" dirty="0"/>
          </a:p>
          <a:p>
            <a:pPr marL="0" indent="0">
              <a:lnSpc>
                <a:spcPct val="128000"/>
              </a:lnSpc>
              <a:buNone/>
            </a:pPr>
            <a:r>
              <a:rPr lang="en-US" sz="1350" dirty="0">
                <a:solidFill>
                  <a:srgbClr val="E7EEEB"/>
                </a:solidFill>
                <a:latin typeface="Courier New" pitchFamily="34" charset="0"/>
                <a:ea typeface="Courier New" pitchFamily="34" charset="-122"/>
                <a:cs typeface="Courier New" pitchFamily="34" charset="-120"/>
              </a:rPr>
              <a:t>        </a:t>
            </a:r>
            <a:r>
              <a:rPr lang="en-US" sz="1350" dirty="0">
                <a:solidFill>
                  <a:srgbClr val="6FCDAE"/>
                </a:solidFill>
                <a:latin typeface="Courier New" pitchFamily="34" charset="0"/>
                <a:ea typeface="Courier New" pitchFamily="34" charset="-122"/>
                <a:cs typeface="Courier New" pitchFamily="34" charset="-120"/>
              </a:rPr>
              <a:t>expand</a:t>
            </a:r>
            <a:r>
              <a:rPr lang="en-US" sz="1350" dirty="0">
                <a:solidFill>
                  <a:srgbClr val="E0972E"/>
                </a:solidFill>
                <a:latin typeface="Courier New" pitchFamily="34" charset="0"/>
                <a:ea typeface="Courier New" pitchFamily="34" charset="-122"/>
                <a:cs typeface="Courier New" pitchFamily="34" charset="-120"/>
              </a:rPr>
              <a:t>("results/{sample}_report.html", sample=SAMPLES)</a:t>
            </a:r>
            <a:endParaRPr lang="en-US" sz="1350" dirty="0"/>
          </a:p>
        </p:txBody>
      </p:sp>
      <p:sp>
        <p:nvSpPr>
          <p:cNvPr id="10" name="Text 8"/>
          <p:cNvSpPr/>
          <p:nvPr/>
        </p:nvSpPr>
        <p:spPr>
          <a:xfrm>
            <a:off x="548640" y="3337560"/>
            <a:ext cx="11094415" cy="457200"/>
          </a:xfrm>
          <a:prstGeom prst="rect">
            <a:avLst/>
          </a:prstGeom>
          <a:noFill/>
          <a:ln/>
        </p:spPr>
        <p:txBody>
          <a:bodyPr wrap="square" rtlCol="0" anchor="ctr"/>
          <a:lstStyle/>
          <a:p>
            <a:pPr marL="0" indent="0">
              <a:lnSpc>
                <a:spcPct val="125000"/>
              </a:lnSpc>
              <a:buNone/>
            </a:pPr>
            <a:r>
              <a:rPr lang="en-US" sz="1300" b="1" dirty="0">
                <a:solidFill>
                  <a:srgbClr val="039475"/>
                </a:solidFill>
                <a:latin typeface="Courier New" pitchFamily="34" charset="0"/>
                <a:ea typeface="Courier New" pitchFamily="34" charset="-122"/>
                <a:cs typeface="Courier New" pitchFamily="34" charset="-120"/>
              </a:rPr>
              <a:t>expand()</a:t>
            </a:r>
            <a:r>
              <a:rPr lang="en-US" sz="1300" dirty="0">
                <a:solidFill>
                  <a:srgbClr val="22302B"/>
                </a:solidFill>
                <a:latin typeface="Calibri" pitchFamily="34" charset="0"/>
                <a:ea typeface="Calibri" pitchFamily="34" charset="-122"/>
                <a:cs typeface="Calibri" pitchFamily="34" charset="-120"/>
              </a:rPr>
              <a:t>  turns a list of sample names into a list of target files — one target per sample, still just one rule.</a:t>
            </a:r>
            <a:endParaRPr lang="en-US" sz="1300" dirty="0"/>
          </a:p>
        </p:txBody>
      </p:sp>
      <p:sp>
        <p:nvSpPr>
          <p:cNvPr id="11" name="Shape 9"/>
          <p:cNvSpPr/>
          <p:nvPr/>
        </p:nvSpPr>
        <p:spPr>
          <a:xfrm>
            <a:off x="1395832" y="4160520"/>
            <a:ext cx="1572768" cy="658368"/>
          </a:xfrm>
          <a:prstGeom prst="roundRect">
            <a:avLst>
              <a:gd name="adj" fmla="val 12500"/>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12" name="Text 10"/>
          <p:cNvSpPr/>
          <p:nvPr/>
        </p:nvSpPr>
        <p:spPr>
          <a:xfrm>
            <a:off x="1395832" y="4160520"/>
            <a:ext cx="1572768" cy="65836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trim</a:t>
            </a:r>
            <a:endParaRPr lang="en-US" sz="1300" dirty="0"/>
          </a:p>
        </p:txBody>
      </p:sp>
      <p:sp>
        <p:nvSpPr>
          <p:cNvPr id="13" name="Shape 11"/>
          <p:cNvSpPr/>
          <p:nvPr/>
        </p:nvSpPr>
        <p:spPr>
          <a:xfrm>
            <a:off x="2968600" y="4489704"/>
            <a:ext cx="384048" cy="0"/>
          </a:xfrm>
          <a:prstGeom prst="line">
            <a:avLst/>
          </a:prstGeom>
          <a:noFill/>
          <a:ln w="22225">
            <a:solidFill>
              <a:srgbClr val="22302B"/>
            </a:solidFill>
            <a:prstDash val="solid"/>
            <a:tailEnd type="triangle"/>
          </a:ln>
        </p:spPr>
        <p:txBody>
          <a:bodyPr/>
          <a:lstStyle/>
          <a:p>
            <a:endParaRPr lang="en-US"/>
          </a:p>
        </p:txBody>
      </p:sp>
      <p:sp>
        <p:nvSpPr>
          <p:cNvPr id="14" name="Shape 12"/>
          <p:cNvSpPr/>
          <p:nvPr/>
        </p:nvSpPr>
        <p:spPr>
          <a:xfrm>
            <a:off x="3352648" y="4160520"/>
            <a:ext cx="1572768" cy="658368"/>
          </a:xfrm>
          <a:prstGeom prst="roundRect">
            <a:avLst>
              <a:gd name="adj" fmla="val 12500"/>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15" name="Text 13"/>
          <p:cNvSpPr/>
          <p:nvPr/>
        </p:nvSpPr>
        <p:spPr>
          <a:xfrm>
            <a:off x="3352648" y="4160520"/>
            <a:ext cx="1572768" cy="65836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assemble</a:t>
            </a:r>
            <a:endParaRPr lang="en-US" sz="1300" dirty="0"/>
          </a:p>
        </p:txBody>
      </p:sp>
      <p:sp>
        <p:nvSpPr>
          <p:cNvPr id="16" name="Shape 14"/>
          <p:cNvSpPr/>
          <p:nvPr/>
        </p:nvSpPr>
        <p:spPr>
          <a:xfrm>
            <a:off x="4925416" y="4489704"/>
            <a:ext cx="384048" cy="0"/>
          </a:xfrm>
          <a:prstGeom prst="line">
            <a:avLst/>
          </a:prstGeom>
          <a:noFill/>
          <a:ln w="22225">
            <a:solidFill>
              <a:srgbClr val="22302B"/>
            </a:solidFill>
            <a:prstDash val="solid"/>
            <a:tailEnd type="triangle"/>
          </a:ln>
        </p:spPr>
        <p:txBody>
          <a:bodyPr/>
          <a:lstStyle/>
          <a:p>
            <a:endParaRPr lang="en-US"/>
          </a:p>
        </p:txBody>
      </p:sp>
      <p:sp>
        <p:nvSpPr>
          <p:cNvPr id="17" name="Shape 15"/>
          <p:cNvSpPr/>
          <p:nvPr/>
        </p:nvSpPr>
        <p:spPr>
          <a:xfrm>
            <a:off x="5309464" y="4160520"/>
            <a:ext cx="1572768" cy="658368"/>
          </a:xfrm>
          <a:prstGeom prst="roundRect">
            <a:avLst>
              <a:gd name="adj" fmla="val 12500"/>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18" name="Text 16"/>
          <p:cNvSpPr/>
          <p:nvPr/>
        </p:nvSpPr>
        <p:spPr>
          <a:xfrm>
            <a:off x="5309464" y="4160520"/>
            <a:ext cx="1572768" cy="65836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bin</a:t>
            </a:r>
            <a:endParaRPr lang="en-US" sz="1300" dirty="0"/>
          </a:p>
        </p:txBody>
      </p:sp>
      <p:sp>
        <p:nvSpPr>
          <p:cNvPr id="19" name="Shape 17"/>
          <p:cNvSpPr/>
          <p:nvPr/>
        </p:nvSpPr>
        <p:spPr>
          <a:xfrm>
            <a:off x="6882232" y="4489704"/>
            <a:ext cx="384048" cy="0"/>
          </a:xfrm>
          <a:prstGeom prst="line">
            <a:avLst/>
          </a:prstGeom>
          <a:noFill/>
          <a:ln w="22225">
            <a:solidFill>
              <a:srgbClr val="22302B"/>
            </a:solidFill>
            <a:prstDash val="solid"/>
            <a:tailEnd type="triangle"/>
          </a:ln>
        </p:spPr>
        <p:txBody>
          <a:bodyPr/>
          <a:lstStyle/>
          <a:p>
            <a:endParaRPr lang="en-US"/>
          </a:p>
        </p:txBody>
      </p:sp>
      <p:sp>
        <p:nvSpPr>
          <p:cNvPr id="20" name="Shape 18"/>
          <p:cNvSpPr/>
          <p:nvPr/>
        </p:nvSpPr>
        <p:spPr>
          <a:xfrm>
            <a:off x="7266280" y="4160520"/>
            <a:ext cx="1572768" cy="658368"/>
          </a:xfrm>
          <a:prstGeom prst="roundRect">
            <a:avLst>
              <a:gd name="adj" fmla="val 12500"/>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21" name="Text 19"/>
          <p:cNvSpPr/>
          <p:nvPr/>
        </p:nvSpPr>
        <p:spPr>
          <a:xfrm>
            <a:off x="7266280" y="4160520"/>
            <a:ext cx="1572768" cy="65836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profile</a:t>
            </a:r>
            <a:endParaRPr lang="en-US" sz="1300" dirty="0"/>
          </a:p>
        </p:txBody>
      </p:sp>
      <p:sp>
        <p:nvSpPr>
          <p:cNvPr id="22" name="Shape 20"/>
          <p:cNvSpPr/>
          <p:nvPr/>
        </p:nvSpPr>
        <p:spPr>
          <a:xfrm>
            <a:off x="8839048" y="4489704"/>
            <a:ext cx="384048" cy="0"/>
          </a:xfrm>
          <a:prstGeom prst="line">
            <a:avLst/>
          </a:prstGeom>
          <a:noFill/>
          <a:ln w="22225">
            <a:solidFill>
              <a:srgbClr val="22302B"/>
            </a:solidFill>
            <a:prstDash val="solid"/>
            <a:tailEnd type="triangle"/>
          </a:ln>
        </p:spPr>
        <p:txBody>
          <a:bodyPr/>
          <a:lstStyle/>
          <a:p>
            <a:endParaRPr lang="en-US"/>
          </a:p>
        </p:txBody>
      </p:sp>
      <p:sp>
        <p:nvSpPr>
          <p:cNvPr id="23" name="Shape 21"/>
          <p:cNvSpPr/>
          <p:nvPr/>
        </p:nvSpPr>
        <p:spPr>
          <a:xfrm>
            <a:off x="9223096" y="4160520"/>
            <a:ext cx="1572768" cy="658368"/>
          </a:xfrm>
          <a:prstGeom prst="roundRect">
            <a:avLst>
              <a:gd name="adj" fmla="val 12500"/>
            </a:avLst>
          </a:prstGeom>
          <a:solidFill>
            <a:srgbClr val="E0972E"/>
          </a:solidFill>
          <a:ln/>
          <a:effectLst>
            <a:outerShdw blurRad="76200" dist="25400" dir="5400000" algn="bl" rotWithShape="0">
              <a:srgbClr val="1B2E27">
                <a:alpha val="18000"/>
              </a:srgbClr>
            </a:outerShdw>
          </a:effectLst>
        </p:spPr>
        <p:txBody>
          <a:bodyPr/>
          <a:lstStyle/>
          <a:p>
            <a:endParaRPr lang="en-US"/>
          </a:p>
        </p:txBody>
      </p:sp>
      <p:sp>
        <p:nvSpPr>
          <p:cNvPr id="24" name="Text 22"/>
          <p:cNvSpPr/>
          <p:nvPr/>
        </p:nvSpPr>
        <p:spPr>
          <a:xfrm>
            <a:off x="9223096" y="4160520"/>
            <a:ext cx="1572768" cy="65836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report</a:t>
            </a:r>
            <a:endParaRPr lang="en-US" sz="1300" dirty="0"/>
          </a:p>
        </p:txBody>
      </p:sp>
      <p:sp>
        <p:nvSpPr>
          <p:cNvPr id="25" name="Text 23"/>
          <p:cNvSpPr/>
          <p:nvPr/>
        </p:nvSpPr>
        <p:spPr>
          <a:xfrm>
            <a:off x="548640" y="5074920"/>
            <a:ext cx="11094415" cy="502920"/>
          </a:xfrm>
          <a:prstGeom prst="rect">
            <a:avLst/>
          </a:prstGeom>
          <a:noFill/>
          <a:ln/>
        </p:spPr>
        <p:txBody>
          <a:bodyPr wrap="square" rtlCol="0" anchor="ctr"/>
          <a:lstStyle/>
          <a:p>
            <a:pPr marL="0" indent="0">
              <a:lnSpc>
                <a:spcPct val="120000"/>
              </a:lnSpc>
              <a:buNone/>
            </a:pPr>
            <a:r>
              <a:rPr lang="en-US" sz="1250" i="1" dirty="0">
                <a:solidFill>
                  <a:srgbClr val="5C6B66"/>
                </a:solidFill>
                <a:latin typeface="Calibri" pitchFamily="34" charset="0"/>
                <a:ea typeface="Calibri" pitchFamily="34" charset="-122"/>
                <a:cs typeface="Calibri" pitchFamily="34" charset="-120"/>
              </a:rPr>
              <a:t>Ask for the final report — Snakemake figures out that trimming → assembly → binning → profiling has to happen first, in that order.</a:t>
            </a:r>
            <a:endParaRPr lang="en-US" sz="1250" dirty="0"/>
          </a:p>
        </p:txBody>
      </p:sp>
      <p:sp>
        <p:nvSpPr>
          <p:cNvPr id="26" name="Text 24"/>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27" name="Text 25"/>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OVERVIEW OF SNAKEMAKE</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3200" b="1" dirty="0">
                <a:solidFill>
                  <a:srgbClr val="22302B"/>
                </a:solidFill>
                <a:latin typeface="Calibri" pitchFamily="34" charset="0"/>
                <a:ea typeface="Calibri" pitchFamily="34" charset="-122"/>
                <a:cs typeface="Calibri" pitchFamily="34" charset="-120"/>
              </a:rPr>
              <a:t>Running Snakemake</a:t>
            </a:r>
            <a:endParaRPr lang="en-US" sz="3200" dirty="0"/>
          </a:p>
        </p:txBody>
      </p:sp>
      <p:sp>
        <p:nvSpPr>
          <p:cNvPr id="4" name="Shape 2"/>
          <p:cNvSpPr/>
          <p:nvPr/>
        </p:nvSpPr>
        <p:spPr>
          <a:xfrm>
            <a:off x="548640" y="1481328"/>
            <a:ext cx="4160520" cy="512064"/>
          </a:xfrm>
          <a:prstGeom prst="roundRect">
            <a:avLst>
              <a:gd name="adj" fmla="val 14286"/>
            </a:avLst>
          </a:prstGeom>
          <a:solidFill>
            <a:srgbClr val="17211D"/>
          </a:solidFill>
          <a:ln/>
        </p:spPr>
        <p:txBody>
          <a:bodyPr/>
          <a:lstStyle/>
          <a:p>
            <a:endParaRPr lang="en-US"/>
          </a:p>
        </p:txBody>
      </p:sp>
      <p:sp>
        <p:nvSpPr>
          <p:cNvPr id="5" name="Text 3"/>
          <p:cNvSpPr/>
          <p:nvPr/>
        </p:nvSpPr>
        <p:spPr>
          <a:xfrm>
            <a:off x="731520" y="1481328"/>
            <a:ext cx="3794760" cy="512064"/>
          </a:xfrm>
          <a:prstGeom prst="rect">
            <a:avLst/>
          </a:prstGeom>
          <a:noFill/>
          <a:ln/>
        </p:spPr>
        <p:txBody>
          <a:bodyPr wrap="square" rtlCol="0" anchor="ctr"/>
          <a:lstStyle/>
          <a:p>
            <a:pPr marL="0" indent="0">
              <a:buNone/>
            </a:pPr>
            <a:r>
              <a:rPr lang="en-US" sz="1200" dirty="0">
                <a:solidFill>
                  <a:srgbClr val="6FCDAE"/>
                </a:solidFill>
                <a:latin typeface="Courier New" pitchFamily="34" charset="0"/>
                <a:ea typeface="Courier New" pitchFamily="34" charset="-122"/>
                <a:cs typeface="Courier New" pitchFamily="34" charset="-120"/>
              </a:rPr>
              <a:t>snakemake -n</a:t>
            </a:r>
            <a:endParaRPr lang="en-US" sz="1200" dirty="0"/>
          </a:p>
        </p:txBody>
      </p:sp>
      <p:sp>
        <p:nvSpPr>
          <p:cNvPr id="6" name="Text 4"/>
          <p:cNvSpPr/>
          <p:nvPr/>
        </p:nvSpPr>
        <p:spPr>
          <a:xfrm>
            <a:off x="5029200" y="1481328"/>
            <a:ext cx="6613855" cy="512064"/>
          </a:xfrm>
          <a:prstGeom prst="rect">
            <a:avLst/>
          </a:prstGeom>
          <a:noFill/>
          <a:ln/>
        </p:spPr>
        <p:txBody>
          <a:bodyPr wrap="square" rtlCol="0" anchor="ctr"/>
          <a:lstStyle/>
          <a:p>
            <a:pPr marL="0" indent="0">
              <a:lnSpc>
                <a:spcPct val="110000"/>
              </a:lnSpc>
              <a:buNone/>
            </a:pPr>
            <a:r>
              <a:rPr lang="en-US" sz="1250" dirty="0">
                <a:solidFill>
                  <a:srgbClr val="22302B"/>
                </a:solidFill>
                <a:latin typeface="Calibri" pitchFamily="34" charset="0"/>
                <a:ea typeface="Calibri" pitchFamily="34" charset="-122"/>
                <a:cs typeface="Calibri" pitchFamily="34" charset="-120"/>
              </a:rPr>
              <a:t>Dry run — show the plan, change nothing. Always do this first.</a:t>
            </a:r>
            <a:endParaRPr lang="en-US" sz="1250" dirty="0"/>
          </a:p>
        </p:txBody>
      </p:sp>
      <p:sp>
        <p:nvSpPr>
          <p:cNvPr id="7" name="Shape 5"/>
          <p:cNvSpPr/>
          <p:nvPr/>
        </p:nvSpPr>
        <p:spPr>
          <a:xfrm>
            <a:off x="548640" y="2194560"/>
            <a:ext cx="4160520" cy="512064"/>
          </a:xfrm>
          <a:prstGeom prst="roundRect">
            <a:avLst>
              <a:gd name="adj" fmla="val 14286"/>
            </a:avLst>
          </a:prstGeom>
          <a:solidFill>
            <a:srgbClr val="17211D"/>
          </a:solidFill>
          <a:ln/>
        </p:spPr>
        <p:txBody>
          <a:bodyPr/>
          <a:lstStyle/>
          <a:p>
            <a:endParaRPr lang="en-US"/>
          </a:p>
        </p:txBody>
      </p:sp>
      <p:sp>
        <p:nvSpPr>
          <p:cNvPr id="8" name="Text 6"/>
          <p:cNvSpPr/>
          <p:nvPr/>
        </p:nvSpPr>
        <p:spPr>
          <a:xfrm>
            <a:off x="731520" y="2194560"/>
            <a:ext cx="3794760" cy="512064"/>
          </a:xfrm>
          <a:prstGeom prst="rect">
            <a:avLst/>
          </a:prstGeom>
          <a:noFill/>
          <a:ln/>
        </p:spPr>
        <p:txBody>
          <a:bodyPr wrap="square" rtlCol="0" anchor="ctr"/>
          <a:lstStyle/>
          <a:p>
            <a:pPr marL="0" indent="0">
              <a:buNone/>
            </a:pPr>
            <a:r>
              <a:rPr lang="en-US" sz="1200" dirty="0">
                <a:solidFill>
                  <a:srgbClr val="6FCDAE"/>
                </a:solidFill>
                <a:latin typeface="Courier New" pitchFamily="34" charset="0"/>
                <a:ea typeface="Courier New" pitchFamily="34" charset="-122"/>
                <a:cs typeface="Courier New" pitchFamily="34" charset="-120"/>
              </a:rPr>
              <a:t>snakemake --cores 4</a:t>
            </a:r>
            <a:endParaRPr lang="en-US" sz="1200" dirty="0"/>
          </a:p>
        </p:txBody>
      </p:sp>
      <p:sp>
        <p:nvSpPr>
          <p:cNvPr id="9" name="Text 7"/>
          <p:cNvSpPr/>
          <p:nvPr/>
        </p:nvSpPr>
        <p:spPr>
          <a:xfrm>
            <a:off x="5029200" y="2194560"/>
            <a:ext cx="6613855" cy="512064"/>
          </a:xfrm>
          <a:prstGeom prst="rect">
            <a:avLst/>
          </a:prstGeom>
          <a:noFill/>
          <a:ln/>
        </p:spPr>
        <p:txBody>
          <a:bodyPr wrap="square" rtlCol="0" anchor="ctr"/>
          <a:lstStyle/>
          <a:p>
            <a:pPr marL="0" indent="0">
              <a:lnSpc>
                <a:spcPct val="110000"/>
              </a:lnSpc>
              <a:buNone/>
            </a:pPr>
            <a:r>
              <a:rPr lang="en-US" sz="1250" dirty="0">
                <a:solidFill>
                  <a:srgbClr val="22302B"/>
                </a:solidFill>
                <a:latin typeface="Calibri" pitchFamily="34" charset="0"/>
                <a:ea typeface="Calibri" pitchFamily="34" charset="-122"/>
                <a:cs typeface="Calibri" pitchFamily="34" charset="-120"/>
              </a:rPr>
              <a:t>Execute the workflow, using up to 4 cores.</a:t>
            </a:r>
            <a:endParaRPr lang="en-US" sz="1250" dirty="0"/>
          </a:p>
        </p:txBody>
      </p:sp>
      <p:sp>
        <p:nvSpPr>
          <p:cNvPr id="10" name="Shape 8"/>
          <p:cNvSpPr/>
          <p:nvPr/>
        </p:nvSpPr>
        <p:spPr>
          <a:xfrm>
            <a:off x="548640" y="2907792"/>
            <a:ext cx="4160520" cy="512064"/>
          </a:xfrm>
          <a:prstGeom prst="roundRect">
            <a:avLst>
              <a:gd name="adj" fmla="val 14286"/>
            </a:avLst>
          </a:prstGeom>
          <a:solidFill>
            <a:srgbClr val="17211D"/>
          </a:solidFill>
          <a:ln/>
        </p:spPr>
        <p:txBody>
          <a:bodyPr/>
          <a:lstStyle/>
          <a:p>
            <a:endParaRPr lang="en-US"/>
          </a:p>
        </p:txBody>
      </p:sp>
      <p:sp>
        <p:nvSpPr>
          <p:cNvPr id="11" name="Text 9"/>
          <p:cNvSpPr/>
          <p:nvPr/>
        </p:nvSpPr>
        <p:spPr>
          <a:xfrm>
            <a:off x="731520" y="2907792"/>
            <a:ext cx="3794760" cy="512064"/>
          </a:xfrm>
          <a:prstGeom prst="rect">
            <a:avLst/>
          </a:prstGeom>
          <a:noFill/>
          <a:ln/>
        </p:spPr>
        <p:txBody>
          <a:bodyPr wrap="square" rtlCol="0" anchor="ctr"/>
          <a:lstStyle/>
          <a:p>
            <a:pPr marL="0" indent="0">
              <a:buNone/>
            </a:pPr>
            <a:r>
              <a:rPr lang="en-US" sz="1200" dirty="0">
                <a:solidFill>
                  <a:srgbClr val="6FCDAE"/>
                </a:solidFill>
                <a:latin typeface="Courier New" pitchFamily="34" charset="0"/>
                <a:ea typeface="Courier New" pitchFamily="34" charset="-122"/>
                <a:cs typeface="Courier New" pitchFamily="34" charset="-120"/>
              </a:rPr>
              <a:t>snakemake --use-conda</a:t>
            </a:r>
            <a:endParaRPr lang="en-US" sz="1200" dirty="0"/>
          </a:p>
        </p:txBody>
      </p:sp>
      <p:sp>
        <p:nvSpPr>
          <p:cNvPr id="12" name="Text 10"/>
          <p:cNvSpPr/>
          <p:nvPr/>
        </p:nvSpPr>
        <p:spPr>
          <a:xfrm>
            <a:off x="5029200" y="2907792"/>
            <a:ext cx="6613855" cy="512064"/>
          </a:xfrm>
          <a:prstGeom prst="rect">
            <a:avLst/>
          </a:prstGeom>
          <a:noFill/>
          <a:ln/>
        </p:spPr>
        <p:txBody>
          <a:bodyPr wrap="square" rtlCol="0" anchor="ctr"/>
          <a:lstStyle/>
          <a:p>
            <a:pPr marL="0" indent="0">
              <a:lnSpc>
                <a:spcPct val="110000"/>
              </a:lnSpc>
              <a:buNone/>
            </a:pPr>
            <a:r>
              <a:rPr lang="en-US" sz="1250" dirty="0">
                <a:solidFill>
                  <a:srgbClr val="22302B"/>
                </a:solidFill>
                <a:latin typeface="Calibri" pitchFamily="34" charset="0"/>
                <a:ea typeface="Calibri" pitchFamily="34" charset="-122"/>
                <a:cs typeface="Calibri" pitchFamily="34" charset="-120"/>
              </a:rPr>
              <a:t>Auto-create and activate each rule's conda environment.</a:t>
            </a:r>
            <a:endParaRPr lang="en-US" sz="1250" dirty="0"/>
          </a:p>
        </p:txBody>
      </p:sp>
      <p:sp>
        <p:nvSpPr>
          <p:cNvPr id="13" name="Shape 11"/>
          <p:cNvSpPr/>
          <p:nvPr/>
        </p:nvSpPr>
        <p:spPr>
          <a:xfrm>
            <a:off x="548640" y="3621024"/>
            <a:ext cx="4160520" cy="512064"/>
          </a:xfrm>
          <a:prstGeom prst="roundRect">
            <a:avLst>
              <a:gd name="adj" fmla="val 14286"/>
            </a:avLst>
          </a:prstGeom>
          <a:solidFill>
            <a:srgbClr val="17211D"/>
          </a:solidFill>
          <a:ln/>
        </p:spPr>
        <p:txBody>
          <a:bodyPr/>
          <a:lstStyle/>
          <a:p>
            <a:endParaRPr lang="en-US"/>
          </a:p>
        </p:txBody>
      </p:sp>
      <p:sp>
        <p:nvSpPr>
          <p:cNvPr id="14" name="Text 12"/>
          <p:cNvSpPr/>
          <p:nvPr/>
        </p:nvSpPr>
        <p:spPr>
          <a:xfrm>
            <a:off x="731520" y="3621024"/>
            <a:ext cx="3794760" cy="512064"/>
          </a:xfrm>
          <a:prstGeom prst="rect">
            <a:avLst/>
          </a:prstGeom>
          <a:noFill/>
          <a:ln/>
        </p:spPr>
        <p:txBody>
          <a:bodyPr wrap="square" rtlCol="0" anchor="ctr"/>
          <a:lstStyle/>
          <a:p>
            <a:pPr marL="0" indent="0">
              <a:buNone/>
            </a:pPr>
            <a:r>
              <a:rPr lang="en-US" sz="1200" dirty="0">
                <a:solidFill>
                  <a:srgbClr val="6FCDAE"/>
                </a:solidFill>
                <a:latin typeface="Courier New" pitchFamily="34" charset="0"/>
                <a:ea typeface="Courier New" pitchFamily="34" charset="-122"/>
                <a:cs typeface="Courier New" pitchFamily="34" charset="-120"/>
              </a:rPr>
              <a:t>snakemake --cores 1 -p</a:t>
            </a:r>
            <a:endParaRPr lang="en-US" sz="1200" dirty="0"/>
          </a:p>
        </p:txBody>
      </p:sp>
      <p:sp>
        <p:nvSpPr>
          <p:cNvPr id="15" name="Text 13"/>
          <p:cNvSpPr/>
          <p:nvPr/>
        </p:nvSpPr>
        <p:spPr>
          <a:xfrm>
            <a:off x="5029200" y="3621024"/>
            <a:ext cx="6613855" cy="512064"/>
          </a:xfrm>
          <a:prstGeom prst="rect">
            <a:avLst/>
          </a:prstGeom>
          <a:noFill/>
          <a:ln/>
        </p:spPr>
        <p:txBody>
          <a:bodyPr wrap="square" rtlCol="0" anchor="ctr"/>
          <a:lstStyle/>
          <a:p>
            <a:pPr marL="0" indent="0">
              <a:lnSpc>
                <a:spcPct val="110000"/>
              </a:lnSpc>
              <a:buNone/>
            </a:pPr>
            <a:r>
              <a:rPr lang="en-US" sz="1250" dirty="0">
                <a:solidFill>
                  <a:srgbClr val="22302B"/>
                </a:solidFill>
                <a:latin typeface="Calibri" pitchFamily="34" charset="0"/>
                <a:ea typeface="Calibri" pitchFamily="34" charset="-122"/>
                <a:cs typeface="Calibri" pitchFamily="34" charset="-120"/>
              </a:rPr>
              <a:t>Print the exact shell commands as they run — great for debugging.</a:t>
            </a:r>
            <a:endParaRPr lang="en-US" sz="1250" dirty="0"/>
          </a:p>
        </p:txBody>
      </p:sp>
      <p:sp>
        <p:nvSpPr>
          <p:cNvPr id="16" name="Shape 14"/>
          <p:cNvSpPr/>
          <p:nvPr/>
        </p:nvSpPr>
        <p:spPr>
          <a:xfrm>
            <a:off x="548640" y="4334256"/>
            <a:ext cx="4160520" cy="512064"/>
          </a:xfrm>
          <a:prstGeom prst="roundRect">
            <a:avLst>
              <a:gd name="adj" fmla="val 14286"/>
            </a:avLst>
          </a:prstGeom>
          <a:solidFill>
            <a:srgbClr val="17211D"/>
          </a:solidFill>
          <a:ln/>
        </p:spPr>
        <p:txBody>
          <a:bodyPr/>
          <a:lstStyle/>
          <a:p>
            <a:endParaRPr lang="en-US"/>
          </a:p>
        </p:txBody>
      </p:sp>
      <p:sp>
        <p:nvSpPr>
          <p:cNvPr id="17" name="Text 15"/>
          <p:cNvSpPr/>
          <p:nvPr/>
        </p:nvSpPr>
        <p:spPr>
          <a:xfrm>
            <a:off x="731520" y="4334256"/>
            <a:ext cx="3794760" cy="512064"/>
          </a:xfrm>
          <a:prstGeom prst="rect">
            <a:avLst/>
          </a:prstGeom>
          <a:noFill/>
          <a:ln/>
        </p:spPr>
        <p:txBody>
          <a:bodyPr wrap="square" rtlCol="0" anchor="ctr"/>
          <a:lstStyle/>
          <a:p>
            <a:pPr marL="0" indent="0">
              <a:buNone/>
            </a:pPr>
            <a:r>
              <a:rPr lang="en-US" sz="1200" dirty="0">
                <a:solidFill>
                  <a:srgbClr val="6FCDAE"/>
                </a:solidFill>
                <a:latin typeface="Courier New" pitchFamily="34" charset="0"/>
                <a:ea typeface="Courier New" pitchFamily="34" charset="-122"/>
                <a:cs typeface="Courier New" pitchFamily="34" charset="-120"/>
              </a:rPr>
              <a:t>snakemake --dag | dot -Tpng &gt; dag.png</a:t>
            </a:r>
            <a:endParaRPr lang="en-US" sz="1200" dirty="0"/>
          </a:p>
        </p:txBody>
      </p:sp>
      <p:sp>
        <p:nvSpPr>
          <p:cNvPr id="18" name="Text 16"/>
          <p:cNvSpPr/>
          <p:nvPr/>
        </p:nvSpPr>
        <p:spPr>
          <a:xfrm>
            <a:off x="5029200" y="4334256"/>
            <a:ext cx="6613855" cy="512064"/>
          </a:xfrm>
          <a:prstGeom prst="rect">
            <a:avLst/>
          </a:prstGeom>
          <a:noFill/>
          <a:ln/>
        </p:spPr>
        <p:txBody>
          <a:bodyPr wrap="square" rtlCol="0" anchor="ctr"/>
          <a:lstStyle/>
          <a:p>
            <a:pPr marL="0" indent="0">
              <a:lnSpc>
                <a:spcPct val="110000"/>
              </a:lnSpc>
              <a:buNone/>
            </a:pPr>
            <a:r>
              <a:rPr lang="en-US" sz="1250" dirty="0">
                <a:solidFill>
                  <a:srgbClr val="22302B"/>
                </a:solidFill>
                <a:latin typeface="Calibri" pitchFamily="34" charset="0"/>
                <a:ea typeface="Calibri" pitchFamily="34" charset="-122"/>
                <a:cs typeface="Calibri" pitchFamily="34" charset="-120"/>
              </a:rPr>
              <a:t>Draw the DAG as an image.</a:t>
            </a:r>
            <a:endParaRPr lang="en-US" sz="1250" dirty="0"/>
          </a:p>
        </p:txBody>
      </p:sp>
      <p:sp>
        <p:nvSpPr>
          <p:cNvPr id="19" name="Shape 17"/>
          <p:cNvSpPr/>
          <p:nvPr/>
        </p:nvSpPr>
        <p:spPr>
          <a:xfrm>
            <a:off x="548640" y="5157216"/>
            <a:ext cx="11094415" cy="841248"/>
          </a:xfrm>
          <a:prstGeom prst="roundRect">
            <a:avLst>
              <a:gd name="adj" fmla="val 10870"/>
            </a:avLst>
          </a:prstGeom>
          <a:solidFill>
            <a:srgbClr val="E4F3EF"/>
          </a:solidFill>
          <a:ln/>
        </p:spPr>
        <p:txBody>
          <a:bodyPr/>
          <a:lstStyle/>
          <a:p>
            <a:endParaRPr lang="en-US"/>
          </a:p>
        </p:txBody>
      </p:sp>
      <p:sp>
        <p:nvSpPr>
          <p:cNvPr id="20" name="Shape 18"/>
          <p:cNvSpPr/>
          <p:nvPr/>
        </p:nvSpPr>
        <p:spPr>
          <a:xfrm>
            <a:off x="804672" y="5358384"/>
            <a:ext cx="438912" cy="438912"/>
          </a:xfrm>
          <a:prstGeom prst="ellipse">
            <a:avLst/>
          </a:prstGeom>
          <a:solidFill>
            <a:srgbClr val="039475"/>
          </a:solidFill>
          <a:ln/>
        </p:spPr>
        <p:txBody>
          <a:bodyPr/>
          <a:lstStyle/>
          <a:p>
            <a:endParaRPr lang="en-US"/>
          </a:p>
        </p:txBody>
      </p:sp>
      <p:pic>
        <p:nvPicPr>
          <p:cNvPr id="21" name="Image 0" descr="/home/claude/work/build/icons/refresh_white.png"/>
          <p:cNvPicPr>
            <a:picLocks noChangeAspect="1"/>
          </p:cNvPicPr>
          <p:nvPr/>
        </p:nvPicPr>
        <p:blipFill>
          <a:blip r:embed="rId3"/>
          <a:stretch>
            <a:fillRect/>
          </a:stretch>
        </p:blipFill>
        <p:spPr>
          <a:xfrm>
            <a:off x="914400" y="5468112"/>
            <a:ext cx="219456" cy="219456"/>
          </a:xfrm>
          <a:prstGeom prst="rect">
            <a:avLst/>
          </a:prstGeom>
        </p:spPr>
      </p:pic>
      <p:sp>
        <p:nvSpPr>
          <p:cNvPr id="22" name="Text 19"/>
          <p:cNvSpPr/>
          <p:nvPr/>
        </p:nvSpPr>
        <p:spPr>
          <a:xfrm>
            <a:off x="1408176" y="5157216"/>
            <a:ext cx="9905695" cy="841248"/>
          </a:xfrm>
          <a:prstGeom prst="rect">
            <a:avLst/>
          </a:prstGeom>
          <a:noFill/>
          <a:ln/>
        </p:spPr>
        <p:txBody>
          <a:bodyPr wrap="square" rtlCol="0" anchor="ctr"/>
          <a:lstStyle/>
          <a:p>
            <a:pPr marL="0" indent="0">
              <a:lnSpc>
                <a:spcPct val="120000"/>
              </a:lnSpc>
              <a:buNone/>
            </a:pPr>
            <a:r>
              <a:rPr lang="en-US" sz="1300" b="1" dirty="0">
                <a:solidFill>
                  <a:srgbClr val="22302B"/>
                </a:solidFill>
                <a:latin typeface="Calibri" pitchFamily="34" charset="0"/>
                <a:ea typeface="Calibri" pitchFamily="34" charset="-122"/>
                <a:cs typeface="Calibri" pitchFamily="34" charset="-120"/>
              </a:rPr>
              <a:t>Smart caching:  </a:t>
            </a:r>
            <a:r>
              <a:rPr lang="en-US" sz="1300" dirty="0">
                <a:solidFill>
                  <a:srgbClr val="22302B"/>
                </a:solidFill>
                <a:latin typeface="Calibri" pitchFamily="34" charset="0"/>
                <a:ea typeface="Calibri" pitchFamily="34" charset="-122"/>
                <a:cs typeface="Calibri" pitchFamily="34" charset="-120"/>
              </a:rPr>
              <a:t>a rule only reruns if its output is missing or its input changed — like make, but for data analysis.</a:t>
            </a:r>
            <a:endParaRPr lang="en-US" sz="1300" dirty="0"/>
          </a:p>
        </p:txBody>
      </p:sp>
      <p:sp>
        <p:nvSpPr>
          <p:cNvPr id="23" name="Text 20"/>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24" name="Text 21"/>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FULL CIRCLE</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3200" b="1" dirty="0">
                <a:solidFill>
                  <a:srgbClr val="22302B"/>
                </a:solidFill>
                <a:latin typeface="Calibri" pitchFamily="34" charset="0"/>
                <a:ea typeface="Calibri" pitchFamily="34" charset="-122"/>
                <a:cs typeface="Calibri" pitchFamily="34" charset="-120"/>
              </a:rPr>
              <a:t>Back to reproducibility</a:t>
            </a:r>
            <a:endParaRPr lang="en-US" sz="3200" dirty="0"/>
          </a:p>
        </p:txBody>
      </p:sp>
      <p:sp>
        <p:nvSpPr>
          <p:cNvPr id="4" name="Shape 2"/>
          <p:cNvSpPr/>
          <p:nvPr/>
        </p:nvSpPr>
        <p:spPr>
          <a:xfrm>
            <a:off x="548640" y="1600200"/>
            <a:ext cx="5295748" cy="1874520"/>
          </a:xfrm>
          <a:prstGeom prst="roundRect">
            <a:avLst>
              <a:gd name="adj" fmla="val 4878"/>
            </a:avLst>
          </a:prstGeom>
          <a:solidFill>
            <a:srgbClr val="F7F5F2"/>
          </a:solidFill>
          <a:ln/>
        </p:spPr>
        <p:txBody>
          <a:bodyPr/>
          <a:lstStyle/>
          <a:p>
            <a:endParaRPr lang="en-US"/>
          </a:p>
        </p:txBody>
      </p:sp>
      <p:sp>
        <p:nvSpPr>
          <p:cNvPr id="5" name="Shape 3"/>
          <p:cNvSpPr/>
          <p:nvPr/>
        </p:nvSpPr>
        <p:spPr>
          <a:xfrm>
            <a:off x="859536" y="1911096"/>
            <a:ext cx="566928" cy="566928"/>
          </a:xfrm>
          <a:prstGeom prst="ellipse">
            <a:avLst/>
          </a:prstGeom>
          <a:solidFill>
            <a:srgbClr val="039475"/>
          </a:solidFill>
          <a:ln/>
        </p:spPr>
        <p:txBody>
          <a:bodyPr/>
          <a:lstStyle/>
          <a:p>
            <a:endParaRPr lang="en-US"/>
          </a:p>
        </p:txBody>
      </p:sp>
      <p:pic>
        <p:nvPicPr>
          <p:cNvPr id="6" name="Image 0" descr="/home/claude/work/build/icons/clipboard_white.png"/>
          <p:cNvPicPr>
            <a:picLocks noChangeAspect="1"/>
          </p:cNvPicPr>
          <p:nvPr/>
        </p:nvPicPr>
        <p:blipFill>
          <a:blip r:embed="rId3"/>
          <a:stretch>
            <a:fillRect/>
          </a:stretch>
        </p:blipFill>
        <p:spPr>
          <a:xfrm>
            <a:off x="1005840" y="2057400"/>
            <a:ext cx="274320" cy="274320"/>
          </a:xfrm>
          <a:prstGeom prst="rect">
            <a:avLst/>
          </a:prstGeom>
        </p:spPr>
      </p:pic>
      <p:sp>
        <p:nvSpPr>
          <p:cNvPr id="7" name="Text 4"/>
          <p:cNvSpPr/>
          <p:nvPr/>
        </p:nvSpPr>
        <p:spPr>
          <a:xfrm>
            <a:off x="859536" y="2569464"/>
            <a:ext cx="4673956" cy="329184"/>
          </a:xfrm>
          <a:prstGeom prst="rect">
            <a:avLst/>
          </a:prstGeom>
          <a:noFill/>
          <a:ln/>
        </p:spPr>
        <p:txBody>
          <a:bodyPr wrap="square" lIns="0" tIns="0" rIns="0" bIns="0" rtlCol="0" anchor="ctr"/>
          <a:lstStyle/>
          <a:p>
            <a:pPr marL="0" indent="0">
              <a:buNone/>
            </a:pPr>
            <a:r>
              <a:rPr lang="en-US" sz="1700" b="1" dirty="0">
                <a:solidFill>
                  <a:srgbClr val="22302B"/>
                </a:solidFill>
                <a:latin typeface="Calibri" pitchFamily="34" charset="0"/>
                <a:ea typeface="Calibri" pitchFamily="34" charset="-122"/>
                <a:cs typeface="Calibri" pitchFamily="34" charset="-120"/>
              </a:rPr>
              <a:t>A runnable record</a:t>
            </a:r>
            <a:endParaRPr lang="en-US" sz="1700" dirty="0"/>
          </a:p>
        </p:txBody>
      </p:sp>
      <p:sp>
        <p:nvSpPr>
          <p:cNvPr id="8" name="Text 5"/>
          <p:cNvSpPr/>
          <p:nvPr/>
        </p:nvSpPr>
        <p:spPr>
          <a:xfrm>
            <a:off x="859536" y="2935224"/>
            <a:ext cx="4673956" cy="457200"/>
          </a:xfrm>
          <a:prstGeom prst="rect">
            <a:avLst/>
          </a:prstGeom>
          <a:noFill/>
          <a:ln/>
        </p:spPr>
        <p:txBody>
          <a:bodyPr wrap="square" lIns="0" tIns="0" rIns="0" bIns="0" rtlCol="0" anchor="ctr"/>
          <a:lstStyle/>
          <a:p>
            <a:pPr marL="0" indent="0">
              <a:lnSpc>
                <a:spcPct val="120000"/>
              </a:lnSpc>
              <a:buNone/>
            </a:pPr>
            <a:r>
              <a:rPr lang="en-US" sz="1300" dirty="0">
                <a:solidFill>
                  <a:srgbClr val="5C6B66"/>
                </a:solidFill>
                <a:latin typeface="Calibri" pitchFamily="34" charset="0"/>
                <a:ea typeface="Calibri" pitchFamily="34" charset="-122"/>
                <a:cs typeface="Calibri" pitchFamily="34" charset="-120"/>
              </a:rPr>
              <a:t>the Snakefile + rules describe exactly what your analysis does, top to bottom</a:t>
            </a:r>
            <a:endParaRPr lang="en-US" sz="1300" dirty="0"/>
          </a:p>
        </p:txBody>
      </p:sp>
      <p:sp>
        <p:nvSpPr>
          <p:cNvPr id="9" name="Shape 6"/>
          <p:cNvSpPr/>
          <p:nvPr/>
        </p:nvSpPr>
        <p:spPr>
          <a:xfrm>
            <a:off x="6347308" y="1600200"/>
            <a:ext cx="5295748" cy="1874520"/>
          </a:xfrm>
          <a:prstGeom prst="roundRect">
            <a:avLst>
              <a:gd name="adj" fmla="val 4878"/>
            </a:avLst>
          </a:prstGeom>
          <a:solidFill>
            <a:srgbClr val="F7F5F2"/>
          </a:solidFill>
          <a:ln/>
        </p:spPr>
        <p:txBody>
          <a:bodyPr/>
          <a:lstStyle/>
          <a:p>
            <a:endParaRPr lang="en-US"/>
          </a:p>
        </p:txBody>
      </p:sp>
      <p:sp>
        <p:nvSpPr>
          <p:cNvPr id="10" name="Shape 7"/>
          <p:cNvSpPr/>
          <p:nvPr/>
        </p:nvSpPr>
        <p:spPr>
          <a:xfrm>
            <a:off x="6658204" y="1911096"/>
            <a:ext cx="566928" cy="566928"/>
          </a:xfrm>
          <a:prstGeom prst="ellipse">
            <a:avLst/>
          </a:prstGeom>
          <a:solidFill>
            <a:srgbClr val="039475"/>
          </a:solidFill>
          <a:ln/>
        </p:spPr>
        <p:txBody>
          <a:bodyPr/>
          <a:lstStyle/>
          <a:p>
            <a:endParaRPr lang="en-US"/>
          </a:p>
        </p:txBody>
      </p:sp>
      <p:pic>
        <p:nvPicPr>
          <p:cNvPr id="11" name="Image 1" descr="/home/claude/work/build/icons/shield_white.png"/>
          <p:cNvPicPr>
            <a:picLocks noChangeAspect="1"/>
          </p:cNvPicPr>
          <p:nvPr/>
        </p:nvPicPr>
        <p:blipFill>
          <a:blip r:embed="rId4"/>
          <a:stretch>
            <a:fillRect/>
          </a:stretch>
        </p:blipFill>
        <p:spPr>
          <a:xfrm>
            <a:off x="6804508" y="2057400"/>
            <a:ext cx="274320" cy="274320"/>
          </a:xfrm>
          <a:prstGeom prst="rect">
            <a:avLst/>
          </a:prstGeom>
        </p:spPr>
      </p:pic>
      <p:sp>
        <p:nvSpPr>
          <p:cNvPr id="12" name="Text 8"/>
          <p:cNvSpPr/>
          <p:nvPr/>
        </p:nvSpPr>
        <p:spPr>
          <a:xfrm>
            <a:off x="6658204" y="2569464"/>
            <a:ext cx="4673956" cy="329184"/>
          </a:xfrm>
          <a:prstGeom prst="rect">
            <a:avLst/>
          </a:prstGeom>
          <a:noFill/>
          <a:ln/>
        </p:spPr>
        <p:txBody>
          <a:bodyPr wrap="square" lIns="0" tIns="0" rIns="0" bIns="0" rtlCol="0" anchor="ctr"/>
          <a:lstStyle/>
          <a:p>
            <a:pPr marL="0" indent="0">
              <a:buNone/>
            </a:pPr>
            <a:r>
              <a:rPr lang="en-US" sz="1700" b="1" dirty="0">
                <a:solidFill>
                  <a:srgbClr val="22302B"/>
                </a:solidFill>
                <a:latin typeface="Calibri" pitchFamily="34" charset="0"/>
                <a:ea typeface="Calibri" pitchFamily="34" charset="-122"/>
                <a:cs typeface="Calibri" pitchFamily="34" charset="-120"/>
              </a:rPr>
              <a:t>Pinned software</a:t>
            </a:r>
            <a:endParaRPr lang="en-US" sz="1700" dirty="0"/>
          </a:p>
        </p:txBody>
      </p:sp>
      <p:sp>
        <p:nvSpPr>
          <p:cNvPr id="13" name="Text 9"/>
          <p:cNvSpPr/>
          <p:nvPr/>
        </p:nvSpPr>
        <p:spPr>
          <a:xfrm>
            <a:off x="6658204" y="2935224"/>
            <a:ext cx="4673956" cy="457200"/>
          </a:xfrm>
          <a:prstGeom prst="rect">
            <a:avLst/>
          </a:prstGeom>
          <a:noFill/>
          <a:ln/>
        </p:spPr>
        <p:txBody>
          <a:bodyPr wrap="square" lIns="0" tIns="0" rIns="0" bIns="0" rtlCol="0" anchor="ctr"/>
          <a:lstStyle/>
          <a:p>
            <a:pPr marL="0" indent="0">
              <a:lnSpc>
                <a:spcPct val="120000"/>
              </a:lnSpc>
              <a:buNone/>
            </a:pPr>
            <a:r>
              <a:rPr lang="en-US" sz="1300" dirty="0">
                <a:solidFill>
                  <a:srgbClr val="5C6B66"/>
                </a:solidFill>
                <a:latin typeface="Calibri" pitchFamily="34" charset="0"/>
                <a:ea typeface="Calibri" pitchFamily="34" charset="-122"/>
                <a:cs typeface="Calibri" pitchFamily="34" charset="-120"/>
              </a:rPr>
              <a:t>conda: environments capture exact versions — no more “it worked on my machine”</a:t>
            </a:r>
            <a:endParaRPr lang="en-US" sz="1300" dirty="0"/>
          </a:p>
        </p:txBody>
      </p:sp>
      <p:sp>
        <p:nvSpPr>
          <p:cNvPr id="14" name="Shape 10"/>
          <p:cNvSpPr/>
          <p:nvPr/>
        </p:nvSpPr>
        <p:spPr>
          <a:xfrm>
            <a:off x="548640" y="3840480"/>
            <a:ext cx="5295748" cy="1874520"/>
          </a:xfrm>
          <a:prstGeom prst="roundRect">
            <a:avLst>
              <a:gd name="adj" fmla="val 4878"/>
            </a:avLst>
          </a:prstGeom>
          <a:solidFill>
            <a:srgbClr val="F7F5F2"/>
          </a:solidFill>
          <a:ln/>
        </p:spPr>
        <p:txBody>
          <a:bodyPr/>
          <a:lstStyle/>
          <a:p>
            <a:endParaRPr lang="en-US"/>
          </a:p>
        </p:txBody>
      </p:sp>
      <p:sp>
        <p:nvSpPr>
          <p:cNvPr id="15" name="Shape 11"/>
          <p:cNvSpPr/>
          <p:nvPr/>
        </p:nvSpPr>
        <p:spPr>
          <a:xfrm>
            <a:off x="859536" y="4151376"/>
            <a:ext cx="566928" cy="566928"/>
          </a:xfrm>
          <a:prstGeom prst="ellipse">
            <a:avLst/>
          </a:prstGeom>
          <a:solidFill>
            <a:srgbClr val="039475"/>
          </a:solidFill>
          <a:ln/>
        </p:spPr>
        <p:txBody>
          <a:bodyPr/>
          <a:lstStyle/>
          <a:p>
            <a:endParaRPr lang="en-US"/>
          </a:p>
        </p:txBody>
      </p:sp>
      <p:pic>
        <p:nvPicPr>
          <p:cNvPr id="16" name="Image 2" descr="/home/claude/work/build/icons/sitemap_white.png"/>
          <p:cNvPicPr>
            <a:picLocks noChangeAspect="1"/>
          </p:cNvPicPr>
          <p:nvPr/>
        </p:nvPicPr>
        <p:blipFill>
          <a:blip r:embed="rId5"/>
          <a:stretch>
            <a:fillRect/>
          </a:stretch>
        </p:blipFill>
        <p:spPr>
          <a:xfrm>
            <a:off x="1005840" y="4297680"/>
            <a:ext cx="274320" cy="274320"/>
          </a:xfrm>
          <a:prstGeom prst="rect">
            <a:avLst/>
          </a:prstGeom>
        </p:spPr>
      </p:pic>
      <p:sp>
        <p:nvSpPr>
          <p:cNvPr id="17" name="Text 12"/>
          <p:cNvSpPr/>
          <p:nvPr/>
        </p:nvSpPr>
        <p:spPr>
          <a:xfrm>
            <a:off x="859536" y="4809744"/>
            <a:ext cx="4673956" cy="329184"/>
          </a:xfrm>
          <a:prstGeom prst="rect">
            <a:avLst/>
          </a:prstGeom>
          <a:noFill/>
          <a:ln/>
        </p:spPr>
        <p:txBody>
          <a:bodyPr wrap="square" lIns="0" tIns="0" rIns="0" bIns="0" rtlCol="0" anchor="ctr"/>
          <a:lstStyle/>
          <a:p>
            <a:pPr marL="0" indent="0">
              <a:buNone/>
            </a:pPr>
            <a:r>
              <a:rPr lang="en-US" sz="1700" b="1" dirty="0">
                <a:solidFill>
                  <a:srgbClr val="22302B"/>
                </a:solidFill>
                <a:latin typeface="Calibri" pitchFamily="34" charset="0"/>
                <a:ea typeface="Calibri" pitchFamily="34" charset="-122"/>
                <a:cs typeface="Calibri" pitchFamily="34" charset="-120"/>
              </a:rPr>
              <a:t>An audit trail</a:t>
            </a:r>
            <a:endParaRPr lang="en-US" sz="1700" dirty="0"/>
          </a:p>
        </p:txBody>
      </p:sp>
      <p:sp>
        <p:nvSpPr>
          <p:cNvPr id="18" name="Text 13"/>
          <p:cNvSpPr/>
          <p:nvPr/>
        </p:nvSpPr>
        <p:spPr>
          <a:xfrm>
            <a:off x="859536" y="5175504"/>
            <a:ext cx="4673956" cy="457200"/>
          </a:xfrm>
          <a:prstGeom prst="rect">
            <a:avLst/>
          </a:prstGeom>
          <a:noFill/>
          <a:ln/>
        </p:spPr>
        <p:txBody>
          <a:bodyPr wrap="square" lIns="0" tIns="0" rIns="0" bIns="0" rtlCol="0" anchor="ctr"/>
          <a:lstStyle/>
          <a:p>
            <a:pPr marL="0" indent="0">
              <a:lnSpc>
                <a:spcPct val="120000"/>
              </a:lnSpc>
              <a:buNone/>
            </a:pPr>
            <a:r>
              <a:rPr lang="en-US" sz="1300" dirty="0">
                <a:solidFill>
                  <a:srgbClr val="5C6B66"/>
                </a:solidFill>
                <a:latin typeface="Calibri" pitchFamily="34" charset="0"/>
                <a:ea typeface="Calibri" pitchFamily="34" charset="-122"/>
                <a:cs typeface="Calibri" pitchFamily="34" charset="-120"/>
              </a:rPr>
              <a:t>the DAG and logs record what ran, when, and why</a:t>
            </a:r>
            <a:endParaRPr lang="en-US" sz="1300" dirty="0"/>
          </a:p>
        </p:txBody>
      </p:sp>
      <p:sp>
        <p:nvSpPr>
          <p:cNvPr id="19" name="Shape 14"/>
          <p:cNvSpPr/>
          <p:nvPr/>
        </p:nvSpPr>
        <p:spPr>
          <a:xfrm>
            <a:off x="6347308" y="3840480"/>
            <a:ext cx="5295748" cy="1874520"/>
          </a:xfrm>
          <a:prstGeom prst="roundRect">
            <a:avLst>
              <a:gd name="adj" fmla="val 4878"/>
            </a:avLst>
          </a:prstGeom>
          <a:solidFill>
            <a:srgbClr val="F7F5F2"/>
          </a:solidFill>
          <a:ln/>
        </p:spPr>
        <p:txBody>
          <a:bodyPr/>
          <a:lstStyle/>
          <a:p>
            <a:endParaRPr lang="en-US"/>
          </a:p>
        </p:txBody>
      </p:sp>
      <p:sp>
        <p:nvSpPr>
          <p:cNvPr id="20" name="Shape 15"/>
          <p:cNvSpPr/>
          <p:nvPr/>
        </p:nvSpPr>
        <p:spPr>
          <a:xfrm>
            <a:off x="6658204" y="4151376"/>
            <a:ext cx="566928" cy="566928"/>
          </a:xfrm>
          <a:prstGeom prst="ellipse">
            <a:avLst/>
          </a:prstGeom>
          <a:solidFill>
            <a:srgbClr val="039475"/>
          </a:solidFill>
          <a:ln/>
        </p:spPr>
        <p:txBody>
          <a:bodyPr/>
          <a:lstStyle/>
          <a:p>
            <a:endParaRPr lang="en-US"/>
          </a:p>
        </p:txBody>
      </p:sp>
      <p:pic>
        <p:nvPicPr>
          <p:cNvPr id="21" name="Image 3" descr="/home/claude/work/build/icons/server_white.png"/>
          <p:cNvPicPr>
            <a:picLocks noChangeAspect="1"/>
          </p:cNvPicPr>
          <p:nvPr/>
        </p:nvPicPr>
        <p:blipFill>
          <a:blip r:embed="rId6"/>
          <a:stretch>
            <a:fillRect/>
          </a:stretch>
        </p:blipFill>
        <p:spPr>
          <a:xfrm>
            <a:off x="6804508" y="4297680"/>
            <a:ext cx="274320" cy="274320"/>
          </a:xfrm>
          <a:prstGeom prst="rect">
            <a:avLst/>
          </a:prstGeom>
        </p:spPr>
      </p:pic>
      <p:sp>
        <p:nvSpPr>
          <p:cNvPr id="22" name="Text 16"/>
          <p:cNvSpPr/>
          <p:nvPr/>
        </p:nvSpPr>
        <p:spPr>
          <a:xfrm>
            <a:off x="6658204" y="4809744"/>
            <a:ext cx="4673956" cy="329184"/>
          </a:xfrm>
          <a:prstGeom prst="rect">
            <a:avLst/>
          </a:prstGeom>
          <a:noFill/>
          <a:ln/>
        </p:spPr>
        <p:txBody>
          <a:bodyPr wrap="square" lIns="0" tIns="0" rIns="0" bIns="0" rtlCol="0" anchor="ctr"/>
          <a:lstStyle/>
          <a:p>
            <a:pPr marL="0" indent="0">
              <a:buNone/>
            </a:pPr>
            <a:r>
              <a:rPr lang="en-US" sz="1700" b="1" dirty="0">
                <a:solidFill>
                  <a:srgbClr val="22302B"/>
                </a:solidFill>
                <a:latin typeface="Calibri" pitchFamily="34" charset="0"/>
                <a:ea typeface="Calibri" pitchFamily="34" charset="-122"/>
                <a:cs typeface="Calibri" pitchFamily="34" charset="-120"/>
              </a:rPr>
              <a:t>Portable by default</a:t>
            </a:r>
            <a:endParaRPr lang="en-US" sz="1700" dirty="0"/>
          </a:p>
        </p:txBody>
      </p:sp>
      <p:sp>
        <p:nvSpPr>
          <p:cNvPr id="23" name="Text 17"/>
          <p:cNvSpPr/>
          <p:nvPr/>
        </p:nvSpPr>
        <p:spPr>
          <a:xfrm>
            <a:off x="6658204" y="5175504"/>
            <a:ext cx="4673956" cy="457200"/>
          </a:xfrm>
          <a:prstGeom prst="rect">
            <a:avLst/>
          </a:prstGeom>
          <a:noFill/>
          <a:ln/>
        </p:spPr>
        <p:txBody>
          <a:bodyPr wrap="square" lIns="0" tIns="0" rIns="0" bIns="0" rtlCol="0" anchor="ctr"/>
          <a:lstStyle/>
          <a:p>
            <a:pPr marL="0" indent="0">
              <a:lnSpc>
                <a:spcPct val="120000"/>
              </a:lnSpc>
              <a:buNone/>
            </a:pPr>
            <a:r>
              <a:rPr lang="en-US" sz="1300" dirty="0">
                <a:solidFill>
                  <a:srgbClr val="5C6B66"/>
                </a:solidFill>
                <a:latin typeface="Calibri" pitchFamily="34" charset="0"/>
                <a:ea typeface="Calibri" pitchFamily="34" charset="-122"/>
                <a:cs typeface="Calibri" pitchFamily="34" charset="-120"/>
              </a:rPr>
              <a:t>the same workflow moves from your laptop to a cluster like ROAR, unchanged</a:t>
            </a:r>
            <a:endParaRPr lang="en-US" sz="1300" dirty="0"/>
          </a:p>
        </p:txBody>
      </p:sp>
      <p:sp>
        <p:nvSpPr>
          <p:cNvPr id="24" name="Text 18"/>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25" name="Text 19"/>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COMING UP NEXT</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3200" b="1" dirty="0">
                <a:solidFill>
                  <a:srgbClr val="22302B"/>
                </a:solidFill>
                <a:latin typeface="Calibri" pitchFamily="34" charset="0"/>
                <a:ea typeface="Calibri" pitchFamily="34" charset="-122"/>
                <a:cs typeface="Calibri" pitchFamily="34" charset="-120"/>
              </a:rPr>
              <a:t>This afternoon</a:t>
            </a:r>
            <a:endParaRPr lang="en-US" sz="3200" dirty="0"/>
          </a:p>
        </p:txBody>
      </p:sp>
      <p:sp>
        <p:nvSpPr>
          <p:cNvPr id="4" name="Text 2"/>
          <p:cNvSpPr/>
          <p:nvPr/>
        </p:nvSpPr>
        <p:spPr>
          <a:xfrm>
            <a:off x="548640" y="1325880"/>
            <a:ext cx="11094415" cy="365760"/>
          </a:xfrm>
          <a:prstGeom prst="rect">
            <a:avLst/>
          </a:prstGeom>
          <a:noFill/>
          <a:ln/>
        </p:spPr>
        <p:txBody>
          <a:bodyPr wrap="square" rtlCol="0" anchor="ctr"/>
          <a:lstStyle/>
          <a:p>
            <a:pPr marL="0" indent="0">
              <a:buNone/>
            </a:pPr>
            <a:r>
              <a:rPr lang="en-US" sz="1450" dirty="0">
                <a:solidFill>
                  <a:srgbClr val="5C6B66"/>
                </a:solidFill>
                <a:latin typeface="Calibri" pitchFamily="34" charset="0"/>
                <a:ea typeface="Calibri" pitchFamily="34" charset="-122"/>
                <a:cs typeface="Calibri" pitchFamily="34" charset="-120"/>
              </a:rPr>
              <a:t>In the shotgun data analysis session, you'll run a Snakemake pipeline chaining:</a:t>
            </a:r>
            <a:endParaRPr lang="en-US" sz="1450" dirty="0"/>
          </a:p>
        </p:txBody>
      </p:sp>
      <p:sp>
        <p:nvSpPr>
          <p:cNvPr id="5" name="Shape 3"/>
          <p:cNvSpPr/>
          <p:nvPr/>
        </p:nvSpPr>
        <p:spPr>
          <a:xfrm>
            <a:off x="1180948" y="1965960"/>
            <a:ext cx="1554480" cy="777240"/>
          </a:xfrm>
          <a:prstGeom prst="roundRect">
            <a:avLst>
              <a:gd name="adj" fmla="val 10588"/>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6" name="Text 4"/>
          <p:cNvSpPr/>
          <p:nvPr/>
        </p:nvSpPr>
        <p:spPr>
          <a:xfrm>
            <a:off x="1180948" y="1965960"/>
            <a:ext cx="1554480" cy="7772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Raw reads</a:t>
            </a:r>
            <a:endParaRPr lang="en-US" sz="1300" dirty="0"/>
          </a:p>
        </p:txBody>
      </p:sp>
      <p:sp>
        <p:nvSpPr>
          <p:cNvPr id="7" name="Shape 5"/>
          <p:cNvSpPr/>
          <p:nvPr/>
        </p:nvSpPr>
        <p:spPr>
          <a:xfrm>
            <a:off x="2735428" y="2354580"/>
            <a:ext cx="320040" cy="0"/>
          </a:xfrm>
          <a:prstGeom prst="line">
            <a:avLst/>
          </a:prstGeom>
          <a:noFill/>
          <a:ln w="22225">
            <a:solidFill>
              <a:srgbClr val="22302B"/>
            </a:solidFill>
            <a:prstDash val="solid"/>
            <a:tailEnd type="triangle"/>
          </a:ln>
        </p:spPr>
        <p:txBody>
          <a:bodyPr/>
          <a:lstStyle/>
          <a:p>
            <a:endParaRPr lang="en-US"/>
          </a:p>
        </p:txBody>
      </p:sp>
      <p:sp>
        <p:nvSpPr>
          <p:cNvPr id="8" name="Shape 6"/>
          <p:cNvSpPr/>
          <p:nvPr/>
        </p:nvSpPr>
        <p:spPr>
          <a:xfrm>
            <a:off x="3055468" y="1965960"/>
            <a:ext cx="1554480" cy="777240"/>
          </a:xfrm>
          <a:prstGeom prst="roundRect">
            <a:avLst>
              <a:gd name="adj" fmla="val 10588"/>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9" name="Text 7"/>
          <p:cNvSpPr/>
          <p:nvPr/>
        </p:nvSpPr>
        <p:spPr>
          <a:xfrm>
            <a:off x="3055468" y="1965960"/>
            <a:ext cx="1554480" cy="7772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QC &amp; trim</a:t>
            </a:r>
            <a:endParaRPr lang="en-US" sz="1300" dirty="0"/>
          </a:p>
        </p:txBody>
      </p:sp>
      <p:sp>
        <p:nvSpPr>
          <p:cNvPr id="10" name="Shape 8"/>
          <p:cNvSpPr/>
          <p:nvPr/>
        </p:nvSpPr>
        <p:spPr>
          <a:xfrm>
            <a:off x="4609948" y="2354580"/>
            <a:ext cx="320040" cy="0"/>
          </a:xfrm>
          <a:prstGeom prst="line">
            <a:avLst/>
          </a:prstGeom>
          <a:noFill/>
          <a:ln w="22225">
            <a:solidFill>
              <a:srgbClr val="22302B"/>
            </a:solidFill>
            <a:prstDash val="solid"/>
            <a:tailEnd type="triangle"/>
          </a:ln>
        </p:spPr>
        <p:txBody>
          <a:bodyPr/>
          <a:lstStyle/>
          <a:p>
            <a:endParaRPr lang="en-US"/>
          </a:p>
        </p:txBody>
      </p:sp>
      <p:sp>
        <p:nvSpPr>
          <p:cNvPr id="11" name="Shape 9"/>
          <p:cNvSpPr/>
          <p:nvPr/>
        </p:nvSpPr>
        <p:spPr>
          <a:xfrm>
            <a:off x="4929988" y="1965960"/>
            <a:ext cx="1554480" cy="777240"/>
          </a:xfrm>
          <a:prstGeom prst="roundRect">
            <a:avLst>
              <a:gd name="adj" fmla="val 10588"/>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12" name="Text 10"/>
          <p:cNvSpPr/>
          <p:nvPr/>
        </p:nvSpPr>
        <p:spPr>
          <a:xfrm>
            <a:off x="4929988" y="1965960"/>
            <a:ext cx="1554480" cy="7772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Assembly</a:t>
            </a:r>
            <a:endParaRPr lang="en-US" sz="1300" dirty="0"/>
          </a:p>
        </p:txBody>
      </p:sp>
      <p:sp>
        <p:nvSpPr>
          <p:cNvPr id="13" name="Shape 11"/>
          <p:cNvSpPr/>
          <p:nvPr/>
        </p:nvSpPr>
        <p:spPr>
          <a:xfrm>
            <a:off x="6484468" y="2354580"/>
            <a:ext cx="320040" cy="0"/>
          </a:xfrm>
          <a:prstGeom prst="line">
            <a:avLst/>
          </a:prstGeom>
          <a:noFill/>
          <a:ln w="22225">
            <a:solidFill>
              <a:srgbClr val="22302B"/>
            </a:solidFill>
            <a:prstDash val="solid"/>
            <a:tailEnd type="triangle"/>
          </a:ln>
        </p:spPr>
        <p:txBody>
          <a:bodyPr/>
          <a:lstStyle/>
          <a:p>
            <a:endParaRPr lang="en-US"/>
          </a:p>
        </p:txBody>
      </p:sp>
      <p:sp>
        <p:nvSpPr>
          <p:cNvPr id="14" name="Shape 12"/>
          <p:cNvSpPr/>
          <p:nvPr/>
        </p:nvSpPr>
        <p:spPr>
          <a:xfrm>
            <a:off x="6804508" y="1965960"/>
            <a:ext cx="2331720" cy="777240"/>
          </a:xfrm>
          <a:prstGeom prst="roundRect">
            <a:avLst>
              <a:gd name="adj" fmla="val 10588"/>
            </a:avLst>
          </a:prstGeom>
          <a:solidFill>
            <a:srgbClr val="039475"/>
          </a:solidFill>
          <a:ln/>
          <a:effectLst>
            <a:outerShdw blurRad="76200" dist="25400" dir="5400000" algn="bl" rotWithShape="0">
              <a:srgbClr val="1B2E27">
                <a:alpha val="18000"/>
              </a:srgbClr>
            </a:outerShdw>
          </a:effectLst>
        </p:spPr>
        <p:txBody>
          <a:bodyPr/>
          <a:lstStyle/>
          <a:p>
            <a:endParaRPr lang="en-US"/>
          </a:p>
        </p:txBody>
      </p:sp>
      <p:sp>
        <p:nvSpPr>
          <p:cNvPr id="15" name="Text 13"/>
          <p:cNvSpPr/>
          <p:nvPr/>
        </p:nvSpPr>
        <p:spPr>
          <a:xfrm>
            <a:off x="6804508" y="1965960"/>
            <a:ext cx="2331720" cy="7772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Binning &amp; profiling</a:t>
            </a:r>
            <a:endParaRPr lang="en-US" sz="1300" dirty="0"/>
          </a:p>
        </p:txBody>
      </p:sp>
      <p:sp>
        <p:nvSpPr>
          <p:cNvPr id="16" name="Shape 14"/>
          <p:cNvSpPr/>
          <p:nvPr/>
        </p:nvSpPr>
        <p:spPr>
          <a:xfrm>
            <a:off x="9136228" y="2354580"/>
            <a:ext cx="320040" cy="0"/>
          </a:xfrm>
          <a:prstGeom prst="line">
            <a:avLst/>
          </a:prstGeom>
          <a:noFill/>
          <a:ln w="22225">
            <a:solidFill>
              <a:srgbClr val="22302B"/>
            </a:solidFill>
            <a:prstDash val="solid"/>
            <a:tailEnd type="triangle"/>
          </a:ln>
        </p:spPr>
        <p:txBody>
          <a:bodyPr/>
          <a:lstStyle/>
          <a:p>
            <a:endParaRPr lang="en-US"/>
          </a:p>
        </p:txBody>
      </p:sp>
      <p:sp>
        <p:nvSpPr>
          <p:cNvPr id="17" name="Shape 15"/>
          <p:cNvSpPr/>
          <p:nvPr/>
        </p:nvSpPr>
        <p:spPr>
          <a:xfrm>
            <a:off x="9456268" y="1965960"/>
            <a:ext cx="1554480" cy="777240"/>
          </a:xfrm>
          <a:prstGeom prst="roundRect">
            <a:avLst>
              <a:gd name="adj" fmla="val 10588"/>
            </a:avLst>
          </a:prstGeom>
          <a:solidFill>
            <a:srgbClr val="E0972E"/>
          </a:solidFill>
          <a:ln/>
          <a:effectLst>
            <a:outerShdw blurRad="76200" dist="25400" dir="5400000" algn="bl" rotWithShape="0">
              <a:srgbClr val="1B2E27">
                <a:alpha val="18000"/>
              </a:srgbClr>
            </a:outerShdw>
          </a:effectLst>
        </p:spPr>
        <p:txBody>
          <a:bodyPr/>
          <a:lstStyle/>
          <a:p>
            <a:endParaRPr lang="en-US"/>
          </a:p>
        </p:txBody>
      </p:sp>
      <p:sp>
        <p:nvSpPr>
          <p:cNvPr id="18" name="Text 16"/>
          <p:cNvSpPr/>
          <p:nvPr/>
        </p:nvSpPr>
        <p:spPr>
          <a:xfrm>
            <a:off x="9456268" y="1965960"/>
            <a:ext cx="1554480" cy="7772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Report</a:t>
            </a:r>
            <a:endParaRPr lang="en-US" sz="1300" dirty="0"/>
          </a:p>
        </p:txBody>
      </p:sp>
      <p:sp>
        <p:nvSpPr>
          <p:cNvPr id="19" name="Shape 17"/>
          <p:cNvSpPr/>
          <p:nvPr/>
        </p:nvSpPr>
        <p:spPr>
          <a:xfrm>
            <a:off x="548640" y="3200400"/>
            <a:ext cx="402336" cy="402336"/>
          </a:xfrm>
          <a:prstGeom prst="ellipse">
            <a:avLst/>
          </a:prstGeom>
          <a:solidFill>
            <a:srgbClr val="039475"/>
          </a:solidFill>
          <a:ln/>
        </p:spPr>
        <p:txBody>
          <a:bodyPr/>
          <a:lstStyle/>
          <a:p>
            <a:endParaRPr lang="en-US"/>
          </a:p>
        </p:txBody>
      </p:sp>
      <p:pic>
        <p:nvPicPr>
          <p:cNvPr id="20" name="Image 0" descr="/home/claude/work/build/icons/terminal_white.png"/>
          <p:cNvPicPr>
            <a:picLocks noChangeAspect="1"/>
          </p:cNvPicPr>
          <p:nvPr/>
        </p:nvPicPr>
        <p:blipFill>
          <a:blip r:embed="rId3"/>
          <a:stretch>
            <a:fillRect/>
          </a:stretch>
        </p:blipFill>
        <p:spPr>
          <a:xfrm>
            <a:off x="653247" y="3305007"/>
            <a:ext cx="193121" cy="193121"/>
          </a:xfrm>
          <a:prstGeom prst="rect">
            <a:avLst/>
          </a:prstGeom>
        </p:spPr>
      </p:pic>
      <p:sp>
        <p:nvSpPr>
          <p:cNvPr id="21" name="Text 18"/>
          <p:cNvSpPr/>
          <p:nvPr/>
        </p:nvSpPr>
        <p:spPr>
          <a:xfrm>
            <a:off x="1133856" y="3172968"/>
            <a:ext cx="10509199" cy="493776"/>
          </a:xfrm>
          <a:prstGeom prst="rect">
            <a:avLst/>
          </a:prstGeom>
          <a:noFill/>
          <a:ln/>
        </p:spPr>
        <p:txBody>
          <a:bodyPr wrap="square" rtlCol="0" anchor="t"/>
          <a:lstStyle/>
          <a:p>
            <a:pPr marL="0" indent="0">
              <a:lnSpc>
                <a:spcPct val="112000"/>
              </a:lnSpc>
              <a:buNone/>
            </a:pPr>
            <a:r>
              <a:rPr lang="en-US" sz="1500" b="1" dirty="0">
                <a:solidFill>
                  <a:srgbClr val="22302B"/>
                </a:solidFill>
                <a:latin typeface="Calibri" pitchFamily="34" charset="0"/>
                <a:ea typeface="Calibri" pitchFamily="34" charset="-122"/>
                <a:cs typeface="Calibri" pitchFamily="34" charset="-120"/>
              </a:rPr>
              <a:t>Start with snakemake -n</a:t>
            </a:r>
            <a:endParaRPr lang="en-US" sz="1500" dirty="0"/>
          </a:p>
          <a:p>
            <a:pPr marL="0" indent="0">
              <a:lnSpc>
                <a:spcPct val="112000"/>
              </a:lnSpc>
              <a:buNone/>
            </a:pPr>
            <a:r>
              <a:rPr lang="en-US" sz="1250" dirty="0">
                <a:solidFill>
                  <a:srgbClr val="5C6B66"/>
                </a:solidFill>
                <a:latin typeface="Calibri" pitchFamily="34" charset="0"/>
                <a:ea typeface="Calibri" pitchFamily="34" charset="-122"/>
                <a:cs typeface="Calibri" pitchFamily="34" charset="-120"/>
              </a:rPr>
              <a:t>see the full plan before anything runs</a:t>
            </a:r>
            <a:endParaRPr lang="en-US" sz="1500" dirty="0"/>
          </a:p>
        </p:txBody>
      </p:sp>
      <p:sp>
        <p:nvSpPr>
          <p:cNvPr id="22" name="Shape 19"/>
          <p:cNvSpPr/>
          <p:nvPr/>
        </p:nvSpPr>
        <p:spPr>
          <a:xfrm>
            <a:off x="548640" y="3986784"/>
            <a:ext cx="402336" cy="402336"/>
          </a:xfrm>
          <a:prstGeom prst="ellipse">
            <a:avLst/>
          </a:prstGeom>
          <a:solidFill>
            <a:srgbClr val="039475"/>
          </a:solidFill>
          <a:ln/>
        </p:spPr>
        <p:txBody>
          <a:bodyPr/>
          <a:lstStyle/>
          <a:p>
            <a:endParaRPr lang="en-US"/>
          </a:p>
        </p:txBody>
      </p:sp>
      <p:pic>
        <p:nvPicPr>
          <p:cNvPr id="23" name="Image 1" descr="/home/claude/work/build/icons/code_white.png"/>
          <p:cNvPicPr>
            <a:picLocks noChangeAspect="1"/>
          </p:cNvPicPr>
          <p:nvPr/>
        </p:nvPicPr>
        <p:blipFill>
          <a:blip r:embed="rId4"/>
          <a:stretch>
            <a:fillRect/>
          </a:stretch>
        </p:blipFill>
        <p:spPr>
          <a:xfrm>
            <a:off x="653247" y="4091391"/>
            <a:ext cx="193121" cy="193121"/>
          </a:xfrm>
          <a:prstGeom prst="rect">
            <a:avLst/>
          </a:prstGeom>
        </p:spPr>
      </p:pic>
      <p:sp>
        <p:nvSpPr>
          <p:cNvPr id="24" name="Text 20"/>
          <p:cNvSpPr/>
          <p:nvPr/>
        </p:nvSpPr>
        <p:spPr>
          <a:xfrm>
            <a:off x="1133856" y="3959352"/>
            <a:ext cx="10509199" cy="493776"/>
          </a:xfrm>
          <a:prstGeom prst="rect">
            <a:avLst/>
          </a:prstGeom>
          <a:noFill/>
          <a:ln/>
        </p:spPr>
        <p:txBody>
          <a:bodyPr wrap="square" rtlCol="0" anchor="t"/>
          <a:lstStyle/>
          <a:p>
            <a:pPr marL="0" indent="0">
              <a:lnSpc>
                <a:spcPct val="112000"/>
              </a:lnSpc>
              <a:buNone/>
            </a:pPr>
            <a:r>
              <a:rPr lang="en-US" sz="1500" b="1" dirty="0">
                <a:solidFill>
                  <a:srgbClr val="22302B"/>
                </a:solidFill>
                <a:latin typeface="Calibri" pitchFamily="34" charset="0"/>
                <a:ea typeface="Calibri" pitchFamily="34" charset="-122"/>
                <a:cs typeface="Calibri" pitchFamily="34" charset="-120"/>
              </a:rPr>
              <a:t>Open the rules</a:t>
            </a:r>
            <a:endParaRPr lang="en-US" sz="1500" dirty="0"/>
          </a:p>
          <a:p>
            <a:pPr marL="0" indent="0">
              <a:lnSpc>
                <a:spcPct val="112000"/>
              </a:lnSpc>
              <a:buNone/>
            </a:pPr>
            <a:r>
              <a:rPr lang="en-US" sz="1250" dirty="0">
                <a:solidFill>
                  <a:srgbClr val="5C6B66"/>
                </a:solidFill>
                <a:latin typeface="Calibri" pitchFamily="34" charset="0"/>
                <a:ea typeface="Calibri" pitchFamily="34" charset="-122"/>
                <a:cs typeface="Calibri" pitchFamily="34" charset="-120"/>
              </a:rPr>
              <a:t>they're written to be read, not just executed</a:t>
            </a:r>
            <a:endParaRPr lang="en-US" sz="1500" dirty="0"/>
          </a:p>
        </p:txBody>
      </p:sp>
      <p:sp>
        <p:nvSpPr>
          <p:cNvPr id="25" name="Shape 21"/>
          <p:cNvSpPr/>
          <p:nvPr/>
        </p:nvSpPr>
        <p:spPr>
          <a:xfrm>
            <a:off x="548640" y="4773168"/>
            <a:ext cx="402336" cy="402336"/>
          </a:xfrm>
          <a:prstGeom prst="ellipse">
            <a:avLst/>
          </a:prstGeom>
          <a:solidFill>
            <a:srgbClr val="039475"/>
          </a:solidFill>
          <a:ln/>
        </p:spPr>
        <p:txBody>
          <a:bodyPr/>
          <a:lstStyle/>
          <a:p>
            <a:endParaRPr lang="en-US"/>
          </a:p>
        </p:txBody>
      </p:sp>
      <p:pic>
        <p:nvPicPr>
          <p:cNvPr id="26" name="Image 2" descr="/home/claude/work/build/icons/question_white.png"/>
          <p:cNvPicPr>
            <a:picLocks noChangeAspect="1"/>
          </p:cNvPicPr>
          <p:nvPr/>
        </p:nvPicPr>
        <p:blipFill>
          <a:blip r:embed="rId5"/>
          <a:stretch>
            <a:fillRect/>
          </a:stretch>
        </p:blipFill>
        <p:spPr>
          <a:xfrm>
            <a:off x="653247" y="4877775"/>
            <a:ext cx="193121" cy="193121"/>
          </a:xfrm>
          <a:prstGeom prst="rect">
            <a:avLst/>
          </a:prstGeom>
        </p:spPr>
      </p:pic>
      <p:sp>
        <p:nvSpPr>
          <p:cNvPr id="27" name="Text 22"/>
          <p:cNvSpPr/>
          <p:nvPr/>
        </p:nvSpPr>
        <p:spPr>
          <a:xfrm>
            <a:off x="1133856" y="4745736"/>
            <a:ext cx="10509199" cy="493776"/>
          </a:xfrm>
          <a:prstGeom prst="rect">
            <a:avLst/>
          </a:prstGeom>
          <a:noFill/>
          <a:ln/>
        </p:spPr>
        <p:txBody>
          <a:bodyPr wrap="square" rtlCol="0" anchor="t"/>
          <a:lstStyle/>
          <a:p>
            <a:pPr marL="0" indent="0">
              <a:lnSpc>
                <a:spcPct val="112000"/>
              </a:lnSpc>
              <a:buNone/>
            </a:pPr>
            <a:r>
              <a:rPr lang="en-US" sz="1500" b="1" dirty="0">
                <a:solidFill>
                  <a:srgbClr val="22302B"/>
                </a:solidFill>
                <a:latin typeface="Calibri" pitchFamily="34" charset="0"/>
                <a:ea typeface="Calibri" pitchFamily="34" charset="-122"/>
                <a:cs typeface="Calibri" pitchFamily="34" charset="-120"/>
              </a:rPr>
              <a:t>Ask questions as you go</a:t>
            </a:r>
            <a:endParaRPr lang="en-US" sz="1500" dirty="0"/>
          </a:p>
          <a:p>
            <a:pPr marL="0" indent="0">
              <a:lnSpc>
                <a:spcPct val="112000"/>
              </a:lnSpc>
              <a:buNone/>
            </a:pPr>
            <a:r>
              <a:rPr lang="en-US" sz="1250" dirty="0">
                <a:solidFill>
                  <a:srgbClr val="5C6B66"/>
                </a:solidFill>
                <a:latin typeface="Calibri" pitchFamily="34" charset="0"/>
                <a:ea typeface="Calibri" pitchFamily="34" charset="-122"/>
                <a:cs typeface="Calibri" pitchFamily="34" charset="-120"/>
              </a:rPr>
              <a:t>that's what we're all here for</a:t>
            </a:r>
            <a:endParaRPr lang="en-US" sz="1500" dirty="0"/>
          </a:p>
        </p:txBody>
      </p:sp>
      <p:sp>
        <p:nvSpPr>
          <p:cNvPr id="28" name="Shape 23"/>
          <p:cNvSpPr/>
          <p:nvPr/>
        </p:nvSpPr>
        <p:spPr>
          <a:xfrm>
            <a:off x="548640" y="5532120"/>
            <a:ext cx="11094415" cy="749808"/>
          </a:xfrm>
          <a:prstGeom prst="roundRect">
            <a:avLst>
              <a:gd name="adj" fmla="val 12195"/>
            </a:avLst>
          </a:prstGeom>
          <a:solidFill>
            <a:srgbClr val="16211D"/>
          </a:solidFill>
          <a:ln/>
        </p:spPr>
        <p:txBody>
          <a:bodyPr/>
          <a:lstStyle/>
          <a:p>
            <a:endParaRPr lang="en-US"/>
          </a:p>
        </p:txBody>
      </p:sp>
      <p:sp>
        <p:nvSpPr>
          <p:cNvPr id="29" name="Shape 24"/>
          <p:cNvSpPr/>
          <p:nvPr/>
        </p:nvSpPr>
        <p:spPr>
          <a:xfrm>
            <a:off x="822960" y="5687568"/>
            <a:ext cx="438912" cy="438912"/>
          </a:xfrm>
          <a:prstGeom prst="ellipse">
            <a:avLst/>
          </a:prstGeom>
          <a:solidFill>
            <a:srgbClr val="039475"/>
          </a:solidFill>
          <a:ln/>
        </p:spPr>
        <p:txBody>
          <a:bodyPr/>
          <a:lstStyle/>
          <a:p>
            <a:endParaRPr lang="en-US"/>
          </a:p>
        </p:txBody>
      </p:sp>
      <p:pic>
        <p:nvPicPr>
          <p:cNvPr id="30" name="Image 3" descr="/home/claude/work/build/icons/folder_white.png"/>
          <p:cNvPicPr>
            <a:picLocks noChangeAspect="1"/>
          </p:cNvPicPr>
          <p:nvPr/>
        </p:nvPicPr>
        <p:blipFill>
          <a:blip r:embed="rId6"/>
          <a:stretch>
            <a:fillRect/>
          </a:stretch>
        </p:blipFill>
        <p:spPr>
          <a:xfrm>
            <a:off x="932688" y="5797296"/>
            <a:ext cx="219456" cy="219456"/>
          </a:xfrm>
          <a:prstGeom prst="rect">
            <a:avLst/>
          </a:prstGeom>
        </p:spPr>
      </p:pic>
      <p:sp>
        <p:nvSpPr>
          <p:cNvPr id="31" name="Text 25"/>
          <p:cNvSpPr/>
          <p:nvPr/>
        </p:nvSpPr>
        <p:spPr>
          <a:xfrm>
            <a:off x="1426464" y="5532120"/>
            <a:ext cx="9905695" cy="7498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All materials:  </a:t>
            </a:r>
            <a:r>
              <a:rPr lang="en-US" sz="1300" dirty="0">
                <a:solidFill>
                  <a:srgbClr val="8FD9C2"/>
                </a:solidFill>
                <a:latin typeface="Courier New" pitchFamily="34" charset="0"/>
                <a:ea typeface="Courier New" pitchFamily="34" charset="-122"/>
                <a:cs typeface="Courier New" pitchFamily="34" charset="-120"/>
              </a:rPr>
              <a:t>github.com/Penn-State-Microbiome-Center/KickStart-Workshop-2026</a:t>
            </a:r>
            <a:endParaRPr lang="en-US" sz="1300" dirty="0"/>
          </a:p>
        </p:txBody>
      </p:sp>
      <p:sp>
        <p:nvSpPr>
          <p:cNvPr id="32" name="Text 26"/>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33" name="Text 27"/>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marL="0" indent="0" algn="l">
              <a:buNone/>
            </a:pPr>
            <a:r>
              <a:rPr lang="en-US" sz="1200" b="1" kern="0" spc="200" dirty="0">
                <a:solidFill>
                  <a:srgbClr val="039475"/>
                </a:solidFill>
                <a:latin typeface="Calibri" pitchFamily="34" charset="0"/>
                <a:ea typeface="Calibri" pitchFamily="34" charset="-122"/>
                <a:cs typeface="Calibri" pitchFamily="34" charset="-120"/>
              </a:rPr>
              <a:t>KEEP LEARNING</a:t>
            </a:r>
            <a:endParaRPr lang="en-US" sz="1200" dirty="0"/>
          </a:p>
        </p:txBody>
      </p:sp>
      <p:sp>
        <p:nvSpPr>
          <p:cNvPr id="3" name="Text 1"/>
          <p:cNvSpPr/>
          <p:nvPr/>
        </p:nvSpPr>
        <p:spPr>
          <a:xfrm>
            <a:off x="548640" y="658368"/>
            <a:ext cx="11094415" cy="640080"/>
          </a:xfrm>
          <a:prstGeom prst="rect">
            <a:avLst/>
          </a:prstGeom>
          <a:noFill/>
          <a:ln/>
        </p:spPr>
        <p:txBody>
          <a:bodyPr wrap="square" rtlCol="0" anchor="ctr"/>
          <a:lstStyle/>
          <a:p>
            <a:pPr marL="0" indent="0" algn="l">
              <a:buNone/>
            </a:pPr>
            <a:r>
              <a:rPr lang="en-US" sz="3200" b="1" dirty="0">
                <a:solidFill>
                  <a:srgbClr val="22302B"/>
                </a:solidFill>
                <a:latin typeface="Calibri" pitchFamily="34" charset="0"/>
                <a:ea typeface="Calibri" pitchFamily="34" charset="-122"/>
                <a:cs typeface="Calibri" pitchFamily="34" charset="-120"/>
              </a:rPr>
              <a:t>Resources</a:t>
            </a:r>
            <a:endParaRPr lang="en-US" sz="3200" dirty="0"/>
          </a:p>
        </p:txBody>
      </p:sp>
      <p:sp>
        <p:nvSpPr>
          <p:cNvPr id="4" name="Shape 2"/>
          <p:cNvSpPr/>
          <p:nvPr/>
        </p:nvSpPr>
        <p:spPr>
          <a:xfrm>
            <a:off x="548640" y="1463040"/>
            <a:ext cx="3454298" cy="2011680"/>
          </a:xfrm>
          <a:prstGeom prst="roundRect">
            <a:avLst>
              <a:gd name="adj" fmla="val 4545"/>
            </a:avLst>
          </a:prstGeom>
          <a:solidFill>
            <a:srgbClr val="F7F5F2"/>
          </a:solidFill>
          <a:ln/>
        </p:spPr>
        <p:txBody>
          <a:bodyPr/>
          <a:lstStyle/>
          <a:p>
            <a:endParaRPr lang="en-US"/>
          </a:p>
        </p:txBody>
      </p:sp>
      <p:sp>
        <p:nvSpPr>
          <p:cNvPr id="5" name="Shape 3"/>
          <p:cNvSpPr/>
          <p:nvPr/>
        </p:nvSpPr>
        <p:spPr>
          <a:xfrm>
            <a:off x="786384" y="1700784"/>
            <a:ext cx="438912" cy="438912"/>
          </a:xfrm>
          <a:prstGeom prst="ellipse">
            <a:avLst/>
          </a:prstGeom>
          <a:solidFill>
            <a:srgbClr val="039475"/>
          </a:solidFill>
          <a:ln/>
        </p:spPr>
        <p:txBody>
          <a:bodyPr/>
          <a:lstStyle/>
          <a:p>
            <a:endParaRPr lang="en-US"/>
          </a:p>
        </p:txBody>
      </p:sp>
      <p:pic>
        <p:nvPicPr>
          <p:cNvPr id="6" name="Image 0" descr="/home/claude/work/build/icons/book_white.png"/>
          <p:cNvPicPr>
            <a:picLocks noChangeAspect="1"/>
          </p:cNvPicPr>
          <p:nvPr/>
        </p:nvPicPr>
        <p:blipFill>
          <a:blip r:embed="rId3"/>
          <a:stretch>
            <a:fillRect/>
          </a:stretch>
        </p:blipFill>
        <p:spPr>
          <a:xfrm>
            <a:off x="896112" y="1810512"/>
            <a:ext cx="219456" cy="219456"/>
          </a:xfrm>
          <a:prstGeom prst="rect">
            <a:avLst/>
          </a:prstGeom>
        </p:spPr>
      </p:pic>
      <p:sp>
        <p:nvSpPr>
          <p:cNvPr id="7" name="Text 4"/>
          <p:cNvSpPr/>
          <p:nvPr/>
        </p:nvSpPr>
        <p:spPr>
          <a:xfrm>
            <a:off x="786384" y="2249424"/>
            <a:ext cx="2978810" cy="274320"/>
          </a:xfrm>
          <a:prstGeom prst="rect">
            <a:avLst/>
          </a:prstGeom>
          <a:noFill/>
          <a:ln/>
        </p:spPr>
        <p:txBody>
          <a:bodyPr wrap="square" lIns="0" tIns="0" rIns="0" bIns="0" rtlCol="0" anchor="ctr"/>
          <a:lstStyle/>
          <a:p>
            <a:pPr marL="0" indent="0">
              <a:buNone/>
            </a:pPr>
            <a:r>
              <a:rPr lang="en-US" sz="1350" b="1" dirty="0">
                <a:solidFill>
                  <a:srgbClr val="22302B"/>
                </a:solidFill>
                <a:latin typeface="Calibri" pitchFamily="34" charset="0"/>
                <a:ea typeface="Calibri" pitchFamily="34" charset="-122"/>
                <a:cs typeface="Calibri" pitchFamily="34" charset="-120"/>
              </a:rPr>
              <a:t>Snakemake documentation</a:t>
            </a:r>
            <a:endParaRPr lang="en-US" sz="1350" dirty="0"/>
          </a:p>
        </p:txBody>
      </p:sp>
      <p:sp>
        <p:nvSpPr>
          <p:cNvPr id="8" name="Text 5"/>
          <p:cNvSpPr/>
          <p:nvPr/>
        </p:nvSpPr>
        <p:spPr>
          <a:xfrm>
            <a:off x="786384" y="2560320"/>
            <a:ext cx="2978810" cy="420624"/>
          </a:xfrm>
          <a:prstGeom prst="rect">
            <a:avLst/>
          </a:prstGeom>
          <a:noFill/>
          <a:ln/>
        </p:spPr>
        <p:txBody>
          <a:bodyPr wrap="square" lIns="0" tIns="0" rIns="0" bIns="0" rtlCol="0" anchor="ctr"/>
          <a:lstStyle/>
          <a:p>
            <a:pPr marL="0" indent="0">
              <a:lnSpc>
                <a:spcPct val="110000"/>
              </a:lnSpc>
              <a:buNone/>
            </a:pPr>
            <a:r>
              <a:rPr lang="en-US" sz="900" dirty="0">
                <a:solidFill>
                  <a:srgbClr val="039475"/>
                </a:solidFill>
                <a:latin typeface="Courier New" pitchFamily="34" charset="0"/>
                <a:ea typeface="Courier New" pitchFamily="34" charset="-122"/>
                <a:cs typeface="Courier New" pitchFamily="34" charset="-120"/>
              </a:rPr>
              <a:t>snakemake.readthedocs.io</a:t>
            </a:r>
            <a:endParaRPr lang="en-US" sz="900" dirty="0"/>
          </a:p>
        </p:txBody>
      </p:sp>
      <p:sp>
        <p:nvSpPr>
          <p:cNvPr id="9" name="Text 6"/>
          <p:cNvSpPr/>
          <p:nvPr/>
        </p:nvSpPr>
        <p:spPr>
          <a:xfrm>
            <a:off x="786384" y="3017520"/>
            <a:ext cx="2978810" cy="384048"/>
          </a:xfrm>
          <a:prstGeom prst="rect">
            <a:avLst/>
          </a:prstGeom>
          <a:noFill/>
          <a:ln/>
        </p:spPr>
        <p:txBody>
          <a:bodyPr wrap="square" lIns="0" tIns="0" rIns="0" bIns="0" rtlCol="0" anchor="ctr"/>
          <a:lstStyle/>
          <a:p>
            <a:pPr marL="0" indent="0">
              <a:lnSpc>
                <a:spcPct val="110000"/>
              </a:lnSpc>
              <a:buNone/>
            </a:pPr>
            <a:r>
              <a:rPr lang="en-US" sz="1000" dirty="0">
                <a:solidFill>
                  <a:srgbClr val="5C6B66"/>
                </a:solidFill>
                <a:latin typeface="Calibri" pitchFamily="34" charset="0"/>
                <a:ea typeface="Calibri" pitchFamily="34" charset="-122"/>
                <a:cs typeface="Calibri" pitchFamily="34" charset="-120"/>
              </a:rPr>
              <a:t>the full manual — install, syntax, execution, everything</a:t>
            </a:r>
            <a:endParaRPr lang="en-US" sz="1000" dirty="0"/>
          </a:p>
        </p:txBody>
      </p:sp>
      <p:sp>
        <p:nvSpPr>
          <p:cNvPr id="10" name="Shape 7"/>
          <p:cNvSpPr/>
          <p:nvPr/>
        </p:nvSpPr>
        <p:spPr>
          <a:xfrm>
            <a:off x="4368698" y="1463040"/>
            <a:ext cx="3454298" cy="2011680"/>
          </a:xfrm>
          <a:prstGeom prst="roundRect">
            <a:avLst>
              <a:gd name="adj" fmla="val 4545"/>
            </a:avLst>
          </a:prstGeom>
          <a:solidFill>
            <a:srgbClr val="F7F5F2"/>
          </a:solidFill>
          <a:ln/>
        </p:spPr>
        <p:txBody>
          <a:bodyPr/>
          <a:lstStyle/>
          <a:p>
            <a:endParaRPr lang="en-US"/>
          </a:p>
        </p:txBody>
      </p:sp>
      <p:sp>
        <p:nvSpPr>
          <p:cNvPr id="11" name="Shape 8"/>
          <p:cNvSpPr/>
          <p:nvPr/>
        </p:nvSpPr>
        <p:spPr>
          <a:xfrm>
            <a:off x="4606442" y="1700784"/>
            <a:ext cx="438912" cy="438912"/>
          </a:xfrm>
          <a:prstGeom prst="ellipse">
            <a:avLst/>
          </a:prstGeom>
          <a:solidFill>
            <a:srgbClr val="039475"/>
          </a:solidFill>
          <a:ln/>
        </p:spPr>
        <p:txBody>
          <a:bodyPr/>
          <a:lstStyle/>
          <a:p>
            <a:endParaRPr lang="en-US"/>
          </a:p>
        </p:txBody>
      </p:sp>
      <p:pic>
        <p:nvPicPr>
          <p:cNvPr id="12" name="Image 1" descr="/home/claude/work/build/icons/terminal_white.png"/>
          <p:cNvPicPr>
            <a:picLocks noChangeAspect="1"/>
          </p:cNvPicPr>
          <p:nvPr/>
        </p:nvPicPr>
        <p:blipFill>
          <a:blip r:embed="rId4"/>
          <a:stretch>
            <a:fillRect/>
          </a:stretch>
        </p:blipFill>
        <p:spPr>
          <a:xfrm>
            <a:off x="4716170" y="1810512"/>
            <a:ext cx="219456" cy="219456"/>
          </a:xfrm>
          <a:prstGeom prst="rect">
            <a:avLst/>
          </a:prstGeom>
        </p:spPr>
      </p:pic>
      <p:sp>
        <p:nvSpPr>
          <p:cNvPr id="13" name="Text 9"/>
          <p:cNvSpPr/>
          <p:nvPr/>
        </p:nvSpPr>
        <p:spPr>
          <a:xfrm>
            <a:off x="4606442" y="2249424"/>
            <a:ext cx="2978810" cy="274320"/>
          </a:xfrm>
          <a:prstGeom prst="rect">
            <a:avLst/>
          </a:prstGeom>
          <a:noFill/>
          <a:ln/>
        </p:spPr>
        <p:txBody>
          <a:bodyPr wrap="square" lIns="0" tIns="0" rIns="0" bIns="0" rtlCol="0" anchor="ctr"/>
          <a:lstStyle/>
          <a:p>
            <a:pPr marL="0" indent="0">
              <a:buNone/>
            </a:pPr>
            <a:r>
              <a:rPr lang="en-US" sz="1350" b="1" dirty="0">
                <a:solidFill>
                  <a:srgbClr val="22302B"/>
                </a:solidFill>
                <a:latin typeface="Calibri" pitchFamily="34" charset="0"/>
                <a:ea typeface="Calibri" pitchFamily="34" charset="-122"/>
                <a:cs typeface="Calibri" pitchFamily="34" charset="-120"/>
              </a:rPr>
              <a:t>Official tutorial</a:t>
            </a:r>
            <a:endParaRPr lang="en-US" sz="1350" dirty="0"/>
          </a:p>
        </p:txBody>
      </p:sp>
      <p:sp>
        <p:nvSpPr>
          <p:cNvPr id="14" name="Text 10"/>
          <p:cNvSpPr/>
          <p:nvPr/>
        </p:nvSpPr>
        <p:spPr>
          <a:xfrm>
            <a:off x="4606442" y="2560320"/>
            <a:ext cx="2978810" cy="420624"/>
          </a:xfrm>
          <a:prstGeom prst="rect">
            <a:avLst/>
          </a:prstGeom>
          <a:noFill/>
          <a:ln/>
        </p:spPr>
        <p:txBody>
          <a:bodyPr wrap="square" lIns="0" tIns="0" rIns="0" bIns="0" rtlCol="0" anchor="ctr"/>
          <a:lstStyle/>
          <a:p>
            <a:pPr marL="0" indent="0">
              <a:lnSpc>
                <a:spcPct val="110000"/>
              </a:lnSpc>
              <a:buNone/>
            </a:pPr>
            <a:r>
              <a:rPr lang="en-US" sz="900" dirty="0">
                <a:solidFill>
                  <a:srgbClr val="039475"/>
                </a:solidFill>
                <a:latin typeface="Courier New" pitchFamily="34" charset="0"/>
                <a:ea typeface="Courier New" pitchFamily="34" charset="-122"/>
                <a:cs typeface="Courier New" pitchFamily="34" charset="-120"/>
              </a:rPr>
              <a:t>snakemake.readthedocs.io/en/stable/tutorial</a:t>
            </a:r>
            <a:endParaRPr lang="en-US" sz="900" dirty="0"/>
          </a:p>
        </p:txBody>
      </p:sp>
      <p:sp>
        <p:nvSpPr>
          <p:cNvPr id="15" name="Text 11"/>
          <p:cNvSpPr/>
          <p:nvPr/>
        </p:nvSpPr>
        <p:spPr>
          <a:xfrm>
            <a:off x="4606442" y="3017520"/>
            <a:ext cx="2978810" cy="384048"/>
          </a:xfrm>
          <a:prstGeom prst="rect">
            <a:avLst/>
          </a:prstGeom>
          <a:noFill/>
          <a:ln/>
        </p:spPr>
        <p:txBody>
          <a:bodyPr wrap="square" lIns="0" tIns="0" rIns="0" bIns="0" rtlCol="0" anchor="ctr"/>
          <a:lstStyle/>
          <a:p>
            <a:pPr marL="0" indent="0">
              <a:lnSpc>
                <a:spcPct val="110000"/>
              </a:lnSpc>
              <a:buNone/>
            </a:pPr>
            <a:r>
              <a:rPr lang="en-US" sz="1000" dirty="0">
                <a:solidFill>
                  <a:srgbClr val="5C6B66"/>
                </a:solidFill>
                <a:latin typeface="Calibri" pitchFamily="34" charset="0"/>
                <a:ea typeface="Calibri" pitchFamily="34" charset="-122"/>
                <a:cs typeface="Calibri" pitchFamily="34" charset="-120"/>
              </a:rPr>
              <a:t>step-by-step walkthrough building a small workflow</a:t>
            </a:r>
            <a:endParaRPr lang="en-US" sz="1000" dirty="0"/>
          </a:p>
        </p:txBody>
      </p:sp>
      <p:sp>
        <p:nvSpPr>
          <p:cNvPr id="16" name="Shape 12"/>
          <p:cNvSpPr/>
          <p:nvPr/>
        </p:nvSpPr>
        <p:spPr>
          <a:xfrm>
            <a:off x="8188757" y="1463040"/>
            <a:ext cx="3454298" cy="2011680"/>
          </a:xfrm>
          <a:prstGeom prst="roundRect">
            <a:avLst>
              <a:gd name="adj" fmla="val 4545"/>
            </a:avLst>
          </a:prstGeom>
          <a:solidFill>
            <a:srgbClr val="F7F5F2"/>
          </a:solidFill>
          <a:ln/>
        </p:spPr>
        <p:txBody>
          <a:bodyPr/>
          <a:lstStyle/>
          <a:p>
            <a:endParaRPr lang="en-US"/>
          </a:p>
        </p:txBody>
      </p:sp>
      <p:sp>
        <p:nvSpPr>
          <p:cNvPr id="17" name="Shape 13"/>
          <p:cNvSpPr/>
          <p:nvPr/>
        </p:nvSpPr>
        <p:spPr>
          <a:xfrm>
            <a:off x="8426501" y="1700784"/>
            <a:ext cx="438912" cy="438912"/>
          </a:xfrm>
          <a:prstGeom prst="ellipse">
            <a:avLst/>
          </a:prstGeom>
          <a:solidFill>
            <a:srgbClr val="039475"/>
          </a:solidFill>
          <a:ln/>
        </p:spPr>
        <p:txBody>
          <a:bodyPr/>
          <a:lstStyle/>
          <a:p>
            <a:endParaRPr lang="en-US"/>
          </a:p>
        </p:txBody>
      </p:sp>
      <p:pic>
        <p:nvPicPr>
          <p:cNvPr id="18" name="Image 2" descr="/home/claude/work/build/icons/sitemap_white.png"/>
          <p:cNvPicPr>
            <a:picLocks noChangeAspect="1"/>
          </p:cNvPicPr>
          <p:nvPr/>
        </p:nvPicPr>
        <p:blipFill>
          <a:blip r:embed="rId5"/>
          <a:stretch>
            <a:fillRect/>
          </a:stretch>
        </p:blipFill>
        <p:spPr>
          <a:xfrm>
            <a:off x="8536229" y="1810512"/>
            <a:ext cx="219456" cy="219456"/>
          </a:xfrm>
          <a:prstGeom prst="rect">
            <a:avLst/>
          </a:prstGeom>
        </p:spPr>
      </p:pic>
      <p:sp>
        <p:nvSpPr>
          <p:cNvPr id="19" name="Text 14"/>
          <p:cNvSpPr/>
          <p:nvPr/>
        </p:nvSpPr>
        <p:spPr>
          <a:xfrm>
            <a:off x="8426501" y="2249424"/>
            <a:ext cx="2978810" cy="274320"/>
          </a:xfrm>
          <a:prstGeom prst="rect">
            <a:avLst/>
          </a:prstGeom>
          <a:noFill/>
          <a:ln/>
        </p:spPr>
        <p:txBody>
          <a:bodyPr wrap="square" lIns="0" tIns="0" rIns="0" bIns="0" rtlCol="0" anchor="ctr"/>
          <a:lstStyle/>
          <a:p>
            <a:pPr marL="0" indent="0">
              <a:buNone/>
            </a:pPr>
            <a:r>
              <a:rPr lang="en-US" sz="1350" b="1" dirty="0">
                <a:solidFill>
                  <a:srgbClr val="22302B"/>
                </a:solidFill>
                <a:latin typeface="Calibri" pitchFamily="34" charset="0"/>
                <a:ea typeface="Calibri" pitchFamily="34" charset="-122"/>
                <a:cs typeface="Calibri" pitchFamily="34" charset="-120"/>
              </a:rPr>
              <a:t>Snakemake Workflow Catalog</a:t>
            </a:r>
            <a:endParaRPr lang="en-US" sz="1350" dirty="0"/>
          </a:p>
        </p:txBody>
      </p:sp>
      <p:sp>
        <p:nvSpPr>
          <p:cNvPr id="20" name="Text 15"/>
          <p:cNvSpPr/>
          <p:nvPr/>
        </p:nvSpPr>
        <p:spPr>
          <a:xfrm>
            <a:off x="8426501" y="2560320"/>
            <a:ext cx="2978810" cy="420624"/>
          </a:xfrm>
          <a:prstGeom prst="rect">
            <a:avLst/>
          </a:prstGeom>
          <a:noFill/>
          <a:ln/>
        </p:spPr>
        <p:txBody>
          <a:bodyPr wrap="square" lIns="0" tIns="0" rIns="0" bIns="0" rtlCol="0" anchor="ctr"/>
          <a:lstStyle/>
          <a:p>
            <a:pPr marL="0" indent="0">
              <a:lnSpc>
                <a:spcPct val="110000"/>
              </a:lnSpc>
              <a:buNone/>
            </a:pPr>
            <a:r>
              <a:rPr lang="en-US" sz="900" dirty="0">
                <a:solidFill>
                  <a:srgbClr val="039475"/>
                </a:solidFill>
                <a:latin typeface="Courier New" pitchFamily="34" charset="0"/>
                <a:ea typeface="Courier New" pitchFamily="34" charset="-122"/>
                <a:cs typeface="Courier New" pitchFamily="34" charset="-120"/>
              </a:rPr>
              <a:t>snakemake.github.io/snakemake-workflow-catalog</a:t>
            </a:r>
            <a:endParaRPr lang="en-US" sz="900" dirty="0"/>
          </a:p>
        </p:txBody>
      </p:sp>
      <p:sp>
        <p:nvSpPr>
          <p:cNvPr id="21" name="Text 16"/>
          <p:cNvSpPr/>
          <p:nvPr/>
        </p:nvSpPr>
        <p:spPr>
          <a:xfrm>
            <a:off x="8426501" y="3017520"/>
            <a:ext cx="2978810" cy="384048"/>
          </a:xfrm>
          <a:prstGeom prst="rect">
            <a:avLst/>
          </a:prstGeom>
          <a:noFill/>
          <a:ln/>
        </p:spPr>
        <p:txBody>
          <a:bodyPr wrap="square" lIns="0" tIns="0" rIns="0" bIns="0" rtlCol="0" anchor="ctr"/>
          <a:lstStyle/>
          <a:p>
            <a:pPr marL="0" indent="0">
              <a:lnSpc>
                <a:spcPct val="110000"/>
              </a:lnSpc>
              <a:buNone/>
            </a:pPr>
            <a:r>
              <a:rPr lang="en-US" sz="1000" dirty="0">
                <a:solidFill>
                  <a:srgbClr val="5C6B66"/>
                </a:solidFill>
                <a:latin typeface="Calibri" pitchFamily="34" charset="0"/>
                <a:ea typeface="Calibri" pitchFamily="34" charset="-122"/>
                <a:cs typeface="Calibri" pitchFamily="34" charset="-120"/>
              </a:rPr>
              <a:t>browse published, ready-to-adapt pipelines</a:t>
            </a:r>
            <a:endParaRPr lang="en-US" sz="1000" dirty="0"/>
          </a:p>
        </p:txBody>
      </p:sp>
      <p:sp>
        <p:nvSpPr>
          <p:cNvPr id="22" name="Shape 17"/>
          <p:cNvSpPr/>
          <p:nvPr/>
        </p:nvSpPr>
        <p:spPr>
          <a:xfrm>
            <a:off x="548640" y="3703320"/>
            <a:ext cx="3454298" cy="2011680"/>
          </a:xfrm>
          <a:prstGeom prst="roundRect">
            <a:avLst>
              <a:gd name="adj" fmla="val 4545"/>
            </a:avLst>
          </a:prstGeom>
          <a:solidFill>
            <a:srgbClr val="F7F5F2"/>
          </a:solidFill>
          <a:ln/>
        </p:spPr>
        <p:txBody>
          <a:bodyPr/>
          <a:lstStyle/>
          <a:p>
            <a:endParaRPr lang="en-US"/>
          </a:p>
        </p:txBody>
      </p:sp>
      <p:sp>
        <p:nvSpPr>
          <p:cNvPr id="23" name="Shape 18"/>
          <p:cNvSpPr/>
          <p:nvPr/>
        </p:nvSpPr>
        <p:spPr>
          <a:xfrm>
            <a:off x="786384" y="3941064"/>
            <a:ext cx="438912" cy="438912"/>
          </a:xfrm>
          <a:prstGeom prst="ellipse">
            <a:avLst/>
          </a:prstGeom>
          <a:solidFill>
            <a:srgbClr val="039475"/>
          </a:solidFill>
          <a:ln/>
        </p:spPr>
        <p:txBody>
          <a:bodyPr/>
          <a:lstStyle/>
          <a:p>
            <a:endParaRPr lang="en-US"/>
          </a:p>
        </p:txBody>
      </p:sp>
      <p:pic>
        <p:nvPicPr>
          <p:cNvPr id="24" name="Image 3" descr="/home/claude/work/build/icons/flask_white.png"/>
          <p:cNvPicPr>
            <a:picLocks noChangeAspect="1"/>
          </p:cNvPicPr>
          <p:nvPr/>
        </p:nvPicPr>
        <p:blipFill>
          <a:blip r:embed="rId6"/>
          <a:stretch>
            <a:fillRect/>
          </a:stretch>
        </p:blipFill>
        <p:spPr>
          <a:xfrm>
            <a:off x="896112" y="4050792"/>
            <a:ext cx="219456" cy="219456"/>
          </a:xfrm>
          <a:prstGeom prst="rect">
            <a:avLst/>
          </a:prstGeom>
        </p:spPr>
      </p:pic>
      <p:sp>
        <p:nvSpPr>
          <p:cNvPr id="25" name="Text 19"/>
          <p:cNvSpPr/>
          <p:nvPr/>
        </p:nvSpPr>
        <p:spPr>
          <a:xfrm>
            <a:off x="786384" y="4489704"/>
            <a:ext cx="2978810" cy="274320"/>
          </a:xfrm>
          <a:prstGeom prst="rect">
            <a:avLst/>
          </a:prstGeom>
          <a:noFill/>
          <a:ln/>
        </p:spPr>
        <p:txBody>
          <a:bodyPr wrap="square" lIns="0" tIns="0" rIns="0" bIns="0" rtlCol="0" anchor="ctr"/>
          <a:lstStyle/>
          <a:p>
            <a:pPr marL="0" indent="0">
              <a:buNone/>
            </a:pPr>
            <a:r>
              <a:rPr lang="en-US" sz="1350" b="1" dirty="0">
                <a:solidFill>
                  <a:srgbClr val="22302B"/>
                </a:solidFill>
                <a:latin typeface="Calibri" pitchFamily="34" charset="0"/>
                <a:ea typeface="Calibri" pitchFamily="34" charset="-122"/>
                <a:cs typeface="Calibri" pitchFamily="34" charset="-120"/>
              </a:rPr>
              <a:t>Carpentries lesson</a:t>
            </a:r>
            <a:endParaRPr lang="en-US" sz="1350" dirty="0"/>
          </a:p>
        </p:txBody>
      </p:sp>
      <p:sp>
        <p:nvSpPr>
          <p:cNvPr id="26" name="Text 20"/>
          <p:cNvSpPr/>
          <p:nvPr/>
        </p:nvSpPr>
        <p:spPr>
          <a:xfrm>
            <a:off x="786384" y="4800600"/>
            <a:ext cx="2978810" cy="420624"/>
          </a:xfrm>
          <a:prstGeom prst="rect">
            <a:avLst/>
          </a:prstGeom>
          <a:noFill/>
          <a:ln/>
        </p:spPr>
        <p:txBody>
          <a:bodyPr wrap="square" lIns="0" tIns="0" rIns="0" bIns="0" rtlCol="0" anchor="ctr"/>
          <a:lstStyle/>
          <a:p>
            <a:pPr marL="0" indent="0">
              <a:lnSpc>
                <a:spcPct val="110000"/>
              </a:lnSpc>
              <a:buNone/>
            </a:pPr>
            <a:r>
              <a:rPr lang="en-US" sz="900" dirty="0">
                <a:solidFill>
                  <a:srgbClr val="039475"/>
                </a:solidFill>
                <a:latin typeface="Courier New" pitchFamily="34" charset="0"/>
                <a:ea typeface="Courier New" pitchFamily="34" charset="-122"/>
                <a:cs typeface="Courier New" pitchFamily="34" charset="-120"/>
              </a:rPr>
              <a:t>carpentries-incubator.github.io/</a:t>
            </a:r>
            <a:endParaRPr lang="en-US" sz="900" dirty="0"/>
          </a:p>
          <a:p>
            <a:pPr marL="0" indent="0">
              <a:lnSpc>
                <a:spcPct val="110000"/>
              </a:lnSpc>
              <a:buNone/>
            </a:pPr>
            <a:r>
              <a:rPr lang="en-US" sz="900" dirty="0">
                <a:solidFill>
                  <a:srgbClr val="039475"/>
                </a:solidFill>
                <a:latin typeface="Courier New" pitchFamily="34" charset="0"/>
                <a:ea typeface="Courier New" pitchFamily="34" charset="-122"/>
                <a:cs typeface="Courier New" pitchFamily="34" charset="-120"/>
              </a:rPr>
              <a:t>snakemake-novice-bioinformatics</a:t>
            </a:r>
            <a:endParaRPr lang="en-US" sz="900" dirty="0"/>
          </a:p>
        </p:txBody>
      </p:sp>
      <p:sp>
        <p:nvSpPr>
          <p:cNvPr id="27" name="Text 21"/>
          <p:cNvSpPr/>
          <p:nvPr/>
        </p:nvSpPr>
        <p:spPr>
          <a:xfrm>
            <a:off x="786384" y="5257800"/>
            <a:ext cx="2978810" cy="384048"/>
          </a:xfrm>
          <a:prstGeom prst="rect">
            <a:avLst/>
          </a:prstGeom>
          <a:noFill/>
          <a:ln/>
        </p:spPr>
        <p:txBody>
          <a:bodyPr wrap="square" lIns="0" tIns="0" rIns="0" bIns="0" rtlCol="0" anchor="ctr"/>
          <a:lstStyle/>
          <a:p>
            <a:pPr marL="0" indent="0">
              <a:lnSpc>
                <a:spcPct val="110000"/>
              </a:lnSpc>
              <a:buNone/>
            </a:pPr>
            <a:r>
              <a:rPr lang="en-US" sz="1000" dirty="0">
                <a:solidFill>
                  <a:srgbClr val="5C6B66"/>
                </a:solidFill>
                <a:latin typeface="Calibri" pitchFamily="34" charset="0"/>
                <a:ea typeface="Calibri" pitchFamily="34" charset="-122"/>
                <a:cs typeface="Calibri" pitchFamily="34" charset="-120"/>
              </a:rPr>
              <a:t>free, hands-on Snakemake for Bioinformatics course</a:t>
            </a:r>
            <a:endParaRPr lang="en-US" sz="1000" dirty="0"/>
          </a:p>
        </p:txBody>
      </p:sp>
      <p:sp>
        <p:nvSpPr>
          <p:cNvPr id="28" name="Shape 22"/>
          <p:cNvSpPr/>
          <p:nvPr/>
        </p:nvSpPr>
        <p:spPr>
          <a:xfrm>
            <a:off x="4368698" y="3703320"/>
            <a:ext cx="3454298" cy="2011680"/>
          </a:xfrm>
          <a:prstGeom prst="roundRect">
            <a:avLst>
              <a:gd name="adj" fmla="val 4545"/>
            </a:avLst>
          </a:prstGeom>
          <a:solidFill>
            <a:srgbClr val="F7F5F2"/>
          </a:solidFill>
          <a:ln/>
        </p:spPr>
        <p:txBody>
          <a:bodyPr/>
          <a:lstStyle/>
          <a:p>
            <a:endParaRPr lang="en-US"/>
          </a:p>
        </p:txBody>
      </p:sp>
      <p:sp>
        <p:nvSpPr>
          <p:cNvPr id="29" name="Shape 23"/>
          <p:cNvSpPr/>
          <p:nvPr/>
        </p:nvSpPr>
        <p:spPr>
          <a:xfrm>
            <a:off x="4606442" y="3941064"/>
            <a:ext cx="438912" cy="438912"/>
          </a:xfrm>
          <a:prstGeom prst="ellipse">
            <a:avLst/>
          </a:prstGeom>
          <a:solidFill>
            <a:srgbClr val="039475"/>
          </a:solidFill>
          <a:ln/>
        </p:spPr>
        <p:txBody>
          <a:bodyPr/>
          <a:lstStyle/>
          <a:p>
            <a:endParaRPr lang="en-US"/>
          </a:p>
        </p:txBody>
      </p:sp>
      <p:pic>
        <p:nvPicPr>
          <p:cNvPr id="30" name="Image 4" descr="/home/claude/work/build/icons/clipboard_white.png"/>
          <p:cNvPicPr>
            <a:picLocks noChangeAspect="1"/>
          </p:cNvPicPr>
          <p:nvPr/>
        </p:nvPicPr>
        <p:blipFill>
          <a:blip r:embed="rId7"/>
          <a:stretch>
            <a:fillRect/>
          </a:stretch>
        </p:blipFill>
        <p:spPr>
          <a:xfrm>
            <a:off x="4716170" y="4050792"/>
            <a:ext cx="219456" cy="219456"/>
          </a:xfrm>
          <a:prstGeom prst="rect">
            <a:avLst/>
          </a:prstGeom>
        </p:spPr>
      </p:pic>
      <p:sp>
        <p:nvSpPr>
          <p:cNvPr id="31" name="Text 24"/>
          <p:cNvSpPr/>
          <p:nvPr/>
        </p:nvSpPr>
        <p:spPr>
          <a:xfrm>
            <a:off x="4606442" y="4489704"/>
            <a:ext cx="2978810" cy="274320"/>
          </a:xfrm>
          <a:prstGeom prst="rect">
            <a:avLst/>
          </a:prstGeom>
          <a:noFill/>
          <a:ln/>
        </p:spPr>
        <p:txBody>
          <a:bodyPr wrap="square" lIns="0" tIns="0" rIns="0" bIns="0" rtlCol="0" anchor="ctr"/>
          <a:lstStyle/>
          <a:p>
            <a:pPr marL="0" indent="0">
              <a:buNone/>
            </a:pPr>
            <a:r>
              <a:rPr lang="en-US" sz="1350" b="1" dirty="0">
                <a:solidFill>
                  <a:srgbClr val="22302B"/>
                </a:solidFill>
                <a:latin typeface="Calibri" pitchFamily="34" charset="0"/>
                <a:ea typeface="Calibri" pitchFamily="34" charset="-122"/>
                <a:cs typeface="Calibri" pitchFamily="34" charset="-120"/>
              </a:rPr>
              <a:t>Snakemake cheat sheet</a:t>
            </a:r>
            <a:endParaRPr lang="en-US" sz="1350" dirty="0"/>
          </a:p>
        </p:txBody>
      </p:sp>
      <p:sp>
        <p:nvSpPr>
          <p:cNvPr id="32" name="Text 25"/>
          <p:cNvSpPr/>
          <p:nvPr/>
        </p:nvSpPr>
        <p:spPr>
          <a:xfrm>
            <a:off x="4606442" y="4800600"/>
            <a:ext cx="2978810" cy="420624"/>
          </a:xfrm>
          <a:prstGeom prst="rect">
            <a:avLst/>
          </a:prstGeom>
          <a:noFill/>
          <a:ln/>
        </p:spPr>
        <p:txBody>
          <a:bodyPr wrap="square" lIns="0" tIns="0" rIns="0" bIns="0" rtlCol="0" anchor="ctr"/>
          <a:lstStyle/>
          <a:p>
            <a:pPr marL="0" indent="0">
              <a:lnSpc>
                <a:spcPct val="110000"/>
              </a:lnSpc>
              <a:buNone/>
            </a:pPr>
            <a:r>
              <a:rPr lang="en-US" sz="900" dirty="0">
                <a:solidFill>
                  <a:srgbClr val="039475"/>
                </a:solidFill>
                <a:latin typeface="Courier New" pitchFamily="34" charset="0"/>
                <a:ea typeface="Courier New" pitchFamily="34" charset="-122"/>
                <a:cs typeface="Courier New" pitchFamily="34" charset="-120"/>
              </a:rPr>
              <a:t>gist.github.com/npicciani</a:t>
            </a:r>
            <a:endParaRPr lang="en-US" sz="900" dirty="0"/>
          </a:p>
        </p:txBody>
      </p:sp>
      <p:sp>
        <p:nvSpPr>
          <p:cNvPr id="33" name="Text 26"/>
          <p:cNvSpPr/>
          <p:nvPr/>
        </p:nvSpPr>
        <p:spPr>
          <a:xfrm>
            <a:off x="4606442" y="5257800"/>
            <a:ext cx="2978810" cy="384048"/>
          </a:xfrm>
          <a:prstGeom prst="rect">
            <a:avLst/>
          </a:prstGeom>
          <a:noFill/>
          <a:ln/>
        </p:spPr>
        <p:txBody>
          <a:bodyPr wrap="square" lIns="0" tIns="0" rIns="0" bIns="0" rtlCol="0" anchor="ctr"/>
          <a:lstStyle/>
          <a:p>
            <a:pPr marL="0" indent="0">
              <a:lnSpc>
                <a:spcPct val="110000"/>
              </a:lnSpc>
              <a:buNone/>
            </a:pPr>
            <a:r>
              <a:rPr lang="en-US" sz="1000" dirty="0">
                <a:solidFill>
                  <a:srgbClr val="5C6B66"/>
                </a:solidFill>
                <a:latin typeface="Calibri" pitchFamily="34" charset="0"/>
                <a:ea typeface="Calibri" pitchFamily="34" charset="-122"/>
                <a:cs typeface="Calibri" pitchFamily="34" charset="-120"/>
              </a:rPr>
              <a:t>quick reference &amp; the project structure from this talk</a:t>
            </a:r>
            <a:endParaRPr lang="en-US" sz="1000" dirty="0"/>
          </a:p>
        </p:txBody>
      </p:sp>
      <p:sp>
        <p:nvSpPr>
          <p:cNvPr id="34" name="Shape 27"/>
          <p:cNvSpPr/>
          <p:nvPr/>
        </p:nvSpPr>
        <p:spPr>
          <a:xfrm>
            <a:off x="8188757" y="3703320"/>
            <a:ext cx="3454298" cy="2011680"/>
          </a:xfrm>
          <a:prstGeom prst="roundRect">
            <a:avLst>
              <a:gd name="adj" fmla="val 4545"/>
            </a:avLst>
          </a:prstGeom>
          <a:solidFill>
            <a:srgbClr val="F7F5F2"/>
          </a:solidFill>
          <a:ln/>
        </p:spPr>
        <p:txBody>
          <a:bodyPr/>
          <a:lstStyle/>
          <a:p>
            <a:endParaRPr lang="en-US"/>
          </a:p>
        </p:txBody>
      </p:sp>
      <p:sp>
        <p:nvSpPr>
          <p:cNvPr id="35" name="Shape 28"/>
          <p:cNvSpPr/>
          <p:nvPr/>
        </p:nvSpPr>
        <p:spPr>
          <a:xfrm>
            <a:off x="8426501" y="3941064"/>
            <a:ext cx="438912" cy="438912"/>
          </a:xfrm>
          <a:prstGeom prst="ellipse">
            <a:avLst/>
          </a:prstGeom>
          <a:solidFill>
            <a:srgbClr val="039475"/>
          </a:solidFill>
          <a:ln/>
        </p:spPr>
        <p:txBody>
          <a:bodyPr/>
          <a:lstStyle/>
          <a:p>
            <a:endParaRPr lang="en-US"/>
          </a:p>
        </p:txBody>
      </p:sp>
      <p:pic>
        <p:nvPicPr>
          <p:cNvPr id="36" name="Image 5" descr="/home/claude/work/build/icons/layer_white.png"/>
          <p:cNvPicPr>
            <a:picLocks noChangeAspect="1"/>
          </p:cNvPicPr>
          <p:nvPr/>
        </p:nvPicPr>
        <p:blipFill>
          <a:blip r:embed="rId8"/>
          <a:stretch>
            <a:fillRect/>
          </a:stretch>
        </p:blipFill>
        <p:spPr>
          <a:xfrm>
            <a:off x="8536229" y="4050792"/>
            <a:ext cx="219456" cy="219456"/>
          </a:xfrm>
          <a:prstGeom prst="rect">
            <a:avLst/>
          </a:prstGeom>
        </p:spPr>
      </p:pic>
      <p:sp>
        <p:nvSpPr>
          <p:cNvPr id="37" name="Text 29"/>
          <p:cNvSpPr/>
          <p:nvPr/>
        </p:nvSpPr>
        <p:spPr>
          <a:xfrm>
            <a:off x="8426501" y="4489704"/>
            <a:ext cx="2978810" cy="274320"/>
          </a:xfrm>
          <a:prstGeom prst="rect">
            <a:avLst/>
          </a:prstGeom>
          <a:noFill/>
          <a:ln/>
        </p:spPr>
        <p:txBody>
          <a:bodyPr wrap="square" lIns="0" tIns="0" rIns="0" bIns="0" rtlCol="0" anchor="ctr"/>
          <a:lstStyle/>
          <a:p>
            <a:pPr marL="0" indent="0">
              <a:buNone/>
            </a:pPr>
            <a:r>
              <a:rPr lang="en-US" sz="1350" b="1" dirty="0">
                <a:solidFill>
                  <a:srgbClr val="22302B"/>
                </a:solidFill>
                <a:latin typeface="Calibri" pitchFamily="34" charset="0"/>
                <a:ea typeface="Calibri" pitchFamily="34" charset="-122"/>
                <a:cs typeface="Calibri" pitchFamily="34" charset="-120"/>
              </a:rPr>
              <a:t>Snakemake Wrappers</a:t>
            </a:r>
            <a:endParaRPr lang="en-US" sz="1350" dirty="0"/>
          </a:p>
        </p:txBody>
      </p:sp>
      <p:sp>
        <p:nvSpPr>
          <p:cNvPr id="38" name="Text 30"/>
          <p:cNvSpPr/>
          <p:nvPr/>
        </p:nvSpPr>
        <p:spPr>
          <a:xfrm>
            <a:off x="8426501" y="4800600"/>
            <a:ext cx="2978810" cy="420624"/>
          </a:xfrm>
          <a:prstGeom prst="rect">
            <a:avLst/>
          </a:prstGeom>
          <a:noFill/>
          <a:ln/>
        </p:spPr>
        <p:txBody>
          <a:bodyPr wrap="square" lIns="0" tIns="0" rIns="0" bIns="0" rtlCol="0" anchor="ctr"/>
          <a:lstStyle/>
          <a:p>
            <a:pPr marL="0" indent="0">
              <a:lnSpc>
                <a:spcPct val="110000"/>
              </a:lnSpc>
              <a:buNone/>
            </a:pPr>
            <a:r>
              <a:rPr lang="en-US" sz="900" dirty="0">
                <a:solidFill>
                  <a:srgbClr val="039475"/>
                </a:solidFill>
                <a:latin typeface="Courier New" pitchFamily="34" charset="0"/>
                <a:ea typeface="Courier New" pitchFamily="34" charset="-122"/>
                <a:cs typeface="Courier New" pitchFamily="34" charset="-120"/>
              </a:rPr>
              <a:t>snakemake-wrappers.readthedocs.io</a:t>
            </a:r>
            <a:endParaRPr lang="en-US" sz="900" dirty="0"/>
          </a:p>
        </p:txBody>
      </p:sp>
      <p:sp>
        <p:nvSpPr>
          <p:cNvPr id="39" name="Text 31"/>
          <p:cNvSpPr/>
          <p:nvPr/>
        </p:nvSpPr>
        <p:spPr>
          <a:xfrm>
            <a:off x="8426501" y="5257800"/>
            <a:ext cx="2978810" cy="384048"/>
          </a:xfrm>
          <a:prstGeom prst="rect">
            <a:avLst/>
          </a:prstGeom>
          <a:noFill/>
          <a:ln/>
        </p:spPr>
        <p:txBody>
          <a:bodyPr wrap="square" lIns="0" tIns="0" rIns="0" bIns="0" rtlCol="0" anchor="ctr"/>
          <a:lstStyle/>
          <a:p>
            <a:pPr marL="0" indent="0">
              <a:lnSpc>
                <a:spcPct val="110000"/>
              </a:lnSpc>
              <a:buNone/>
            </a:pPr>
            <a:r>
              <a:rPr lang="en-US" sz="1000" dirty="0">
                <a:solidFill>
                  <a:srgbClr val="5C6B66"/>
                </a:solidFill>
                <a:latin typeface="Calibri" pitchFamily="34" charset="0"/>
                <a:ea typeface="Calibri" pitchFamily="34" charset="-122"/>
                <a:cs typeface="Calibri" pitchFamily="34" charset="-120"/>
              </a:rPr>
              <a:t>ready-made rules for common bioinformatics tools</a:t>
            </a:r>
            <a:endParaRPr lang="en-US" sz="1000" dirty="0"/>
          </a:p>
        </p:txBody>
      </p:sp>
      <p:sp>
        <p:nvSpPr>
          <p:cNvPr id="40" name="Text 32"/>
          <p:cNvSpPr/>
          <p:nvPr/>
        </p:nvSpPr>
        <p:spPr>
          <a:xfrm>
            <a:off x="548640" y="6547104"/>
            <a:ext cx="7315200" cy="256032"/>
          </a:xfrm>
          <a:prstGeom prst="rect">
            <a:avLst/>
          </a:prstGeom>
          <a:noFill/>
          <a:ln/>
        </p:spPr>
        <p:txBody>
          <a:bodyPr wrap="square" rtlCol="0" anchor="ctr"/>
          <a:lstStyle/>
          <a:p>
            <a:pPr marL="0" indent="0" algn="l">
              <a:buNone/>
            </a:pPr>
            <a:r>
              <a:rPr lang="en-US" sz="900" dirty="0">
                <a:solidFill>
                  <a:srgbClr val="8A9995"/>
                </a:solidFill>
                <a:latin typeface="Calibri" pitchFamily="34" charset="0"/>
                <a:ea typeface="Calibri" pitchFamily="34" charset="-122"/>
                <a:cs typeface="Calibri" pitchFamily="34" charset="-120"/>
              </a:rPr>
              <a:t>PSU One Health Microbiome Center  ·  KickStart 2026  ·  Day 3: Snakemake</a:t>
            </a:r>
            <a:endParaRPr lang="en-US" sz="900" dirty="0"/>
          </a:p>
        </p:txBody>
      </p:sp>
      <p:sp>
        <p:nvSpPr>
          <p:cNvPr id="41" name="Text 33"/>
          <p:cNvSpPr/>
          <p:nvPr/>
        </p:nvSpPr>
        <p:spPr>
          <a:xfrm>
            <a:off x="10728655" y="6547104"/>
            <a:ext cx="914400" cy="256032"/>
          </a:xfrm>
          <a:prstGeom prst="rect">
            <a:avLst/>
          </a:prstGeom>
          <a:noFill/>
          <a:ln/>
        </p:spPr>
        <p:txBody>
          <a:bodyPr wrap="square" rtlCol="0" anchor="ctr"/>
          <a:lstStyle/>
          <a:p>
            <a:pPr marL="0" indent="0" algn="r">
              <a:buNone/>
            </a:pPr>
            <a:r>
              <a:rPr lang="en-US" sz="900" dirty="0">
                <a:solidFill>
                  <a:srgbClr val="8A999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11D"/>
        </a:solidFill>
        <a:effectLst/>
      </p:bgPr>
    </p:bg>
    <p:spTree>
      <p:nvGrpSpPr>
        <p:cNvPr id="1" name=""/>
        <p:cNvGrpSpPr/>
        <p:nvPr/>
      </p:nvGrpSpPr>
      <p:grpSpPr>
        <a:xfrm>
          <a:off x="0" y="0"/>
          <a:ext cx="0" cy="0"/>
          <a:chOff x="0" y="0"/>
          <a:chExt cx="0" cy="0"/>
        </a:xfrm>
      </p:grpSpPr>
      <p:sp>
        <p:nvSpPr>
          <p:cNvPr id="2" name="Shape 0"/>
          <p:cNvSpPr/>
          <p:nvPr/>
        </p:nvSpPr>
        <p:spPr>
          <a:xfrm flipV="1">
            <a:off x="9774936" y="4837176"/>
            <a:ext cx="1005840" cy="365760"/>
          </a:xfrm>
          <a:prstGeom prst="line">
            <a:avLst/>
          </a:prstGeom>
          <a:noFill/>
          <a:ln w="22225">
            <a:solidFill>
              <a:srgbClr val="2A3D36"/>
            </a:solidFill>
            <a:prstDash val="solid"/>
            <a:tailEnd type="triangle"/>
          </a:ln>
        </p:spPr>
        <p:txBody>
          <a:bodyPr/>
          <a:lstStyle/>
          <a:p>
            <a:endParaRPr lang="en-US"/>
          </a:p>
        </p:txBody>
      </p:sp>
      <p:sp>
        <p:nvSpPr>
          <p:cNvPr id="3" name="Shape 1"/>
          <p:cNvSpPr/>
          <p:nvPr/>
        </p:nvSpPr>
        <p:spPr>
          <a:xfrm>
            <a:off x="9774936" y="5202936"/>
            <a:ext cx="1005840" cy="365760"/>
          </a:xfrm>
          <a:prstGeom prst="line">
            <a:avLst/>
          </a:prstGeom>
          <a:noFill/>
          <a:ln w="22225">
            <a:solidFill>
              <a:srgbClr val="2A3D36"/>
            </a:solidFill>
            <a:prstDash val="solid"/>
            <a:tailEnd type="triangle"/>
          </a:ln>
        </p:spPr>
        <p:txBody>
          <a:bodyPr/>
          <a:lstStyle/>
          <a:p>
            <a:endParaRPr lang="en-US"/>
          </a:p>
        </p:txBody>
      </p:sp>
      <p:sp>
        <p:nvSpPr>
          <p:cNvPr id="4" name="Shape 2"/>
          <p:cNvSpPr/>
          <p:nvPr/>
        </p:nvSpPr>
        <p:spPr>
          <a:xfrm>
            <a:off x="10780776" y="4837176"/>
            <a:ext cx="731520" cy="365760"/>
          </a:xfrm>
          <a:prstGeom prst="line">
            <a:avLst/>
          </a:prstGeom>
          <a:noFill/>
          <a:ln w="22225">
            <a:solidFill>
              <a:srgbClr val="2A3D36"/>
            </a:solidFill>
            <a:prstDash val="solid"/>
            <a:tailEnd type="triangle"/>
          </a:ln>
        </p:spPr>
        <p:txBody>
          <a:bodyPr/>
          <a:lstStyle/>
          <a:p>
            <a:endParaRPr lang="en-US"/>
          </a:p>
        </p:txBody>
      </p:sp>
      <p:sp>
        <p:nvSpPr>
          <p:cNvPr id="5" name="Shape 3"/>
          <p:cNvSpPr/>
          <p:nvPr/>
        </p:nvSpPr>
        <p:spPr>
          <a:xfrm flipV="1">
            <a:off x="10780776" y="5202936"/>
            <a:ext cx="731520" cy="365760"/>
          </a:xfrm>
          <a:prstGeom prst="line">
            <a:avLst/>
          </a:prstGeom>
          <a:noFill/>
          <a:ln w="22225">
            <a:solidFill>
              <a:srgbClr val="2A3D36"/>
            </a:solidFill>
            <a:prstDash val="solid"/>
            <a:tailEnd type="triangle"/>
          </a:ln>
        </p:spPr>
        <p:txBody>
          <a:bodyPr/>
          <a:lstStyle/>
          <a:p>
            <a:endParaRPr lang="en-US"/>
          </a:p>
        </p:txBody>
      </p:sp>
      <p:sp>
        <p:nvSpPr>
          <p:cNvPr id="6" name="Shape 4"/>
          <p:cNvSpPr/>
          <p:nvPr/>
        </p:nvSpPr>
        <p:spPr>
          <a:xfrm>
            <a:off x="9692640" y="5120640"/>
            <a:ext cx="164592" cy="164592"/>
          </a:xfrm>
          <a:prstGeom prst="ellipse">
            <a:avLst/>
          </a:prstGeom>
          <a:solidFill>
            <a:srgbClr val="2F4A40"/>
          </a:solidFill>
          <a:ln/>
        </p:spPr>
        <p:txBody>
          <a:bodyPr/>
          <a:lstStyle/>
          <a:p>
            <a:endParaRPr lang="en-US"/>
          </a:p>
        </p:txBody>
      </p:sp>
      <p:sp>
        <p:nvSpPr>
          <p:cNvPr id="7" name="Shape 5"/>
          <p:cNvSpPr/>
          <p:nvPr/>
        </p:nvSpPr>
        <p:spPr>
          <a:xfrm>
            <a:off x="10698480" y="4754880"/>
            <a:ext cx="164592" cy="164592"/>
          </a:xfrm>
          <a:prstGeom prst="ellipse">
            <a:avLst/>
          </a:prstGeom>
          <a:solidFill>
            <a:srgbClr val="2F4A40"/>
          </a:solidFill>
          <a:ln/>
        </p:spPr>
        <p:txBody>
          <a:bodyPr/>
          <a:lstStyle/>
          <a:p>
            <a:endParaRPr lang="en-US"/>
          </a:p>
        </p:txBody>
      </p:sp>
      <p:sp>
        <p:nvSpPr>
          <p:cNvPr id="8" name="Shape 6"/>
          <p:cNvSpPr/>
          <p:nvPr/>
        </p:nvSpPr>
        <p:spPr>
          <a:xfrm>
            <a:off x="10698480" y="5486400"/>
            <a:ext cx="164592" cy="164592"/>
          </a:xfrm>
          <a:prstGeom prst="ellipse">
            <a:avLst/>
          </a:prstGeom>
          <a:solidFill>
            <a:srgbClr val="2F4A40"/>
          </a:solidFill>
          <a:ln/>
        </p:spPr>
        <p:txBody>
          <a:bodyPr/>
          <a:lstStyle/>
          <a:p>
            <a:endParaRPr lang="en-US"/>
          </a:p>
        </p:txBody>
      </p:sp>
      <p:sp>
        <p:nvSpPr>
          <p:cNvPr id="9" name="Shape 7"/>
          <p:cNvSpPr/>
          <p:nvPr/>
        </p:nvSpPr>
        <p:spPr>
          <a:xfrm>
            <a:off x="11430000" y="5120640"/>
            <a:ext cx="164592" cy="164592"/>
          </a:xfrm>
          <a:prstGeom prst="ellipse">
            <a:avLst/>
          </a:prstGeom>
          <a:solidFill>
            <a:srgbClr val="2F4A40"/>
          </a:solidFill>
          <a:ln/>
        </p:spPr>
        <p:txBody>
          <a:bodyPr/>
          <a:lstStyle/>
          <a:p>
            <a:endParaRPr lang="en-US"/>
          </a:p>
        </p:txBody>
      </p:sp>
      <p:sp>
        <p:nvSpPr>
          <p:cNvPr id="10" name="Shape 8"/>
          <p:cNvSpPr/>
          <p:nvPr/>
        </p:nvSpPr>
        <p:spPr>
          <a:xfrm>
            <a:off x="5684368" y="1965960"/>
            <a:ext cx="822960" cy="822960"/>
          </a:xfrm>
          <a:prstGeom prst="ellipse">
            <a:avLst/>
          </a:prstGeom>
          <a:solidFill>
            <a:srgbClr val="039475"/>
          </a:solidFill>
          <a:ln/>
        </p:spPr>
        <p:txBody>
          <a:bodyPr/>
          <a:lstStyle/>
          <a:p>
            <a:endParaRPr lang="en-US"/>
          </a:p>
        </p:txBody>
      </p:sp>
      <p:pic>
        <p:nvPicPr>
          <p:cNvPr id="11" name="Image 0" descr="/home/claude/work/build/icons/question_white.png"/>
          <p:cNvPicPr>
            <a:picLocks noChangeAspect="1"/>
          </p:cNvPicPr>
          <p:nvPr/>
        </p:nvPicPr>
        <p:blipFill>
          <a:blip r:embed="rId3"/>
          <a:stretch>
            <a:fillRect/>
          </a:stretch>
        </p:blipFill>
        <p:spPr>
          <a:xfrm>
            <a:off x="5885536" y="2167128"/>
            <a:ext cx="420624" cy="420624"/>
          </a:xfrm>
          <a:prstGeom prst="rect">
            <a:avLst/>
          </a:prstGeom>
        </p:spPr>
      </p:pic>
      <p:sp>
        <p:nvSpPr>
          <p:cNvPr id="12" name="Text 9"/>
          <p:cNvSpPr/>
          <p:nvPr/>
        </p:nvSpPr>
        <p:spPr>
          <a:xfrm>
            <a:off x="0" y="2971800"/>
            <a:ext cx="12191695" cy="7315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Questions?</a:t>
            </a:r>
            <a:endParaRPr lang="en-US" sz="4000" dirty="0"/>
          </a:p>
        </p:txBody>
      </p:sp>
      <p:sp>
        <p:nvSpPr>
          <p:cNvPr id="13" name="Text 10"/>
          <p:cNvSpPr/>
          <p:nvPr/>
        </p:nvSpPr>
        <p:spPr>
          <a:xfrm>
            <a:off x="0" y="4343400"/>
            <a:ext cx="12191695"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Dr. Jess Grembi</a:t>
            </a:r>
            <a:endParaRPr lang="en-US" sz="1600" dirty="0"/>
          </a:p>
        </p:txBody>
      </p:sp>
      <p:sp>
        <p:nvSpPr>
          <p:cNvPr id="14" name="Text 11"/>
          <p:cNvSpPr/>
          <p:nvPr/>
        </p:nvSpPr>
        <p:spPr>
          <a:xfrm>
            <a:off x="0" y="4709160"/>
            <a:ext cx="12191695" cy="365760"/>
          </a:xfrm>
          <a:prstGeom prst="rect">
            <a:avLst/>
          </a:prstGeom>
          <a:noFill/>
          <a:ln/>
        </p:spPr>
        <p:txBody>
          <a:bodyPr wrap="square" rtlCol="0" anchor="ctr"/>
          <a:lstStyle/>
          <a:p>
            <a:pPr algn="ctr"/>
            <a:r>
              <a:rPr lang="en-US" sz="1300" dirty="0">
                <a:solidFill>
                  <a:srgbClr val="8AA39A"/>
                </a:solidFill>
                <a:latin typeface="Calibri" pitchFamily="34" charset="0"/>
                <a:ea typeface="Calibri" pitchFamily="34" charset="-122"/>
                <a:cs typeface="Calibri" pitchFamily="34" charset="-120"/>
              </a:rPr>
              <a:t>Find me during the break if we run out of time – or ask Eliza, she’s run a LOT of </a:t>
            </a:r>
            <a:r>
              <a:rPr lang="en-US" sz="1300" dirty="0" err="1">
                <a:solidFill>
                  <a:srgbClr val="8AA39A"/>
                </a:solidFill>
                <a:latin typeface="Calibri" pitchFamily="34" charset="0"/>
                <a:ea typeface="Calibri" pitchFamily="34" charset="-122"/>
                <a:cs typeface="Calibri" pitchFamily="34" charset="-120"/>
              </a:rPr>
              <a:t>Snakemake</a:t>
            </a:r>
            <a:r>
              <a:rPr lang="en-US" sz="1300" dirty="0">
                <a:solidFill>
                  <a:srgbClr val="8AA39A"/>
                </a:solidFill>
                <a:latin typeface="Calibri" pitchFamily="34" charset="0"/>
                <a:ea typeface="Calibri" pitchFamily="34" charset="-122"/>
                <a:cs typeface="Calibri" pitchFamily="34" charset="-120"/>
              </a:rPr>
              <a:t> in the past year!</a:t>
            </a:r>
            <a:endParaRPr lang="en-US" sz="1300" dirty="0"/>
          </a:p>
        </p:txBody>
      </p:sp>
      <p:pic>
        <p:nvPicPr>
          <p:cNvPr id="15" name="Image 1" descr="/home/claude/work/build/snakemake_logo_white.png"/>
          <p:cNvPicPr>
            <a:picLocks noChangeAspect="1"/>
          </p:cNvPicPr>
          <p:nvPr/>
        </p:nvPicPr>
        <p:blipFill>
          <a:blip r:embed="rId4"/>
          <a:stretch>
            <a:fillRect/>
          </a:stretch>
        </p:blipFill>
        <p:spPr>
          <a:xfrm>
            <a:off x="5272888" y="5806440"/>
            <a:ext cx="1645920" cy="40505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3598</Words>
  <Application>Microsoft Macintosh PowerPoint</Application>
  <PresentationFormat>Widescreen</PresentationFormat>
  <Paragraphs>289</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Grembi, Jessica A</cp:lastModifiedBy>
  <cp:revision>3</cp:revision>
  <dcterms:created xsi:type="dcterms:W3CDTF">2026-08-07T02:05:28Z</dcterms:created>
  <dcterms:modified xsi:type="dcterms:W3CDTF">2026-08-07T02:20:52Z</dcterms:modified>
</cp:coreProperties>
</file>