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8"/>
  </p:notesMasterIdLst>
  <p:sldIdLst>
    <p:sldId id="325" r:id="rId2"/>
    <p:sldId id="478" r:id="rId3"/>
    <p:sldId id="691" r:id="rId4"/>
    <p:sldId id="1374" r:id="rId5"/>
    <p:sldId id="1375" r:id="rId6"/>
    <p:sldId id="1377" r:id="rId7"/>
    <p:sldId id="1378" r:id="rId8"/>
    <p:sldId id="1376" r:id="rId9"/>
    <p:sldId id="579" r:id="rId10"/>
    <p:sldId id="580" r:id="rId11"/>
    <p:sldId id="581" r:id="rId12"/>
    <p:sldId id="677" r:id="rId13"/>
    <p:sldId id="257" r:id="rId14"/>
    <p:sldId id="675" r:id="rId15"/>
    <p:sldId id="651" r:id="rId16"/>
    <p:sldId id="652" r:id="rId17"/>
    <p:sldId id="670" r:id="rId18"/>
    <p:sldId id="661" r:id="rId19"/>
    <p:sldId id="660" r:id="rId20"/>
    <p:sldId id="662" r:id="rId21"/>
    <p:sldId id="665" r:id="rId22"/>
    <p:sldId id="666" r:id="rId23"/>
    <p:sldId id="667" r:id="rId24"/>
    <p:sldId id="668" r:id="rId25"/>
    <p:sldId id="669" r:id="rId26"/>
    <p:sldId id="681" r:id="rId27"/>
    <p:sldId id="682" r:id="rId28"/>
    <p:sldId id="683" r:id="rId29"/>
    <p:sldId id="685" r:id="rId30"/>
    <p:sldId id="684" r:id="rId31"/>
    <p:sldId id="678" r:id="rId32"/>
    <p:sldId id="672" r:id="rId33"/>
    <p:sldId id="673" r:id="rId34"/>
    <p:sldId id="676" r:id="rId35"/>
    <p:sldId id="679" r:id="rId36"/>
    <p:sldId id="680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558ED5"/>
    <a:srgbClr val="3A3AFF"/>
    <a:srgbClr val="D1CC00"/>
    <a:srgbClr val="D95F02"/>
    <a:srgbClr val="FFFFFF"/>
    <a:srgbClr val="D7D210"/>
    <a:srgbClr val="CCCC00"/>
    <a:srgbClr val="CC0099"/>
    <a:srgbClr val="77C5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79"/>
    <p:restoredTop sz="94863" autoAdjust="0"/>
  </p:normalViewPr>
  <p:slideViewPr>
    <p:cSldViewPr>
      <p:cViewPr varScale="1">
        <p:scale>
          <a:sx n="139" d="100"/>
          <a:sy n="139" d="100"/>
        </p:scale>
        <p:origin x="378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B5E-408A-B852-66BABBC4FA5C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B5E-408A-B852-66BABBC4FA5C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B5E-408A-B852-66BABBC4FA5C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B5E-408A-B852-66BABBC4FA5C}"/>
              </c:ext>
            </c:extLst>
          </c:dPt>
          <c:dPt>
            <c:idx val="4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7B5E-408A-B852-66BABBC4FA5C}"/>
              </c:ext>
            </c:extLst>
          </c:dPt>
          <c:cat>
            <c:numRef>
              <c:f>Sheet1!$A$2:$A$6</c:f>
              <c:numCache>
                <c:formatCode>General</c:formatCode>
                <c:ptCount val="5"/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1.2</c:v>
                </c:pt>
                <c:pt idx="1">
                  <c:v>3.2</c:v>
                </c:pt>
                <c:pt idx="2">
                  <c:v>1.4</c:v>
                </c:pt>
                <c:pt idx="3">
                  <c:v>8.4</c:v>
                </c:pt>
                <c:pt idx="4">
                  <c:v>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B5E-408A-B852-66BABBC4FA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9F94FC-9220-40F0-AFB6-0344CE0F5ECB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2A41AE-EBA9-4252-969B-C707D1882A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316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1</a:t>
            </a:fld>
            <a:endParaRPr lang="en-US"/>
          </a:p>
        </p:txBody>
      </p:sp>
      <p:sp>
        <p:nvSpPr>
          <p:cNvPr id="296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4588" y="695325"/>
            <a:ext cx="4570412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6361" y="4342535"/>
            <a:ext cx="5486680" cy="411451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54" tIns="41027" rIns="82054" bIns="41027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2</a:t>
            </a:fld>
            <a:endParaRPr lang="en-US"/>
          </a:p>
        </p:txBody>
      </p:sp>
      <p:sp>
        <p:nvSpPr>
          <p:cNvPr id="296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895600" y="533400"/>
            <a:ext cx="3506788" cy="2628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0400" y="3329277"/>
            <a:ext cx="7437500" cy="31544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54" tIns="41027" rIns="82054" bIns="41027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33CD96-CE2B-9FEA-2BA2-56608704E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5453970-3E1E-0F80-C20D-35A7FCA64B6B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3</a:t>
            </a:fld>
            <a:endParaRPr lang="en-US"/>
          </a:p>
        </p:txBody>
      </p:sp>
      <p:sp>
        <p:nvSpPr>
          <p:cNvPr id="29697" name="Rectangle 1">
            <a:extLst>
              <a:ext uri="{FF2B5EF4-FFF2-40B4-BE49-F238E27FC236}">
                <a16:creationId xmlns:a16="http://schemas.microsoft.com/office/drawing/2014/main" id="{CF9E02E3-BE24-033A-D867-BF21C301A9D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895600" y="533400"/>
            <a:ext cx="3506788" cy="2628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36FD31EA-6F6E-1921-EC06-49E6D29CF37A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0400" y="3329277"/>
            <a:ext cx="7437500" cy="31544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54" tIns="41027" rIns="82054" bIns="41027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600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F67D08-64A2-873E-B5A0-D2764EE3B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A4F56AB-89FB-197E-F813-A22E31A8C7F8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4</a:t>
            </a:fld>
            <a:endParaRPr lang="en-US"/>
          </a:p>
        </p:txBody>
      </p:sp>
      <p:sp>
        <p:nvSpPr>
          <p:cNvPr id="29697" name="Rectangle 1">
            <a:extLst>
              <a:ext uri="{FF2B5EF4-FFF2-40B4-BE49-F238E27FC236}">
                <a16:creationId xmlns:a16="http://schemas.microsoft.com/office/drawing/2014/main" id="{C4A76F41-79B2-6ED5-E8FA-E7FE9C01A33F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895600" y="533400"/>
            <a:ext cx="3506788" cy="2628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1712EBC9-2858-D5E0-5AD9-362120E18C42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0400" y="3329277"/>
            <a:ext cx="7437500" cy="31544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54" tIns="41027" rIns="82054" bIns="41027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771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749E45-6023-743C-FC44-2FDEC0A38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8667C71-A848-27CE-6D8D-088EACF90E28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5</a:t>
            </a:fld>
            <a:endParaRPr lang="en-US"/>
          </a:p>
        </p:txBody>
      </p:sp>
      <p:sp>
        <p:nvSpPr>
          <p:cNvPr id="29697" name="Rectangle 1">
            <a:extLst>
              <a:ext uri="{FF2B5EF4-FFF2-40B4-BE49-F238E27FC236}">
                <a16:creationId xmlns:a16="http://schemas.microsoft.com/office/drawing/2014/main" id="{3D2B3C66-53A3-4DAE-7035-0EF97F2AD64A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895600" y="533400"/>
            <a:ext cx="3506788" cy="2628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F48A6EC5-58AE-6FAD-598A-1ECC99B9526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0400" y="3329277"/>
            <a:ext cx="7437500" cy="31544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54" tIns="41027" rIns="82054" bIns="41027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6748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2B40FA-C9B4-DA04-AD35-6A2BB564F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1EA9BF-EB03-7CBF-D721-E6FF3C051045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6</a:t>
            </a:fld>
            <a:endParaRPr lang="en-US"/>
          </a:p>
        </p:txBody>
      </p:sp>
      <p:sp>
        <p:nvSpPr>
          <p:cNvPr id="29697" name="Rectangle 1">
            <a:extLst>
              <a:ext uri="{FF2B5EF4-FFF2-40B4-BE49-F238E27FC236}">
                <a16:creationId xmlns:a16="http://schemas.microsoft.com/office/drawing/2014/main" id="{1B0E8748-FA7D-E02D-C5DF-4BAF78600F38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895600" y="533400"/>
            <a:ext cx="3506788" cy="2628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88E787A7-24D4-7D64-B827-346C28DE4272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0400" y="3329277"/>
            <a:ext cx="7437500" cy="31544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54" tIns="41027" rIns="82054" bIns="41027" anchor="ctr"/>
          <a:lstStyle/>
          <a:p>
            <a:r>
              <a:rPr lang="en-US" dirty="0"/>
              <a:t>Bottom is months since 2017 (to 2025), top is GTDB release date</a:t>
            </a:r>
          </a:p>
        </p:txBody>
      </p:sp>
    </p:spTree>
    <p:extLst>
      <p:ext uri="{BB962C8B-B14F-4D97-AF65-F5344CB8AC3E}">
        <p14:creationId xmlns:p14="http://schemas.microsoft.com/office/powerpoint/2010/main" val="33168391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313A05-5A39-D8A1-4BD2-CE9B8F815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BB70954-A683-9D7B-4F1F-0B8642D75BF8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7</a:t>
            </a:fld>
            <a:endParaRPr lang="en-US"/>
          </a:p>
        </p:txBody>
      </p:sp>
      <p:sp>
        <p:nvSpPr>
          <p:cNvPr id="29697" name="Rectangle 1">
            <a:extLst>
              <a:ext uri="{FF2B5EF4-FFF2-40B4-BE49-F238E27FC236}">
                <a16:creationId xmlns:a16="http://schemas.microsoft.com/office/drawing/2014/main" id="{3A59428D-FFF4-A492-A7DA-00B85CD6CC8F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895600" y="533400"/>
            <a:ext cx="3506788" cy="2628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CF7E552C-3F41-3D32-B919-D7995F0340B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0400" y="3329277"/>
            <a:ext cx="7437500" cy="31544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54" tIns="41027" rIns="82054" bIns="41027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4243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664819-D18E-7793-25E0-43D9ACD27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15782A-E3E9-E0EF-4D03-7B6D17F32A9E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8</a:t>
            </a:fld>
            <a:endParaRPr lang="en-US"/>
          </a:p>
        </p:txBody>
      </p:sp>
      <p:sp>
        <p:nvSpPr>
          <p:cNvPr id="29697" name="Rectangle 1">
            <a:extLst>
              <a:ext uri="{FF2B5EF4-FFF2-40B4-BE49-F238E27FC236}">
                <a16:creationId xmlns:a16="http://schemas.microsoft.com/office/drawing/2014/main" id="{B1AD2C42-56FE-774C-E043-96A3D8E67B45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895600" y="533400"/>
            <a:ext cx="3506788" cy="2628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F8CA0642-CFFC-01C6-7A8A-6DE6C7D064DA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0400" y="3329277"/>
            <a:ext cx="7437500" cy="31544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54" tIns="41027" rIns="82054" bIns="41027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1561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9</a:t>
            </a:fld>
            <a:endParaRPr lang="en-US"/>
          </a:p>
        </p:txBody>
      </p:sp>
      <p:sp>
        <p:nvSpPr>
          <p:cNvPr id="296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895600" y="533400"/>
            <a:ext cx="3506788" cy="2628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0400" y="3329277"/>
            <a:ext cx="7437500" cy="31544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54" tIns="41027" rIns="82054" bIns="41027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9232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10</a:t>
            </a:fld>
            <a:endParaRPr lang="en-US"/>
          </a:p>
        </p:txBody>
      </p:sp>
      <p:sp>
        <p:nvSpPr>
          <p:cNvPr id="296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895600" y="533400"/>
            <a:ext cx="3506788" cy="2628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0400" y="3329277"/>
            <a:ext cx="7437500" cy="31544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54" tIns="41027" rIns="82054" bIns="41027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5454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11</a:t>
            </a:fld>
            <a:endParaRPr lang="en-US"/>
          </a:p>
        </p:txBody>
      </p:sp>
      <p:sp>
        <p:nvSpPr>
          <p:cNvPr id="296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895600" y="533400"/>
            <a:ext cx="3506788" cy="2628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0400" y="3329277"/>
            <a:ext cx="7437500" cy="31544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54" tIns="41027" rIns="82054" bIns="41027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0105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12</a:t>
            </a:fld>
            <a:endParaRPr lang="en-US"/>
          </a:p>
        </p:txBody>
      </p:sp>
      <p:sp>
        <p:nvSpPr>
          <p:cNvPr id="296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895600" y="533400"/>
            <a:ext cx="3506788" cy="2628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0400" y="3329277"/>
            <a:ext cx="7437500" cy="31544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54" tIns="41027" rIns="82054" bIns="41027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2618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Command families derived from sourmash command-line documentation and high-level sourmash 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14</a:t>
            </a:fld>
            <a:endParaRPr lang="en-US"/>
          </a:p>
        </p:txBody>
      </p:sp>
      <p:sp>
        <p:nvSpPr>
          <p:cNvPr id="296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4588" y="695325"/>
            <a:ext cx="4570412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6362" y="4342535"/>
            <a:ext cx="5486680" cy="411451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3613" tIns="41807" rIns="83613" bIns="41807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3596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15</a:t>
            </a:fld>
            <a:endParaRPr lang="en-US"/>
          </a:p>
        </p:txBody>
      </p:sp>
      <p:sp>
        <p:nvSpPr>
          <p:cNvPr id="296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895600" y="533400"/>
            <a:ext cx="3506788" cy="2628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0400" y="3329277"/>
            <a:ext cx="7437500" cy="31544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54" tIns="41027" rIns="82054" bIns="41027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8277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16</a:t>
            </a:fld>
            <a:endParaRPr lang="en-US"/>
          </a:p>
        </p:txBody>
      </p:sp>
      <p:sp>
        <p:nvSpPr>
          <p:cNvPr id="296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895600" y="533400"/>
            <a:ext cx="3506788" cy="2628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0400" y="3329277"/>
            <a:ext cx="7437500" cy="31544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54" tIns="41027" rIns="82054" bIns="41027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6475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17</a:t>
            </a:fld>
            <a:endParaRPr lang="en-US"/>
          </a:p>
        </p:txBody>
      </p:sp>
      <p:sp>
        <p:nvSpPr>
          <p:cNvPr id="296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4588" y="695325"/>
            <a:ext cx="4570412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6362" y="4342535"/>
            <a:ext cx="5486680" cy="411451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3613" tIns="41807" rIns="83613" bIns="41807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2866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18</a:t>
            </a:fld>
            <a:endParaRPr lang="en-US"/>
          </a:p>
        </p:txBody>
      </p:sp>
      <p:sp>
        <p:nvSpPr>
          <p:cNvPr id="296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895600" y="533400"/>
            <a:ext cx="3506788" cy="2628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0400" y="3329277"/>
            <a:ext cx="7437500" cy="31544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54" tIns="41027" rIns="82054" bIns="41027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7982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19</a:t>
            </a:fld>
            <a:endParaRPr lang="en-US"/>
          </a:p>
        </p:txBody>
      </p:sp>
      <p:sp>
        <p:nvSpPr>
          <p:cNvPr id="296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895600" y="533400"/>
            <a:ext cx="3506788" cy="2628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0400" y="3329277"/>
            <a:ext cx="7437500" cy="31544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54" tIns="41027" rIns="82054" bIns="41027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7467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20</a:t>
            </a:fld>
            <a:endParaRPr lang="en-US"/>
          </a:p>
        </p:txBody>
      </p:sp>
      <p:sp>
        <p:nvSpPr>
          <p:cNvPr id="296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895600" y="533400"/>
            <a:ext cx="3506788" cy="2628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0400" y="3329277"/>
            <a:ext cx="7437500" cy="31544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54" tIns="41027" rIns="82054" bIns="41027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0460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21</a:t>
            </a:fld>
            <a:endParaRPr lang="en-US"/>
          </a:p>
        </p:txBody>
      </p:sp>
      <p:sp>
        <p:nvSpPr>
          <p:cNvPr id="296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895600" y="533400"/>
            <a:ext cx="3506788" cy="2628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0400" y="3329277"/>
            <a:ext cx="7437500" cy="31544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54" tIns="41027" rIns="82054" bIns="41027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79308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22</a:t>
            </a:fld>
            <a:endParaRPr lang="en-US"/>
          </a:p>
        </p:txBody>
      </p:sp>
      <p:sp>
        <p:nvSpPr>
          <p:cNvPr id="296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895600" y="533400"/>
            <a:ext cx="3506788" cy="2628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0400" y="3329277"/>
            <a:ext cx="7437500" cy="31544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54" tIns="41027" rIns="82054" bIns="41027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9759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23</a:t>
            </a:fld>
            <a:endParaRPr lang="en-US"/>
          </a:p>
        </p:txBody>
      </p:sp>
      <p:sp>
        <p:nvSpPr>
          <p:cNvPr id="296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895600" y="533400"/>
            <a:ext cx="3506788" cy="2628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0400" y="3329277"/>
            <a:ext cx="7437500" cy="31544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54" tIns="41027" rIns="82054" bIns="41027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1775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24</a:t>
            </a:fld>
            <a:endParaRPr lang="en-US"/>
          </a:p>
        </p:txBody>
      </p:sp>
      <p:sp>
        <p:nvSpPr>
          <p:cNvPr id="296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895600" y="533400"/>
            <a:ext cx="3506788" cy="2628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0400" y="3329277"/>
            <a:ext cx="7437500" cy="31544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54" tIns="41027" rIns="82054" bIns="41027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2216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25</a:t>
            </a:fld>
            <a:endParaRPr lang="en-US"/>
          </a:p>
        </p:txBody>
      </p:sp>
      <p:sp>
        <p:nvSpPr>
          <p:cNvPr id="296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895600" y="533400"/>
            <a:ext cx="3506788" cy="2628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0400" y="3329277"/>
            <a:ext cx="7437500" cy="31544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54" tIns="41027" rIns="82054" bIns="41027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3114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26</a:t>
            </a:fld>
            <a:endParaRPr lang="en-US"/>
          </a:p>
        </p:txBody>
      </p:sp>
      <p:sp>
        <p:nvSpPr>
          <p:cNvPr id="296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895600" y="533400"/>
            <a:ext cx="3506788" cy="2628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0400" y="3329277"/>
            <a:ext cx="7437500" cy="31544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54" tIns="41027" rIns="82054" bIns="41027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66095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27</a:t>
            </a:fld>
            <a:endParaRPr lang="en-US"/>
          </a:p>
        </p:txBody>
      </p:sp>
      <p:sp>
        <p:nvSpPr>
          <p:cNvPr id="296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895600" y="533400"/>
            <a:ext cx="3506788" cy="2628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0400" y="3329277"/>
            <a:ext cx="7437500" cy="31544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54" tIns="41027" rIns="82054" bIns="41027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49312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28</a:t>
            </a:fld>
            <a:endParaRPr lang="en-US"/>
          </a:p>
        </p:txBody>
      </p:sp>
      <p:sp>
        <p:nvSpPr>
          <p:cNvPr id="296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895600" y="533400"/>
            <a:ext cx="3506788" cy="2628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0400" y="3329277"/>
            <a:ext cx="7437500" cy="31544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54" tIns="41027" rIns="82054" bIns="41027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21590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29</a:t>
            </a:fld>
            <a:endParaRPr lang="en-US"/>
          </a:p>
        </p:txBody>
      </p:sp>
      <p:sp>
        <p:nvSpPr>
          <p:cNvPr id="296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895600" y="533400"/>
            <a:ext cx="3506788" cy="2628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0400" y="3329277"/>
            <a:ext cx="7437500" cy="31544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54" tIns="41027" rIns="82054" bIns="41027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16562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03EF3B6-C773-4C47-B172-DE6DAEA102B0}" type="slidenum">
              <a:rPr lang="en-US"/>
              <a:pPr/>
              <a:t>30</a:t>
            </a:fld>
            <a:endParaRPr lang="en-US"/>
          </a:p>
        </p:txBody>
      </p:sp>
      <p:sp>
        <p:nvSpPr>
          <p:cNvPr id="296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2895600" y="533400"/>
            <a:ext cx="3506788" cy="2628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30400" y="3329277"/>
            <a:ext cx="7437500" cy="31544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lIns="82054" tIns="41027" rIns="82054" bIns="41027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375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CA9D0-7D74-1D4F-9876-AC4172474B40}" type="datetime1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D839-6155-4130-9A65-D0D84F81E5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79E5-502C-2249-A9FE-E526A93DEA87}" type="datetime1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D839-6155-4130-9A65-D0D84F81E5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B64A6-E5D9-7446-BE88-4F77CCAD5FE5}" type="datetime1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D839-6155-4130-9A65-D0D84F81E5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D68CA-5BC5-F74E-873C-39EC28D58B85}" type="datetime1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D839-6155-4130-9A65-D0D84F81E5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43030-43F4-2E49-9BB1-26BF0F312B66}" type="datetime1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D839-6155-4130-9A65-D0D84F81E5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B1418-FDE5-3E45-B581-DDDEEC0FBDBF}" type="datetime1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D839-6155-4130-9A65-D0D84F81E5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46F35-15FF-5A40-87C4-128E27D80F0A}" type="datetime1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D839-6155-4130-9A65-D0D84F81E5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A0DBC-98C2-C240-BE62-DFBC9AA85FFD}" type="datetime1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D839-6155-4130-9A65-D0D84F81E5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8EB53-5299-6046-84C7-382BA6CA73F8}" type="datetime1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D839-6155-4130-9A65-D0D84F81E5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B3859-0CDB-8247-8E64-0F3C4DADCB0C}" type="datetime1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D839-6155-4130-9A65-D0D84F81E5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F951E-EC55-5E49-B730-3A416C2CD637}" type="datetime1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D839-6155-4130-9A65-D0D84F81E5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7358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C80D41-8720-D14F-8063-A641F96E761A}" type="datetime1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39D839-6155-4130-9A65-D0D84F81E56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98/rstb.2024.0091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hyperlink" Target="https://twitter.com/ctitusbrown/status/1465360407518928909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7" Type="http://schemas.openxmlformats.org/officeDocument/2006/relationships/image" Target="../media/image3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3" Type="http://schemas.openxmlformats.org/officeDocument/2006/relationships/image" Target="../media/image50.svg"/><Relationship Id="rId7" Type="http://schemas.openxmlformats.org/officeDocument/2006/relationships/image" Target="../media/image54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svg"/><Relationship Id="rId5" Type="http://schemas.openxmlformats.org/officeDocument/2006/relationships/image" Target="../media/image52.svg"/><Relationship Id="rId4" Type="http://schemas.openxmlformats.org/officeDocument/2006/relationships/image" Target="../media/image51.sv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AutoShape 3" descr=" 4099"/>
          <p:cNvSpPr>
            <a:spLocks noChangeArrowheads="1"/>
          </p:cNvSpPr>
          <p:nvPr/>
        </p:nvSpPr>
        <p:spPr bwMode="auto">
          <a:xfrm>
            <a:off x="0" y="914400"/>
            <a:ext cx="2590800" cy="685800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800" dirty="0">
                <a:solidFill>
                  <a:srgbClr val="000000"/>
                </a:solidFill>
              </a:rPr>
              <a:t>What’s the data?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09332" y="1072634"/>
            <a:ext cx="47582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Whole Genome Shotgun (WGS) metagenomics</a:t>
            </a:r>
          </a:p>
        </p:txBody>
      </p:sp>
      <p:pic>
        <p:nvPicPr>
          <p:cNvPr id="23" name="Picture 22" descr="Pile_Of_Dirt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81000" y="2252246"/>
            <a:ext cx="1473200" cy="1012825"/>
          </a:xfrm>
          <a:prstGeom prst="rect">
            <a:avLst/>
          </a:prstGeom>
        </p:spPr>
      </p:pic>
      <p:cxnSp>
        <p:nvCxnSpPr>
          <p:cNvPr id="24" name="Curved Connector 23"/>
          <p:cNvCxnSpPr/>
          <p:nvPr/>
        </p:nvCxnSpPr>
        <p:spPr>
          <a:xfrm>
            <a:off x="2057400" y="2785646"/>
            <a:ext cx="1676400" cy="457200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755950" y="2308851"/>
            <a:ext cx="4854650" cy="2548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 24"/>
          <p:cNvSpPr/>
          <p:nvPr/>
        </p:nvSpPr>
        <p:spPr>
          <a:xfrm>
            <a:off x="92592" y="3395246"/>
            <a:ext cx="23206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Environmental sample</a:t>
            </a:r>
          </a:p>
        </p:txBody>
      </p:sp>
      <p:pic>
        <p:nvPicPr>
          <p:cNvPr id="29" name="Picture 28" descr="Bunch of DNA.bmp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886200" y="1657285"/>
            <a:ext cx="4619625" cy="3676715"/>
          </a:xfrm>
          <a:prstGeom prst="rect">
            <a:avLst/>
          </a:prstGeom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00" y="1616015"/>
            <a:ext cx="4812445" cy="3830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886200" y="2232651"/>
            <a:ext cx="4854650" cy="2548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cxnSp>
        <p:nvCxnSpPr>
          <p:cNvPr id="38" name="Shape 54"/>
          <p:cNvCxnSpPr/>
          <p:nvPr/>
        </p:nvCxnSpPr>
        <p:spPr>
          <a:xfrm rot="5400000">
            <a:off x="5073966" y="4664433"/>
            <a:ext cx="809634" cy="1813554"/>
          </a:xfrm>
          <a:prstGeom prst="curved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0" y="5042118"/>
            <a:ext cx="60960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&gt;Seq_1</a:t>
            </a:r>
          </a:p>
          <a:p>
            <a:r>
              <a:rPr lang="en-US" sz="1400" dirty="0"/>
              <a:t>AAAATCTTGACTGACTCTGACTACGATGCATGCTACGG….</a:t>
            </a:r>
          </a:p>
          <a:p>
            <a:r>
              <a:rPr lang="en-US" sz="1400" dirty="0"/>
              <a:t>&gt;Seq_2</a:t>
            </a:r>
          </a:p>
          <a:p>
            <a:r>
              <a:rPr lang="en-US" sz="1400" dirty="0"/>
              <a:t>GGGCTGACTTGCACTGTCTTGATATACTACGATGACTG…</a:t>
            </a:r>
          </a:p>
          <a:p>
            <a:r>
              <a:rPr lang="en-US" sz="1400" dirty="0"/>
              <a:t>&gt;Seq_3</a:t>
            </a:r>
          </a:p>
          <a:p>
            <a:r>
              <a:rPr lang="en-US" sz="1400" dirty="0"/>
              <a:t>GCTGATGACTGACTGTGGGGGGGTGAGTTCTGCAGA…</a:t>
            </a:r>
          </a:p>
          <a:p>
            <a:r>
              <a:rPr lang="en-US" sz="1400" dirty="0"/>
              <a:t>&gt;Seq_4</a:t>
            </a:r>
          </a:p>
          <a:p>
            <a:r>
              <a:rPr lang="en-US" sz="1400" dirty="0"/>
              <a:t>GTGCTACTACTCTACTACTACTTTTAATTACTATATACCC…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575191"/>
            <a:ext cx="26737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10’s to 1000’s of Gigabytes</a:t>
            </a:r>
          </a:p>
        </p:txBody>
      </p:sp>
      <p:sp>
        <p:nvSpPr>
          <p:cNvPr id="17" name="AutoShape 2" descr=" 4098"/>
          <p:cNvSpPr>
            <a:spLocks noChangeArrowheads="1"/>
          </p:cNvSpPr>
          <p:nvPr/>
        </p:nvSpPr>
        <p:spPr bwMode="auto">
          <a:xfrm>
            <a:off x="609600" y="0"/>
            <a:ext cx="7848600" cy="676656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</a:rPr>
              <a:t>Metagenomics</a:t>
            </a:r>
          </a:p>
        </p:txBody>
      </p:sp>
    </p:spTree>
    <p:extLst>
      <p:ext uri="{BB962C8B-B14F-4D97-AF65-F5344CB8AC3E}">
        <p14:creationId xmlns:p14="http://schemas.microsoft.com/office/powerpoint/2010/main" val="3012001239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5" grpId="0"/>
      <p:bldP spid="40" grpId="0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2" descr=" 4098"/>
          <p:cNvSpPr>
            <a:spLocks noChangeArrowheads="1"/>
          </p:cNvSpPr>
          <p:nvPr/>
        </p:nvSpPr>
        <p:spPr bwMode="auto">
          <a:xfrm>
            <a:off x="609600" y="1"/>
            <a:ext cx="7848600" cy="672860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Metagenomics</a:t>
            </a:r>
          </a:p>
        </p:txBody>
      </p:sp>
      <p:sp>
        <p:nvSpPr>
          <p:cNvPr id="4099" name="AutoShape 3" descr=" 4099"/>
          <p:cNvSpPr>
            <a:spLocks noChangeArrowheads="1"/>
          </p:cNvSpPr>
          <p:nvPr/>
        </p:nvSpPr>
        <p:spPr bwMode="auto">
          <a:xfrm>
            <a:off x="0" y="843958"/>
            <a:ext cx="3390184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Computational techniques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28021" y="2256675"/>
            <a:ext cx="68121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+mj-lt"/>
              </a:rPr>
              <a:t>Reads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5F5D29C-5F05-E15E-44F6-DEDE7E18D33C}"/>
              </a:ext>
            </a:extLst>
          </p:cNvPr>
          <p:cNvGrpSpPr/>
          <p:nvPr/>
        </p:nvGrpSpPr>
        <p:grpSpPr>
          <a:xfrm>
            <a:off x="4254989" y="1086656"/>
            <a:ext cx="4540139" cy="1978835"/>
            <a:chOff x="4254989" y="1086656"/>
            <a:chExt cx="4540139" cy="1978835"/>
          </a:xfrm>
        </p:grpSpPr>
        <p:pic>
          <p:nvPicPr>
            <p:cNvPr id="1029" name="Picture 5" descr="C:\Users\David\Dropbox\Talks and Seminars Given\OMBI metagenomics 5-11-2017\BarChart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8188" y="1086656"/>
              <a:ext cx="2796940" cy="1978835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1" name="Rectangle 60"/>
            <p:cNvSpPr/>
            <p:nvPr/>
          </p:nvSpPr>
          <p:spPr>
            <a:xfrm>
              <a:off x="4254989" y="2039476"/>
              <a:ext cx="2014078" cy="369332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en-US" dirty="0">
                  <a:latin typeface="+mj-lt"/>
                </a:rPr>
                <a:t>Taxonomic profiling</a:t>
              </a:r>
            </a:p>
          </p:txBody>
        </p:sp>
        <p:sp>
          <p:nvSpPr>
            <p:cNvPr id="62" name="Down Arrow 61"/>
            <p:cNvSpPr/>
            <p:nvPr/>
          </p:nvSpPr>
          <p:spPr>
            <a:xfrm rot="16200000">
              <a:off x="5123220" y="1797824"/>
              <a:ext cx="258222" cy="1437903"/>
            </a:xfrm>
            <a:prstGeom prst="downArrow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3" name="Straight Connector 62"/>
          <p:cNvCxnSpPr/>
          <p:nvPr/>
        </p:nvCxnSpPr>
        <p:spPr>
          <a:xfrm flipV="1">
            <a:off x="2702985" y="1920095"/>
            <a:ext cx="403940" cy="250053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2476659" y="2170148"/>
            <a:ext cx="396484" cy="184919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>
            <a:off x="2264570" y="2516775"/>
            <a:ext cx="369711" cy="186215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>
            <a:off x="2396969" y="2355067"/>
            <a:ext cx="317002" cy="188031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2239347" y="2708990"/>
            <a:ext cx="474624" cy="260418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2953763" y="2579779"/>
            <a:ext cx="297355" cy="130209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3251118" y="2531276"/>
            <a:ext cx="289514" cy="178712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 flipV="1">
            <a:off x="2979085" y="2078392"/>
            <a:ext cx="272033" cy="171728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V="1">
            <a:off x="3540632" y="2322548"/>
            <a:ext cx="403940" cy="250053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 flipV="1">
            <a:off x="3338662" y="2059476"/>
            <a:ext cx="403940" cy="250053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 flipV="1">
            <a:off x="3643124" y="2078392"/>
            <a:ext cx="403940" cy="250053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3655679" y="2622276"/>
            <a:ext cx="519369" cy="86714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2633671" y="2791694"/>
            <a:ext cx="516444" cy="110986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5959CA2-2EDB-388B-64A3-3F0658DD25DB}"/>
              </a:ext>
            </a:extLst>
          </p:cNvPr>
          <p:cNvGrpSpPr/>
          <p:nvPr/>
        </p:nvGrpSpPr>
        <p:grpSpPr>
          <a:xfrm>
            <a:off x="1824421" y="3038791"/>
            <a:ext cx="2788672" cy="1430806"/>
            <a:chOff x="1824421" y="3038791"/>
            <a:chExt cx="2788672" cy="1430806"/>
          </a:xfrm>
        </p:grpSpPr>
        <p:sp>
          <p:nvSpPr>
            <p:cNvPr id="48" name="Down Arrow 47"/>
            <p:cNvSpPr/>
            <p:nvPr/>
          </p:nvSpPr>
          <p:spPr>
            <a:xfrm>
              <a:off x="2976075" y="3038791"/>
              <a:ext cx="258222" cy="866277"/>
            </a:xfrm>
            <a:prstGeom prst="downArrow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2702985" y="4043207"/>
              <a:ext cx="79989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err="1">
                  <a:latin typeface="+mj-lt"/>
                </a:rPr>
                <a:t>Contigs</a:t>
              </a:r>
              <a:endParaRPr lang="en-US" sz="1600" dirty="0">
                <a:latin typeface="+mj-lt"/>
              </a:endParaRPr>
            </a:p>
          </p:txBody>
        </p:sp>
        <p:cxnSp>
          <p:nvCxnSpPr>
            <p:cNvPr id="51" name="Straight Connector 50"/>
            <p:cNvCxnSpPr/>
            <p:nvPr/>
          </p:nvCxnSpPr>
          <p:spPr>
            <a:xfrm>
              <a:off x="2025161" y="4025127"/>
              <a:ext cx="878564" cy="0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1923875" y="4469597"/>
              <a:ext cx="1095144" cy="0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>
              <a:off x="3172540" y="4469597"/>
              <a:ext cx="1440553" cy="0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3013333" y="4011090"/>
              <a:ext cx="1476916" cy="0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 44"/>
            <p:cNvSpPr/>
            <p:nvPr/>
          </p:nvSpPr>
          <p:spPr>
            <a:xfrm>
              <a:off x="2567678" y="3210706"/>
              <a:ext cx="1075936" cy="369332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en-US" dirty="0">
                  <a:latin typeface="+mj-lt"/>
                </a:rPr>
                <a:t>Assembly</a:t>
              </a:r>
            </a:p>
          </p:txBody>
        </p:sp>
        <p:cxnSp>
          <p:nvCxnSpPr>
            <p:cNvPr id="77" name="Straight Connector 76"/>
            <p:cNvCxnSpPr/>
            <p:nvPr/>
          </p:nvCxnSpPr>
          <p:spPr>
            <a:xfrm>
              <a:off x="1824421" y="4212484"/>
              <a:ext cx="878564" cy="0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>
              <a:off x="3488430" y="4212484"/>
              <a:ext cx="878564" cy="0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455E580-6977-8E05-EEAF-B7F0070533AB}"/>
              </a:ext>
            </a:extLst>
          </p:cNvPr>
          <p:cNvGrpSpPr/>
          <p:nvPr/>
        </p:nvGrpSpPr>
        <p:grpSpPr>
          <a:xfrm>
            <a:off x="1143000" y="4638927"/>
            <a:ext cx="2745903" cy="2087131"/>
            <a:chOff x="1143000" y="4638927"/>
            <a:chExt cx="2745903" cy="2087131"/>
          </a:xfrm>
        </p:grpSpPr>
        <p:sp>
          <p:nvSpPr>
            <p:cNvPr id="58" name="Down Arrow 57"/>
            <p:cNvSpPr/>
            <p:nvPr/>
          </p:nvSpPr>
          <p:spPr>
            <a:xfrm>
              <a:off x="2006348" y="4638927"/>
              <a:ext cx="258222" cy="866277"/>
            </a:xfrm>
            <a:prstGeom prst="downArrow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1262683" y="4872011"/>
              <a:ext cx="1744388" cy="369332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en-US" dirty="0">
                  <a:latin typeface="+mj-lt"/>
                </a:rPr>
                <a:t>Genome binning</a:t>
              </a:r>
            </a:p>
          </p:txBody>
        </p:sp>
        <p:cxnSp>
          <p:nvCxnSpPr>
            <p:cNvPr id="83" name="Straight Connector 82"/>
            <p:cNvCxnSpPr/>
            <p:nvPr/>
          </p:nvCxnSpPr>
          <p:spPr>
            <a:xfrm>
              <a:off x="1281016" y="5937310"/>
              <a:ext cx="878564" cy="0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/>
            <p:nvPr/>
          </p:nvCxnSpPr>
          <p:spPr>
            <a:xfrm>
              <a:off x="1281016" y="6726058"/>
              <a:ext cx="1095144" cy="0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>
            <a:xfrm>
              <a:off x="2448350" y="6726058"/>
              <a:ext cx="1440553" cy="0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>
              <a:off x="1281016" y="6317004"/>
              <a:ext cx="1476916" cy="0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/>
          </p:nvCxnSpPr>
          <p:spPr>
            <a:xfrm>
              <a:off x="2223876" y="5937310"/>
              <a:ext cx="878564" cy="0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>
            <a:xfrm>
              <a:off x="2888394" y="6317004"/>
              <a:ext cx="878564" cy="0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Rectangle 88"/>
            <p:cNvSpPr/>
            <p:nvPr/>
          </p:nvSpPr>
          <p:spPr>
            <a:xfrm>
              <a:off x="1143000" y="5513798"/>
              <a:ext cx="60144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+mj-lt"/>
                </a:rPr>
                <a:t>Bin 1</a:t>
              </a:r>
            </a:p>
          </p:txBody>
        </p:sp>
        <p:sp>
          <p:nvSpPr>
            <p:cNvPr id="90" name="Rectangle 89"/>
            <p:cNvSpPr/>
            <p:nvPr/>
          </p:nvSpPr>
          <p:spPr>
            <a:xfrm>
              <a:off x="1143000" y="5953779"/>
              <a:ext cx="60144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+mj-lt"/>
                </a:rPr>
                <a:t>Bin 2</a:t>
              </a:r>
            </a:p>
          </p:txBody>
        </p:sp>
        <p:sp>
          <p:nvSpPr>
            <p:cNvPr id="91" name="Rectangle 90"/>
            <p:cNvSpPr/>
            <p:nvPr/>
          </p:nvSpPr>
          <p:spPr>
            <a:xfrm>
              <a:off x="1143000" y="6347686"/>
              <a:ext cx="114165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+mj-lt"/>
                </a:rPr>
                <a:t>Unassigned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2046120-BF22-2E21-ED16-8F0775D28983}"/>
              </a:ext>
            </a:extLst>
          </p:cNvPr>
          <p:cNvGrpSpPr/>
          <p:nvPr/>
        </p:nvGrpSpPr>
        <p:grpSpPr>
          <a:xfrm>
            <a:off x="3773489" y="4638927"/>
            <a:ext cx="4436382" cy="2087131"/>
            <a:chOff x="3773489" y="4638927"/>
            <a:chExt cx="4436382" cy="2087131"/>
          </a:xfrm>
        </p:grpSpPr>
        <p:sp>
          <p:nvSpPr>
            <p:cNvPr id="59" name="Down Arrow 58"/>
            <p:cNvSpPr/>
            <p:nvPr/>
          </p:nvSpPr>
          <p:spPr>
            <a:xfrm rot="19685014">
              <a:off x="4267000" y="4638927"/>
              <a:ext cx="258222" cy="866277"/>
            </a:xfrm>
            <a:prstGeom prst="downArrow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3773489" y="4872011"/>
              <a:ext cx="1959303" cy="369332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en-US" dirty="0">
                  <a:latin typeface="+mj-lt"/>
                </a:rPr>
                <a:t>Taxonomic binning</a:t>
              </a:r>
            </a:p>
          </p:txBody>
        </p:sp>
        <p:cxnSp>
          <p:nvCxnSpPr>
            <p:cNvPr id="92" name="Straight Connector 91"/>
            <p:cNvCxnSpPr/>
            <p:nvPr/>
          </p:nvCxnSpPr>
          <p:spPr>
            <a:xfrm>
              <a:off x="4845345" y="5919275"/>
              <a:ext cx="878564" cy="0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/>
            <p:nvPr/>
          </p:nvCxnSpPr>
          <p:spPr>
            <a:xfrm>
              <a:off x="4845345" y="6726058"/>
              <a:ext cx="1095144" cy="0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>
              <a:off x="6012679" y="6726058"/>
              <a:ext cx="1440553" cy="0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/>
          </p:nvCxnSpPr>
          <p:spPr>
            <a:xfrm>
              <a:off x="6732955" y="5930900"/>
              <a:ext cx="1476916" cy="0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/>
            <p:nvPr/>
          </p:nvCxnSpPr>
          <p:spPr>
            <a:xfrm>
              <a:off x="5788205" y="5919275"/>
              <a:ext cx="878564" cy="0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/>
          </p:nvCxnSpPr>
          <p:spPr>
            <a:xfrm>
              <a:off x="4845345" y="6317004"/>
              <a:ext cx="878564" cy="0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Rectangle 97"/>
            <p:cNvSpPr/>
            <p:nvPr/>
          </p:nvSpPr>
          <p:spPr>
            <a:xfrm>
              <a:off x="4638321" y="5513798"/>
              <a:ext cx="13991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err="1">
                  <a:latin typeface="+mj-lt"/>
                </a:rPr>
                <a:t>Actinobacteria</a:t>
              </a:r>
              <a:endParaRPr lang="en-US" sz="1600" dirty="0">
                <a:latin typeface="+mj-lt"/>
              </a:endParaRPr>
            </a:p>
          </p:txBody>
        </p:sp>
        <p:sp>
          <p:nvSpPr>
            <p:cNvPr id="99" name="Rectangle 98"/>
            <p:cNvSpPr/>
            <p:nvPr/>
          </p:nvSpPr>
          <p:spPr>
            <a:xfrm>
              <a:off x="4638321" y="5953779"/>
              <a:ext cx="193143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/>
                <a:t>Escherichia</a:t>
              </a:r>
              <a:r>
                <a:rPr lang="en-US" sz="1600" dirty="0">
                  <a:latin typeface="+mj-lt"/>
                </a:rPr>
                <a:t> coli K-12</a:t>
              </a:r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4638321" y="6347686"/>
              <a:ext cx="114165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+mj-lt"/>
                </a:rPr>
                <a:t>Unassigned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DB56C4D-BED8-5123-67A3-617F5885F80B}"/>
              </a:ext>
            </a:extLst>
          </p:cNvPr>
          <p:cNvGrpSpPr/>
          <p:nvPr/>
        </p:nvGrpSpPr>
        <p:grpSpPr>
          <a:xfrm>
            <a:off x="4477154" y="2743201"/>
            <a:ext cx="2454039" cy="1945268"/>
            <a:chOff x="3334259" y="2334668"/>
            <a:chExt cx="2906423" cy="2492406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B6A114E-1948-97A3-2E85-6E49B52CF83B}"/>
                </a:ext>
              </a:extLst>
            </p:cNvPr>
            <p:cNvSpPr/>
            <p:nvPr/>
          </p:nvSpPr>
          <p:spPr>
            <a:xfrm>
              <a:off x="3506756" y="2334668"/>
              <a:ext cx="2292984" cy="68802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r>
                <a:rPr lang="en-US" sz="1600" dirty="0"/>
                <a:t>Functional annotation/profiling</a:t>
              </a:r>
            </a:p>
          </p:txBody>
        </p:sp>
        <p:sp>
          <p:nvSpPr>
            <p:cNvPr id="3" name="Down Arrow 61">
              <a:extLst>
                <a:ext uri="{FF2B5EF4-FFF2-40B4-BE49-F238E27FC236}">
                  <a16:creationId xmlns:a16="http://schemas.microsoft.com/office/drawing/2014/main" id="{6518A1C1-3CDF-0184-A357-035AFC69868A}"/>
                </a:ext>
              </a:extLst>
            </p:cNvPr>
            <p:cNvSpPr/>
            <p:nvPr/>
          </p:nvSpPr>
          <p:spPr>
            <a:xfrm rot="19513988">
              <a:off x="3334259" y="2509674"/>
              <a:ext cx="258222" cy="877121"/>
            </a:xfrm>
            <a:prstGeom prst="downArrow">
              <a:avLst/>
            </a:prstGeom>
            <a:solidFill>
              <a:srgbClr val="FF7C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4" name="Chart 3">
              <a:extLst>
                <a:ext uri="{FF2B5EF4-FFF2-40B4-BE49-F238E27FC236}">
                  <a16:creationId xmlns:a16="http://schemas.microsoft.com/office/drawing/2014/main" id="{3DF1B01B-EA3E-012E-5C10-C0B66C35012D}"/>
                </a:ext>
              </a:extLst>
            </p:cNvPr>
            <p:cNvGraphicFramePr/>
            <p:nvPr/>
          </p:nvGraphicFramePr>
          <p:xfrm>
            <a:off x="3434912" y="3059540"/>
            <a:ext cx="1711172" cy="176753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8256C34-458D-6B70-F3E2-4050AE5694F6}"/>
                </a:ext>
              </a:extLst>
            </p:cNvPr>
            <p:cNvSpPr/>
            <p:nvPr/>
          </p:nvSpPr>
          <p:spPr>
            <a:xfrm>
              <a:off x="4318048" y="2942193"/>
              <a:ext cx="1922634" cy="363499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r>
                <a:rPr lang="en-US" sz="1600" dirty="0">
                  <a:solidFill>
                    <a:srgbClr val="4472C4"/>
                  </a:solidFill>
                </a:rPr>
                <a:t>Gene Family 1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C227C1E-B19D-09E6-FEC1-D730F224541A}"/>
                </a:ext>
              </a:extLst>
            </p:cNvPr>
            <p:cNvSpPr/>
            <p:nvPr/>
          </p:nvSpPr>
          <p:spPr>
            <a:xfrm>
              <a:off x="4834277" y="3276342"/>
              <a:ext cx="1086597" cy="363499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r>
                <a:rPr lang="en-US" sz="1600" dirty="0">
                  <a:solidFill>
                    <a:srgbClr val="A5A5A5"/>
                  </a:solidFill>
                </a:rPr>
                <a:t>Gene Family 2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0A9678C-E4F8-1B1D-CA44-340C382AC0D0}"/>
                </a:ext>
              </a:extLst>
            </p:cNvPr>
            <p:cNvSpPr/>
            <p:nvPr/>
          </p:nvSpPr>
          <p:spPr>
            <a:xfrm>
              <a:off x="4949471" y="3893270"/>
              <a:ext cx="971403" cy="363499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r>
                <a:rPr lang="en-US" sz="1600" dirty="0">
                  <a:solidFill>
                    <a:srgbClr val="5B9BD5"/>
                  </a:solidFill>
                </a:rPr>
                <a:t>Gene Family 3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0B0EAE9-8E57-A83D-0B58-516741DD823C}"/>
              </a:ext>
            </a:extLst>
          </p:cNvPr>
          <p:cNvGrpSpPr/>
          <p:nvPr/>
        </p:nvGrpSpPr>
        <p:grpSpPr>
          <a:xfrm>
            <a:off x="213947" y="1930839"/>
            <a:ext cx="3019331" cy="805922"/>
            <a:chOff x="213947" y="1930839"/>
            <a:chExt cx="3019331" cy="805922"/>
          </a:xfrm>
        </p:grpSpPr>
        <p:sp>
          <p:nvSpPr>
            <p:cNvPr id="9" name="Arrow: Up-Down 8">
              <a:extLst>
                <a:ext uri="{FF2B5EF4-FFF2-40B4-BE49-F238E27FC236}">
                  <a16:creationId xmlns:a16="http://schemas.microsoft.com/office/drawing/2014/main" id="{19DAFF5C-DF60-4C84-1C66-8A69E80F4665}"/>
                </a:ext>
              </a:extLst>
            </p:cNvPr>
            <p:cNvSpPr/>
            <p:nvPr/>
          </p:nvSpPr>
          <p:spPr>
            <a:xfrm rot="16200000">
              <a:off x="1674928" y="2163805"/>
              <a:ext cx="256032" cy="484385"/>
            </a:xfrm>
            <a:prstGeom prst="upDownArrow">
              <a:avLst/>
            </a:prstGeom>
            <a:solidFill>
              <a:srgbClr val="FF7C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8790C88-FFB2-8BFC-4119-D0E15903246D}"/>
                </a:ext>
              </a:extLst>
            </p:cNvPr>
            <p:cNvSpPr/>
            <p:nvPr/>
          </p:nvSpPr>
          <p:spPr>
            <a:xfrm>
              <a:off x="1219200" y="1930839"/>
              <a:ext cx="2014078" cy="225293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r>
                <a:rPr lang="en-US" sz="1600" dirty="0"/>
                <a:t>Comparison</a:t>
              </a:r>
            </a:p>
          </p:txBody>
        </p:sp>
        <p:pic>
          <p:nvPicPr>
            <p:cNvPr id="12" name="Picture 11" descr="A black background with gray rectangles&#10;&#10;Description automatically generated">
              <a:extLst>
                <a:ext uri="{FF2B5EF4-FFF2-40B4-BE49-F238E27FC236}">
                  <a16:creationId xmlns:a16="http://schemas.microsoft.com/office/drawing/2014/main" id="{548A766C-954F-8C64-B862-B85F09E39F1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3947" y="2134418"/>
              <a:ext cx="1079387" cy="6023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40502586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D5477-74F5-C3C3-AC3B-7D8BD6C11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2" descr=" 4098">
            <a:extLst>
              <a:ext uri="{FF2B5EF4-FFF2-40B4-BE49-F238E27FC236}">
                <a16:creationId xmlns:a16="http://schemas.microsoft.com/office/drawing/2014/main" id="{6652FE02-5783-C277-833A-FD4DBF68E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672860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Metagenomics</a:t>
            </a:r>
          </a:p>
        </p:txBody>
      </p:sp>
      <p:sp>
        <p:nvSpPr>
          <p:cNvPr id="4099" name="AutoShape 3" descr=" 4099">
            <a:extLst>
              <a:ext uri="{FF2B5EF4-FFF2-40B4-BE49-F238E27FC236}">
                <a16:creationId xmlns:a16="http://schemas.microsoft.com/office/drawing/2014/main" id="{83098CB3-7C63-BBF6-775C-5D780F6B8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43958"/>
            <a:ext cx="3390184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Computational techniques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8ED196-7757-C78F-BD59-B85472C05912}"/>
              </a:ext>
            </a:extLst>
          </p:cNvPr>
          <p:cNvSpPr/>
          <p:nvPr/>
        </p:nvSpPr>
        <p:spPr>
          <a:xfrm>
            <a:off x="3391903" y="881647"/>
            <a:ext cx="338862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+mj-lt"/>
              </a:rPr>
              <a:t>Why be concerned with them?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ACFE35-CF8B-6594-81D0-DB98FC737DB2}"/>
              </a:ext>
            </a:extLst>
          </p:cNvPr>
          <p:cNvSpPr/>
          <p:nvPr/>
        </p:nvSpPr>
        <p:spPr>
          <a:xfrm>
            <a:off x="1564" y="1371600"/>
            <a:ext cx="610212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+mj-lt"/>
              </a:rPr>
              <a:t>CAMI: Critical assessment of metagenome interpretation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06BDC5-EF31-F791-2567-7D3A8CB05303}"/>
              </a:ext>
            </a:extLst>
          </p:cNvPr>
          <p:cNvSpPr/>
          <p:nvPr/>
        </p:nvSpPr>
        <p:spPr>
          <a:xfrm>
            <a:off x="684705" y="1765408"/>
            <a:ext cx="70801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Unpublished and public genomes, multi-sample/environment/technology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C61B56-72EF-1B7B-BAB7-43BDD39F8E0D}"/>
              </a:ext>
            </a:extLst>
          </p:cNvPr>
          <p:cNvSpPr/>
          <p:nvPr/>
        </p:nvSpPr>
        <p:spPr>
          <a:xfrm>
            <a:off x="1564" y="2896154"/>
            <a:ext cx="40729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+mj-lt"/>
              </a:rPr>
              <a:t>Found that performance varies wildly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996433-DB14-7206-FF1B-6F9E2AAE12B7}"/>
              </a:ext>
            </a:extLst>
          </p:cNvPr>
          <p:cNvSpPr/>
          <p:nvPr/>
        </p:nvSpPr>
        <p:spPr>
          <a:xfrm>
            <a:off x="684705" y="2107738"/>
            <a:ext cx="47443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Most aforementioned computational techniques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451BC2-7671-626E-DC0B-D82151420161}"/>
              </a:ext>
            </a:extLst>
          </p:cNvPr>
          <p:cNvSpPr/>
          <p:nvPr/>
        </p:nvSpPr>
        <p:spPr>
          <a:xfrm>
            <a:off x="684705" y="2450068"/>
            <a:ext cx="21334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Ground truth hidden</a:t>
            </a:r>
          </a:p>
        </p:txBody>
      </p:sp>
      <p:pic>
        <p:nvPicPr>
          <p:cNvPr id="10" name="Picture 9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DEE224AB-2ADD-D610-7765-F7192E79AF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267" y="3238483"/>
            <a:ext cx="5851467" cy="3619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834627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" grpId="0"/>
      <p:bldP spid="7" grpId="0"/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5D241-1E94-999C-C74A-8B691FA50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2" descr=" 4098">
            <a:extLst>
              <a:ext uri="{FF2B5EF4-FFF2-40B4-BE49-F238E27FC236}">
                <a16:creationId xmlns:a16="http://schemas.microsoft.com/office/drawing/2014/main" id="{0EDB37C8-9727-7EF8-3BAD-2518A2D27D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672860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Metagenomics</a:t>
            </a:r>
          </a:p>
        </p:txBody>
      </p:sp>
      <p:sp>
        <p:nvSpPr>
          <p:cNvPr id="4099" name="AutoShape 3" descr=" 4099">
            <a:extLst>
              <a:ext uri="{FF2B5EF4-FFF2-40B4-BE49-F238E27FC236}">
                <a16:creationId xmlns:a16="http://schemas.microsoft.com/office/drawing/2014/main" id="{0AE3ED8F-F91B-4791-E34C-CD6668113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43958"/>
            <a:ext cx="3390184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Computational techniques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55A355-C7A1-D3B4-FBBC-7206982ECCCF}"/>
              </a:ext>
            </a:extLst>
          </p:cNvPr>
          <p:cNvSpPr/>
          <p:nvPr/>
        </p:nvSpPr>
        <p:spPr>
          <a:xfrm>
            <a:off x="3391903" y="881647"/>
            <a:ext cx="338862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+mj-lt"/>
              </a:rPr>
              <a:t>Why be concerned with them?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54D520-222F-59FF-2952-9C6B84F5593F}"/>
              </a:ext>
            </a:extLst>
          </p:cNvPr>
          <p:cNvSpPr/>
          <p:nvPr/>
        </p:nvSpPr>
        <p:spPr>
          <a:xfrm>
            <a:off x="1564" y="1371600"/>
            <a:ext cx="610212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+mj-lt"/>
              </a:rPr>
              <a:t>CAMI: Critical assessment of metagenome interpretation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4EEB0D-A49E-DB66-5D05-3C0CF462623E}"/>
              </a:ext>
            </a:extLst>
          </p:cNvPr>
          <p:cNvSpPr/>
          <p:nvPr/>
        </p:nvSpPr>
        <p:spPr>
          <a:xfrm>
            <a:off x="684705" y="1765408"/>
            <a:ext cx="70801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Unpublished and public genomes, multi-sample/environment/technology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811D8B-09D8-C2C1-435B-2A98627D8B15}"/>
              </a:ext>
            </a:extLst>
          </p:cNvPr>
          <p:cNvSpPr/>
          <p:nvPr/>
        </p:nvSpPr>
        <p:spPr>
          <a:xfrm>
            <a:off x="1564" y="2896154"/>
            <a:ext cx="40729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+mj-lt"/>
              </a:rPr>
              <a:t>Found that performance varies wildly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693361-9DB6-4B71-CC9D-C6FE0463CA7C}"/>
              </a:ext>
            </a:extLst>
          </p:cNvPr>
          <p:cNvSpPr/>
          <p:nvPr/>
        </p:nvSpPr>
        <p:spPr>
          <a:xfrm>
            <a:off x="684705" y="2107738"/>
            <a:ext cx="47443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Most aforementioned computational techniques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68F9D0-FEE4-FD14-2E0B-5A3DFBCA14D1}"/>
              </a:ext>
            </a:extLst>
          </p:cNvPr>
          <p:cNvSpPr/>
          <p:nvPr/>
        </p:nvSpPr>
        <p:spPr>
          <a:xfrm>
            <a:off x="684705" y="2450068"/>
            <a:ext cx="21334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Ground truth hidden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4820C3C-2988-70D1-3909-9A340B12C581}"/>
              </a:ext>
            </a:extLst>
          </p:cNvPr>
          <p:cNvGrpSpPr>
            <a:grpSpLocks noChangeAspect="1"/>
          </p:cNvGrpSpPr>
          <p:nvPr/>
        </p:nvGrpSpPr>
        <p:grpSpPr>
          <a:xfrm>
            <a:off x="2716152" y="3411583"/>
            <a:ext cx="4168896" cy="3446417"/>
            <a:chOff x="2514600" y="2013168"/>
            <a:chExt cx="4459099" cy="3686328"/>
          </a:xfrm>
        </p:grpSpPr>
        <p:pic>
          <p:nvPicPr>
            <p:cNvPr id="4" name="Picture 2" descr="Fig. 3">
              <a:extLst>
                <a:ext uri="{FF2B5EF4-FFF2-40B4-BE49-F238E27FC236}">
                  <a16:creationId xmlns:a16="http://schemas.microsoft.com/office/drawing/2014/main" id="{E5CDA5F6-73AF-A935-397B-B150C182DE7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97" r="61645" b="97778"/>
            <a:stretch/>
          </p:blipFill>
          <p:spPr bwMode="auto">
            <a:xfrm>
              <a:off x="5456353" y="3267228"/>
              <a:ext cx="1288746" cy="2863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 descr="Fig. 3">
              <a:extLst>
                <a:ext uri="{FF2B5EF4-FFF2-40B4-BE49-F238E27FC236}">
                  <a16:creationId xmlns:a16="http://schemas.microsoft.com/office/drawing/2014/main" id="{5E9225D5-6925-4608-3E9A-996B8F9FFD6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818" t="-1422" r="44099" b="98324"/>
            <a:stretch/>
          </p:blipFill>
          <p:spPr bwMode="auto">
            <a:xfrm>
              <a:off x="5322367" y="3297566"/>
              <a:ext cx="1575132" cy="3992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" descr="Fig. 3">
              <a:extLst>
                <a:ext uri="{FF2B5EF4-FFF2-40B4-BE49-F238E27FC236}">
                  <a16:creationId xmlns:a16="http://schemas.microsoft.com/office/drawing/2014/main" id="{73AE68DF-414B-5488-95F0-52CF635CD23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862" t="-650" r="29979" b="98428"/>
            <a:stretch/>
          </p:blipFill>
          <p:spPr bwMode="auto">
            <a:xfrm>
              <a:off x="5449699" y="3639939"/>
              <a:ext cx="1288746" cy="2863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2" descr="Fig. 3">
              <a:extLst>
                <a:ext uri="{FF2B5EF4-FFF2-40B4-BE49-F238E27FC236}">
                  <a16:creationId xmlns:a16="http://schemas.microsoft.com/office/drawing/2014/main" id="{78E21A65-D19A-D8FD-9D69-B8302B67C6D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527" r="16777" b="97778"/>
            <a:stretch/>
          </p:blipFill>
          <p:spPr bwMode="auto">
            <a:xfrm>
              <a:off x="5523347" y="3963268"/>
              <a:ext cx="1145552" cy="2863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2" descr="Fig. 3">
              <a:extLst>
                <a:ext uri="{FF2B5EF4-FFF2-40B4-BE49-F238E27FC236}">
                  <a16:creationId xmlns:a16="http://schemas.microsoft.com/office/drawing/2014/main" id="{0DD3A116-CAE1-63EC-4D07-E2BA61C3AB1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86" r="78497" b="98889"/>
            <a:stretch/>
          </p:blipFill>
          <p:spPr bwMode="auto">
            <a:xfrm>
              <a:off x="5297299" y="3037711"/>
              <a:ext cx="1676400" cy="143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4" descr="Fig. 3">
              <a:extLst>
                <a:ext uri="{FF2B5EF4-FFF2-40B4-BE49-F238E27FC236}">
                  <a16:creationId xmlns:a16="http://schemas.microsoft.com/office/drawing/2014/main" id="{9646862E-73D9-8467-0145-0DF4474E353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705" t="68888" r="38288" b="12970"/>
            <a:stretch/>
          </p:blipFill>
          <p:spPr bwMode="auto">
            <a:xfrm>
              <a:off x="2514600" y="2013168"/>
              <a:ext cx="2935099" cy="36863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25F378C0-55F2-A53D-FEC1-8DDCB317837D}"/>
              </a:ext>
            </a:extLst>
          </p:cNvPr>
          <p:cNvSpPr/>
          <p:nvPr/>
        </p:nvSpPr>
        <p:spPr>
          <a:xfrm>
            <a:off x="2514600" y="5772090"/>
            <a:ext cx="314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+mj-lt"/>
              </a:rPr>
              <a:t>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3F03DE-981B-BD6F-64E6-17CBEC3A5FB7}"/>
              </a:ext>
            </a:extLst>
          </p:cNvPr>
          <p:cNvSpPr/>
          <p:nvPr/>
        </p:nvSpPr>
        <p:spPr>
          <a:xfrm>
            <a:off x="2552676" y="3869770"/>
            <a:ext cx="314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+mj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88010721"/>
      </p:ext>
    </p:extLst>
  </p:cSld>
  <p:clrMapOvr>
    <a:masterClrMapping/>
  </p:clrMapOvr>
  <p:transition spd="med"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39BD4-E8E4-0756-9257-A93D16A1F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2" descr=" 4098">
            <a:extLst>
              <a:ext uri="{FF2B5EF4-FFF2-40B4-BE49-F238E27FC236}">
                <a16:creationId xmlns:a16="http://schemas.microsoft.com/office/drawing/2014/main" id="{766FA212-6021-3478-F101-8A5782C3F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672860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Metagenomics</a:t>
            </a:r>
          </a:p>
        </p:txBody>
      </p:sp>
      <p:sp>
        <p:nvSpPr>
          <p:cNvPr id="4099" name="AutoShape 3" descr=" 4099">
            <a:extLst>
              <a:ext uri="{FF2B5EF4-FFF2-40B4-BE49-F238E27FC236}">
                <a16:creationId xmlns:a16="http://schemas.microsoft.com/office/drawing/2014/main" id="{3DF75CB0-09C7-D327-5B8E-F2AC9CE6E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43958"/>
            <a:ext cx="2829110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Scale is also an issue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5A139B-1EBF-9CA6-E4D4-B1834C2189B5}"/>
              </a:ext>
            </a:extLst>
          </p:cNvPr>
          <p:cNvSpPr/>
          <p:nvPr/>
        </p:nvSpPr>
        <p:spPr>
          <a:xfrm>
            <a:off x="2971800" y="881647"/>
            <a:ext cx="41404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+mj-lt"/>
              </a:rPr>
              <a:t>WGS metagenomics is truly “big data”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3AEA745-1D8B-F2AB-258F-8A1F5A3404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335"/>
          <a:stretch>
            <a:fillRect/>
          </a:stretch>
        </p:blipFill>
        <p:spPr>
          <a:xfrm>
            <a:off x="228600" y="1722695"/>
            <a:ext cx="8557191" cy="320031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EE85B12-FCD1-5F92-C576-85ACFBF91A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27" t="61326" b="5559"/>
          <a:stretch>
            <a:fillRect/>
          </a:stretch>
        </p:blipFill>
        <p:spPr>
          <a:xfrm>
            <a:off x="1088188" y="4923009"/>
            <a:ext cx="6303212" cy="1876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405038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D8E75-1B83-18FD-7088-8133AC7AE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467CC4A8-174D-0406-6124-77EC077D73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294"/>
          <a:stretch>
            <a:fillRect/>
          </a:stretch>
        </p:blipFill>
        <p:spPr>
          <a:xfrm>
            <a:off x="43026" y="4114800"/>
            <a:ext cx="4320622" cy="215722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9E2CB7D-9523-0D2B-6B71-EEBD686FCB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1178"/>
          <a:stretch>
            <a:fillRect/>
          </a:stretch>
        </p:blipFill>
        <p:spPr>
          <a:xfrm>
            <a:off x="4533900" y="4114800"/>
            <a:ext cx="4320622" cy="2077047"/>
          </a:xfrm>
          <a:prstGeom prst="rect">
            <a:avLst/>
          </a:prstGeom>
        </p:spPr>
      </p:pic>
      <p:sp>
        <p:nvSpPr>
          <p:cNvPr id="4098" name="AutoShape 2" descr=" 4098">
            <a:extLst>
              <a:ext uri="{FF2B5EF4-FFF2-40B4-BE49-F238E27FC236}">
                <a16:creationId xmlns:a16="http://schemas.microsoft.com/office/drawing/2014/main" id="{1C7CA23F-ADE5-8708-871C-88D2A610C5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672860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Metagenomics</a:t>
            </a:r>
          </a:p>
        </p:txBody>
      </p:sp>
      <p:sp>
        <p:nvSpPr>
          <p:cNvPr id="4099" name="AutoShape 3" descr=" 4099">
            <a:extLst>
              <a:ext uri="{FF2B5EF4-FFF2-40B4-BE49-F238E27FC236}">
                <a16:creationId xmlns:a16="http://schemas.microsoft.com/office/drawing/2014/main" id="{A7298B68-6C5E-522A-54D5-8BA5407876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43958"/>
            <a:ext cx="2829110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Scale is also an issue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A94A7D-003D-1DAF-7BCB-6759E6C535EC}"/>
              </a:ext>
            </a:extLst>
          </p:cNvPr>
          <p:cNvSpPr/>
          <p:nvPr/>
        </p:nvSpPr>
        <p:spPr>
          <a:xfrm>
            <a:off x="2971800" y="881647"/>
            <a:ext cx="41404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+mj-lt"/>
              </a:rPr>
              <a:t>WGS metagenomics is truly “big data”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653586-617A-965D-F32E-29959CFB7D1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71780"/>
          <a:stretch>
            <a:fillRect/>
          </a:stretch>
        </p:blipFill>
        <p:spPr>
          <a:xfrm>
            <a:off x="1315648" y="1752600"/>
            <a:ext cx="6096000" cy="226834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B15C02E-9AD4-EDFA-DB01-E261C9CF7B33}"/>
              </a:ext>
            </a:extLst>
          </p:cNvPr>
          <p:cNvSpPr/>
          <p:nvPr/>
        </p:nvSpPr>
        <p:spPr>
          <a:xfrm>
            <a:off x="0" y="6245423"/>
            <a:ext cx="46408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+mj-lt"/>
              </a:rPr>
              <a:t>https://academic.oup.com/nar/article/54/D1/D743/8296754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24BF9-23FA-B159-C22B-CB9CA363DADB}"/>
              </a:ext>
            </a:extLst>
          </p:cNvPr>
          <p:cNvSpPr/>
          <p:nvPr/>
        </p:nvSpPr>
        <p:spPr>
          <a:xfrm>
            <a:off x="0" y="1371600"/>
            <a:ext cx="282025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+mj-lt"/>
              </a:rPr>
              <a:t>Reference genomes grow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35AF6C0-1A3F-EB0E-BFB1-789904C8E520}"/>
              </a:ext>
            </a:extLst>
          </p:cNvPr>
          <p:cNvSpPr/>
          <p:nvPr/>
        </p:nvSpPr>
        <p:spPr>
          <a:xfrm>
            <a:off x="0" y="6510043"/>
            <a:ext cx="310392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https://doi.org/10.1098/rstb.2024.0091</a:t>
            </a:r>
          </a:p>
        </p:txBody>
      </p:sp>
    </p:spTree>
    <p:extLst>
      <p:ext uri="{BB962C8B-B14F-4D97-AF65-F5344CB8AC3E}">
        <p14:creationId xmlns:p14="http://schemas.microsoft.com/office/powerpoint/2010/main" val="4096254578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CA7C4-95AE-4599-C895-C620461ED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2" descr=" 4098">
            <a:extLst>
              <a:ext uri="{FF2B5EF4-FFF2-40B4-BE49-F238E27FC236}">
                <a16:creationId xmlns:a16="http://schemas.microsoft.com/office/drawing/2014/main" id="{97F7082C-6324-97FC-A020-2E85CBC43D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672860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Metagenomics</a:t>
            </a:r>
          </a:p>
        </p:txBody>
      </p:sp>
      <p:sp>
        <p:nvSpPr>
          <p:cNvPr id="4099" name="AutoShape 3" descr=" 4099">
            <a:extLst>
              <a:ext uri="{FF2B5EF4-FFF2-40B4-BE49-F238E27FC236}">
                <a16:creationId xmlns:a16="http://schemas.microsoft.com/office/drawing/2014/main" id="{7821BCAA-C7FF-DEF9-1F3C-27098B4D5C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43958"/>
            <a:ext cx="2829110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Scale is also an issue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910622-434D-259F-F72F-64861CA77297}"/>
              </a:ext>
            </a:extLst>
          </p:cNvPr>
          <p:cNvSpPr/>
          <p:nvPr/>
        </p:nvSpPr>
        <p:spPr>
          <a:xfrm>
            <a:off x="2971800" y="881647"/>
            <a:ext cx="41404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+mj-lt"/>
              </a:rPr>
              <a:t>WGS metagenomics is truly “big data”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A128C4-A776-4D17-A165-26B748A8C10A}"/>
              </a:ext>
            </a:extLst>
          </p:cNvPr>
          <p:cNvSpPr/>
          <p:nvPr/>
        </p:nvSpPr>
        <p:spPr>
          <a:xfrm>
            <a:off x="0" y="6510043"/>
            <a:ext cx="39308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https://doi.org/10.1098/rstb.2024.0091</a:t>
            </a:r>
            <a:endParaRPr lang="en-US" dirty="0"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3A9AC2-7E75-0009-BA76-0753B1B8ADD3}"/>
              </a:ext>
            </a:extLst>
          </p:cNvPr>
          <p:cNvSpPr/>
          <p:nvPr/>
        </p:nvSpPr>
        <p:spPr>
          <a:xfrm>
            <a:off x="0" y="1371600"/>
            <a:ext cx="282025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+mj-lt"/>
              </a:rPr>
              <a:t>Reference genomes grow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847BE3-D498-21B4-6A55-5F8B5DAFF005}"/>
              </a:ext>
            </a:extLst>
          </p:cNvPr>
          <p:cNvSpPr/>
          <p:nvPr/>
        </p:nvSpPr>
        <p:spPr>
          <a:xfrm>
            <a:off x="8851" y="1777673"/>
            <a:ext cx="15576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+mj-lt"/>
              </a:rPr>
              <a:t>Trees expand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CB01CE-EA25-4D94-7CDE-8A2E0A920DF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1790498"/>
            <a:ext cx="7010400" cy="4710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941509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7C46D-383A-C66D-138B-44B72E764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2" descr=" 4098">
            <a:extLst>
              <a:ext uri="{FF2B5EF4-FFF2-40B4-BE49-F238E27FC236}">
                <a16:creationId xmlns:a16="http://schemas.microsoft.com/office/drawing/2014/main" id="{DFC4BF39-B2B7-88B7-BB09-8501E66A3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672860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Metagenomics</a:t>
            </a:r>
          </a:p>
        </p:txBody>
      </p:sp>
      <p:sp>
        <p:nvSpPr>
          <p:cNvPr id="4099" name="AutoShape 3" descr=" 4099">
            <a:extLst>
              <a:ext uri="{FF2B5EF4-FFF2-40B4-BE49-F238E27FC236}">
                <a16:creationId xmlns:a16="http://schemas.microsoft.com/office/drawing/2014/main" id="{EE4F85A4-CE61-883D-E243-A4583EF8C5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43958"/>
            <a:ext cx="2829110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Scale is also an issue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81935D-A99A-8E66-B548-95490D934C4B}"/>
              </a:ext>
            </a:extLst>
          </p:cNvPr>
          <p:cNvSpPr/>
          <p:nvPr/>
        </p:nvSpPr>
        <p:spPr>
          <a:xfrm>
            <a:off x="2971800" y="881647"/>
            <a:ext cx="41404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+mj-lt"/>
              </a:rPr>
              <a:t>WGS metagenomics is truly “big data”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7A496B-51FC-EDEA-49CB-7C043153F5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842" y="1503140"/>
            <a:ext cx="6144358" cy="535486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C61F8FF-7F26-A36F-CB7B-864FD1A2628E}"/>
              </a:ext>
            </a:extLst>
          </p:cNvPr>
          <p:cNvSpPr/>
          <p:nvPr/>
        </p:nvSpPr>
        <p:spPr>
          <a:xfrm>
            <a:off x="0" y="1371600"/>
            <a:ext cx="282025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+mj-lt"/>
              </a:rPr>
              <a:t>Reference genomes grow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54C604-9FC1-7CE1-54EA-134C7FB16784}"/>
              </a:ext>
            </a:extLst>
          </p:cNvPr>
          <p:cNvSpPr/>
          <p:nvPr/>
        </p:nvSpPr>
        <p:spPr>
          <a:xfrm>
            <a:off x="8851" y="1777673"/>
            <a:ext cx="15576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+mj-lt"/>
              </a:rPr>
              <a:t>Trees expand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33AB1B-1D50-BE0C-CB29-35026CE42759}"/>
              </a:ext>
            </a:extLst>
          </p:cNvPr>
          <p:cNvSpPr/>
          <p:nvPr/>
        </p:nvSpPr>
        <p:spPr>
          <a:xfrm>
            <a:off x="24091" y="2190690"/>
            <a:ext cx="207505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+mj-lt"/>
              </a:rPr>
              <a:t>Diversity explodes</a:t>
            </a:r>
          </a:p>
        </p:txBody>
      </p:sp>
    </p:spTree>
    <p:extLst>
      <p:ext uri="{BB962C8B-B14F-4D97-AF65-F5344CB8AC3E}">
        <p14:creationId xmlns:p14="http://schemas.microsoft.com/office/powerpoint/2010/main" val="3845618217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9E5422-BA2B-70F1-81D7-819FC5DAA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492875"/>
            <a:ext cx="2133600" cy="365125"/>
          </a:xfrm>
        </p:spPr>
        <p:txBody>
          <a:bodyPr/>
          <a:lstStyle/>
          <a:p>
            <a:fld id="{9C39D839-6155-4130-9A65-D0D84F81E56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3" name="AutoShape 3" descr=" 4099">
            <a:extLst>
              <a:ext uri="{FF2B5EF4-FFF2-40B4-BE49-F238E27FC236}">
                <a16:creationId xmlns:a16="http://schemas.microsoft.com/office/drawing/2014/main" id="{8016D77B-058F-E662-3FEC-B5CE02C82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01011"/>
            <a:ext cx="3202988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Sketching to the rescue!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4EA2AA1-8EC8-7954-24F8-B189A02EC14F}"/>
              </a:ext>
            </a:extLst>
          </p:cNvPr>
          <p:cNvSpPr/>
          <p:nvPr/>
        </p:nvSpPr>
        <p:spPr>
          <a:xfrm>
            <a:off x="152400" y="1378774"/>
            <a:ext cx="47587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Data compression that preserves salient features</a:t>
            </a:r>
          </a:p>
        </p:txBody>
      </p:sp>
      <p:pic>
        <p:nvPicPr>
          <p:cNvPr id="1026" name="Picture 2" descr="New York Skyline Free Stock Photo - Public Domain Pictures">
            <a:extLst>
              <a:ext uri="{FF2B5EF4-FFF2-40B4-BE49-F238E27FC236}">
                <a16:creationId xmlns:a16="http://schemas.microsoft.com/office/drawing/2014/main" id="{2FCF946B-3ECE-7F9D-1456-E23A7BB6D6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950" y="1885760"/>
            <a:ext cx="3136302" cy="2090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5107FE7-64E9-FDCB-C67A-25AAFC4AA1F5}"/>
              </a:ext>
            </a:extLst>
          </p:cNvPr>
          <p:cNvCxnSpPr>
            <a:cxnSpLocks/>
          </p:cNvCxnSpPr>
          <p:nvPr/>
        </p:nvCxnSpPr>
        <p:spPr>
          <a:xfrm>
            <a:off x="3276600" y="2242036"/>
            <a:ext cx="1752600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NEW YORK usa SKYLINE City Outline Silhouette Vector Graphics image 1">
            <a:extLst>
              <a:ext uri="{FF2B5EF4-FFF2-40B4-BE49-F238E27FC236}">
                <a16:creationId xmlns:a16="http://schemas.microsoft.com/office/drawing/2014/main" id="{4F835B65-A236-9FFE-2912-41098B2862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32"/>
          <a:stretch/>
        </p:blipFill>
        <p:spPr bwMode="auto">
          <a:xfrm>
            <a:off x="5486400" y="2013436"/>
            <a:ext cx="2724054" cy="1301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0" name="Group 59">
            <a:extLst>
              <a:ext uri="{FF2B5EF4-FFF2-40B4-BE49-F238E27FC236}">
                <a16:creationId xmlns:a16="http://schemas.microsoft.com/office/drawing/2014/main" id="{3EDD24E8-03FC-28F3-CF9A-63753F5A3699}"/>
              </a:ext>
            </a:extLst>
          </p:cNvPr>
          <p:cNvGrpSpPr/>
          <p:nvPr/>
        </p:nvGrpSpPr>
        <p:grpSpPr>
          <a:xfrm>
            <a:off x="901076" y="1784836"/>
            <a:ext cx="1935701" cy="1049313"/>
            <a:chOff x="901076" y="3886200"/>
            <a:chExt cx="1935701" cy="1049313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D434190-7AD4-A9D3-4551-DA6601643F99}"/>
                </a:ext>
              </a:extLst>
            </p:cNvPr>
            <p:cNvSpPr/>
            <p:nvPr/>
          </p:nvSpPr>
          <p:spPr>
            <a:xfrm>
              <a:off x="1489750" y="4222780"/>
              <a:ext cx="68121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+mj-lt"/>
                </a:rPr>
                <a:t>Reads</a:t>
              </a:r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B5AC387-E2FA-8386-5624-4F06BBDBDD11}"/>
                </a:ext>
              </a:extLst>
            </p:cNvPr>
            <p:cNvCxnSpPr/>
            <p:nvPr/>
          </p:nvCxnSpPr>
          <p:spPr>
            <a:xfrm flipV="1">
              <a:off x="1364714" y="3886200"/>
              <a:ext cx="403940" cy="250053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3C7AEBB-28FC-4142-C6C3-CB49AE97B8E2}"/>
                </a:ext>
              </a:extLst>
            </p:cNvPr>
            <p:cNvCxnSpPr/>
            <p:nvPr/>
          </p:nvCxnSpPr>
          <p:spPr>
            <a:xfrm>
              <a:off x="1138388" y="4136253"/>
              <a:ext cx="396484" cy="184919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6229A68F-6DA5-05E0-4EE3-C228D85C9A31}"/>
                </a:ext>
              </a:extLst>
            </p:cNvPr>
            <p:cNvCxnSpPr/>
            <p:nvPr/>
          </p:nvCxnSpPr>
          <p:spPr>
            <a:xfrm>
              <a:off x="926299" y="4482880"/>
              <a:ext cx="369711" cy="186215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4129796-1DC8-7749-CAC2-6DBF2B08B70D}"/>
                </a:ext>
              </a:extLst>
            </p:cNvPr>
            <p:cNvCxnSpPr/>
            <p:nvPr/>
          </p:nvCxnSpPr>
          <p:spPr>
            <a:xfrm>
              <a:off x="1058698" y="4321172"/>
              <a:ext cx="317002" cy="188031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6DD3DBC-5866-9A10-3E1A-F85B9065EBB6}"/>
                </a:ext>
              </a:extLst>
            </p:cNvPr>
            <p:cNvCxnSpPr/>
            <p:nvPr/>
          </p:nvCxnSpPr>
          <p:spPr>
            <a:xfrm>
              <a:off x="901076" y="4675095"/>
              <a:ext cx="463638" cy="260418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5667A3D1-3FE8-461B-33C3-3467B6384BE6}"/>
                </a:ext>
              </a:extLst>
            </p:cNvPr>
            <p:cNvCxnSpPr/>
            <p:nvPr/>
          </p:nvCxnSpPr>
          <p:spPr>
            <a:xfrm>
              <a:off x="1615492" y="4545884"/>
              <a:ext cx="297355" cy="130209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45FE499B-F34E-F1C8-C777-2FCE05BB5CB9}"/>
                </a:ext>
              </a:extLst>
            </p:cNvPr>
            <p:cNvCxnSpPr/>
            <p:nvPr/>
          </p:nvCxnSpPr>
          <p:spPr>
            <a:xfrm>
              <a:off x="1912847" y="4497381"/>
              <a:ext cx="289514" cy="178712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0C7C6D44-8035-6D65-A217-F1003A13D96B}"/>
                </a:ext>
              </a:extLst>
            </p:cNvPr>
            <p:cNvCxnSpPr/>
            <p:nvPr/>
          </p:nvCxnSpPr>
          <p:spPr>
            <a:xfrm flipV="1">
              <a:off x="1640814" y="4044497"/>
              <a:ext cx="272033" cy="171728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657BAAC-C046-EDA7-23F7-DCE5377E2878}"/>
                </a:ext>
              </a:extLst>
            </p:cNvPr>
            <p:cNvCxnSpPr/>
            <p:nvPr/>
          </p:nvCxnSpPr>
          <p:spPr>
            <a:xfrm flipV="1">
              <a:off x="2202361" y="4288653"/>
              <a:ext cx="403940" cy="250053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D459794B-B1D7-4860-7498-74E5F377D267}"/>
                </a:ext>
              </a:extLst>
            </p:cNvPr>
            <p:cNvCxnSpPr/>
            <p:nvPr/>
          </p:nvCxnSpPr>
          <p:spPr>
            <a:xfrm flipV="1">
              <a:off x="2000391" y="4025581"/>
              <a:ext cx="403940" cy="250053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3D44F387-6FFC-20DC-A6A9-CA148061533B}"/>
                </a:ext>
              </a:extLst>
            </p:cNvPr>
            <p:cNvCxnSpPr/>
            <p:nvPr/>
          </p:nvCxnSpPr>
          <p:spPr>
            <a:xfrm flipV="1">
              <a:off x="2304853" y="4044497"/>
              <a:ext cx="403940" cy="250053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B6E213-BA2B-55DF-B368-F74992033E27}"/>
                </a:ext>
              </a:extLst>
            </p:cNvPr>
            <p:cNvCxnSpPr/>
            <p:nvPr/>
          </p:nvCxnSpPr>
          <p:spPr>
            <a:xfrm>
              <a:off x="2317408" y="4588381"/>
              <a:ext cx="519369" cy="86714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7FC8C85-5FDA-C575-7FE4-1F474124583F}"/>
                </a:ext>
              </a:extLst>
            </p:cNvPr>
            <p:cNvCxnSpPr/>
            <p:nvPr/>
          </p:nvCxnSpPr>
          <p:spPr>
            <a:xfrm>
              <a:off x="1295400" y="4757799"/>
              <a:ext cx="534956" cy="6946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AA42C66F-9FA3-53DC-BADD-A2E30C43BA43}"/>
                </a:ext>
              </a:extLst>
            </p:cNvPr>
            <p:cNvCxnSpPr/>
            <p:nvPr/>
          </p:nvCxnSpPr>
          <p:spPr>
            <a:xfrm>
              <a:off x="1473776" y="4932168"/>
              <a:ext cx="606107" cy="0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Rectangle 56">
            <a:extLst>
              <a:ext uri="{FF2B5EF4-FFF2-40B4-BE49-F238E27FC236}">
                <a16:creationId xmlns:a16="http://schemas.microsoft.com/office/drawing/2014/main" id="{1B1288D4-B5DB-A4BF-EC27-9559BB2579C3}"/>
              </a:ext>
            </a:extLst>
          </p:cNvPr>
          <p:cNvSpPr/>
          <p:nvPr/>
        </p:nvSpPr>
        <p:spPr>
          <a:xfrm>
            <a:off x="5257800" y="2013436"/>
            <a:ext cx="36719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{TGACGCTG, TACTCGATG, CGTCACTG}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04C3C3C-3D10-0420-FCC6-9E3B38F2B554}"/>
              </a:ext>
            </a:extLst>
          </p:cNvPr>
          <p:cNvCxnSpPr>
            <a:cxnSpLocks/>
          </p:cNvCxnSpPr>
          <p:nvPr/>
        </p:nvCxnSpPr>
        <p:spPr>
          <a:xfrm>
            <a:off x="3505200" y="2932555"/>
            <a:ext cx="1752600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C14529C-AA0D-2D94-227B-59223B3466CD}"/>
              </a:ext>
            </a:extLst>
          </p:cNvPr>
          <p:cNvGrpSpPr/>
          <p:nvPr/>
        </p:nvGrpSpPr>
        <p:grpSpPr>
          <a:xfrm>
            <a:off x="901076" y="3598887"/>
            <a:ext cx="1935701" cy="1049313"/>
            <a:chOff x="901076" y="3886200"/>
            <a:chExt cx="1935701" cy="1049313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31F3DF32-999B-7C31-A947-816B5705CDF8}"/>
                </a:ext>
              </a:extLst>
            </p:cNvPr>
            <p:cNvSpPr/>
            <p:nvPr/>
          </p:nvSpPr>
          <p:spPr>
            <a:xfrm>
              <a:off x="1489750" y="4222780"/>
              <a:ext cx="681212" cy="338554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+mj-lt"/>
                </a:rPr>
                <a:t>Reads</a:t>
              </a:r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DC685AAE-8E60-368B-E7B9-293F3864EB41}"/>
                </a:ext>
              </a:extLst>
            </p:cNvPr>
            <p:cNvCxnSpPr/>
            <p:nvPr/>
          </p:nvCxnSpPr>
          <p:spPr>
            <a:xfrm flipV="1">
              <a:off x="1364714" y="3886200"/>
              <a:ext cx="403940" cy="250053"/>
            </a:xfrm>
            <a:prstGeom prst="line">
              <a:avLst/>
            </a:prstGeom>
            <a:ln w="57150" cmpd="sng">
              <a:solidFill>
                <a:srgbClr val="D95F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6" name="Straight Connector 4095">
              <a:extLst>
                <a:ext uri="{FF2B5EF4-FFF2-40B4-BE49-F238E27FC236}">
                  <a16:creationId xmlns:a16="http://schemas.microsoft.com/office/drawing/2014/main" id="{83C13203-F909-1668-3A20-A60C9065A9A9}"/>
                </a:ext>
              </a:extLst>
            </p:cNvPr>
            <p:cNvCxnSpPr/>
            <p:nvPr/>
          </p:nvCxnSpPr>
          <p:spPr>
            <a:xfrm>
              <a:off x="1138388" y="4136253"/>
              <a:ext cx="396484" cy="184919"/>
            </a:xfrm>
            <a:prstGeom prst="line">
              <a:avLst/>
            </a:prstGeom>
            <a:ln w="57150" cmpd="sng">
              <a:solidFill>
                <a:srgbClr val="D95F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7" name="Straight Connector 4096">
              <a:extLst>
                <a:ext uri="{FF2B5EF4-FFF2-40B4-BE49-F238E27FC236}">
                  <a16:creationId xmlns:a16="http://schemas.microsoft.com/office/drawing/2014/main" id="{BB90BB00-6F51-ECE7-589D-BCDDE52B56CB}"/>
                </a:ext>
              </a:extLst>
            </p:cNvPr>
            <p:cNvCxnSpPr/>
            <p:nvPr/>
          </p:nvCxnSpPr>
          <p:spPr>
            <a:xfrm>
              <a:off x="926299" y="4482880"/>
              <a:ext cx="369711" cy="186215"/>
            </a:xfrm>
            <a:prstGeom prst="line">
              <a:avLst/>
            </a:prstGeom>
            <a:ln w="57150" cmpd="sng">
              <a:solidFill>
                <a:srgbClr val="D95F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0" name="Straight Connector 4099">
              <a:extLst>
                <a:ext uri="{FF2B5EF4-FFF2-40B4-BE49-F238E27FC236}">
                  <a16:creationId xmlns:a16="http://schemas.microsoft.com/office/drawing/2014/main" id="{7EDBAB7D-DE3A-596E-92FC-1D7CF2E8FC6C}"/>
                </a:ext>
              </a:extLst>
            </p:cNvPr>
            <p:cNvCxnSpPr/>
            <p:nvPr/>
          </p:nvCxnSpPr>
          <p:spPr>
            <a:xfrm>
              <a:off x="1058698" y="4321172"/>
              <a:ext cx="317002" cy="188031"/>
            </a:xfrm>
            <a:prstGeom prst="line">
              <a:avLst/>
            </a:prstGeom>
            <a:ln w="57150" cmpd="sng">
              <a:solidFill>
                <a:srgbClr val="D95F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1" name="Straight Connector 4100">
              <a:extLst>
                <a:ext uri="{FF2B5EF4-FFF2-40B4-BE49-F238E27FC236}">
                  <a16:creationId xmlns:a16="http://schemas.microsoft.com/office/drawing/2014/main" id="{2C19D73F-A13E-32FA-536F-BC63C40AD078}"/>
                </a:ext>
              </a:extLst>
            </p:cNvPr>
            <p:cNvCxnSpPr/>
            <p:nvPr/>
          </p:nvCxnSpPr>
          <p:spPr>
            <a:xfrm>
              <a:off x="901076" y="4675095"/>
              <a:ext cx="463638" cy="260418"/>
            </a:xfrm>
            <a:prstGeom prst="line">
              <a:avLst/>
            </a:prstGeom>
            <a:ln w="57150" cmpd="sng">
              <a:solidFill>
                <a:srgbClr val="D95F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2" name="Straight Connector 4101">
              <a:extLst>
                <a:ext uri="{FF2B5EF4-FFF2-40B4-BE49-F238E27FC236}">
                  <a16:creationId xmlns:a16="http://schemas.microsoft.com/office/drawing/2014/main" id="{F879E4C6-C2F7-7713-C477-F8DCCE745E60}"/>
                </a:ext>
              </a:extLst>
            </p:cNvPr>
            <p:cNvCxnSpPr/>
            <p:nvPr/>
          </p:nvCxnSpPr>
          <p:spPr>
            <a:xfrm>
              <a:off x="1615492" y="4545884"/>
              <a:ext cx="297355" cy="130209"/>
            </a:xfrm>
            <a:prstGeom prst="line">
              <a:avLst/>
            </a:prstGeom>
            <a:ln w="57150" cmpd="sng">
              <a:solidFill>
                <a:srgbClr val="D95F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3" name="Straight Connector 4102">
              <a:extLst>
                <a:ext uri="{FF2B5EF4-FFF2-40B4-BE49-F238E27FC236}">
                  <a16:creationId xmlns:a16="http://schemas.microsoft.com/office/drawing/2014/main" id="{F393F744-DD50-2F21-812B-98357ED64648}"/>
                </a:ext>
              </a:extLst>
            </p:cNvPr>
            <p:cNvCxnSpPr/>
            <p:nvPr/>
          </p:nvCxnSpPr>
          <p:spPr>
            <a:xfrm>
              <a:off x="1912847" y="4497381"/>
              <a:ext cx="289514" cy="178712"/>
            </a:xfrm>
            <a:prstGeom prst="line">
              <a:avLst/>
            </a:prstGeom>
            <a:ln w="57150" cmpd="sng">
              <a:solidFill>
                <a:srgbClr val="D95F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4" name="Straight Connector 4103">
              <a:extLst>
                <a:ext uri="{FF2B5EF4-FFF2-40B4-BE49-F238E27FC236}">
                  <a16:creationId xmlns:a16="http://schemas.microsoft.com/office/drawing/2014/main" id="{0A5E964D-A55B-5D74-E464-E2A8E081FB1C}"/>
                </a:ext>
              </a:extLst>
            </p:cNvPr>
            <p:cNvCxnSpPr/>
            <p:nvPr/>
          </p:nvCxnSpPr>
          <p:spPr>
            <a:xfrm flipV="1">
              <a:off x="1640814" y="4044497"/>
              <a:ext cx="272033" cy="171728"/>
            </a:xfrm>
            <a:prstGeom prst="line">
              <a:avLst/>
            </a:prstGeom>
            <a:ln w="57150" cmpd="sng">
              <a:solidFill>
                <a:srgbClr val="D95F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5" name="Straight Connector 4104">
              <a:extLst>
                <a:ext uri="{FF2B5EF4-FFF2-40B4-BE49-F238E27FC236}">
                  <a16:creationId xmlns:a16="http://schemas.microsoft.com/office/drawing/2014/main" id="{28D6D11D-E8A8-1464-BB15-CF92452AD173}"/>
                </a:ext>
              </a:extLst>
            </p:cNvPr>
            <p:cNvCxnSpPr/>
            <p:nvPr/>
          </p:nvCxnSpPr>
          <p:spPr>
            <a:xfrm flipV="1">
              <a:off x="2202361" y="4288653"/>
              <a:ext cx="403940" cy="250053"/>
            </a:xfrm>
            <a:prstGeom prst="line">
              <a:avLst/>
            </a:prstGeom>
            <a:ln w="57150" cmpd="sng">
              <a:solidFill>
                <a:srgbClr val="D95F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6" name="Straight Connector 4105">
              <a:extLst>
                <a:ext uri="{FF2B5EF4-FFF2-40B4-BE49-F238E27FC236}">
                  <a16:creationId xmlns:a16="http://schemas.microsoft.com/office/drawing/2014/main" id="{1B80FC13-71AF-202E-9E50-8D83F200D1AC}"/>
                </a:ext>
              </a:extLst>
            </p:cNvPr>
            <p:cNvCxnSpPr/>
            <p:nvPr/>
          </p:nvCxnSpPr>
          <p:spPr>
            <a:xfrm flipV="1">
              <a:off x="2000391" y="4025581"/>
              <a:ext cx="403940" cy="250053"/>
            </a:xfrm>
            <a:prstGeom prst="line">
              <a:avLst/>
            </a:prstGeom>
            <a:ln w="57150" cmpd="sng">
              <a:solidFill>
                <a:srgbClr val="D95F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7" name="Straight Connector 4106">
              <a:extLst>
                <a:ext uri="{FF2B5EF4-FFF2-40B4-BE49-F238E27FC236}">
                  <a16:creationId xmlns:a16="http://schemas.microsoft.com/office/drawing/2014/main" id="{166BDDCE-53F4-07E6-9CAF-F4E37F914294}"/>
                </a:ext>
              </a:extLst>
            </p:cNvPr>
            <p:cNvCxnSpPr/>
            <p:nvPr/>
          </p:nvCxnSpPr>
          <p:spPr>
            <a:xfrm flipV="1">
              <a:off x="2304853" y="4044497"/>
              <a:ext cx="403940" cy="250053"/>
            </a:xfrm>
            <a:prstGeom prst="line">
              <a:avLst/>
            </a:prstGeom>
            <a:ln w="57150" cmpd="sng">
              <a:solidFill>
                <a:srgbClr val="D95F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8" name="Straight Connector 4107">
              <a:extLst>
                <a:ext uri="{FF2B5EF4-FFF2-40B4-BE49-F238E27FC236}">
                  <a16:creationId xmlns:a16="http://schemas.microsoft.com/office/drawing/2014/main" id="{0D5A0EFE-57A3-2915-FE31-795B38B93EA4}"/>
                </a:ext>
              </a:extLst>
            </p:cNvPr>
            <p:cNvCxnSpPr/>
            <p:nvPr/>
          </p:nvCxnSpPr>
          <p:spPr>
            <a:xfrm>
              <a:off x="2317408" y="4588381"/>
              <a:ext cx="519369" cy="86714"/>
            </a:xfrm>
            <a:prstGeom prst="line">
              <a:avLst/>
            </a:prstGeom>
            <a:ln w="57150" cmpd="sng">
              <a:solidFill>
                <a:srgbClr val="D95F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9" name="Straight Connector 4108">
              <a:extLst>
                <a:ext uri="{FF2B5EF4-FFF2-40B4-BE49-F238E27FC236}">
                  <a16:creationId xmlns:a16="http://schemas.microsoft.com/office/drawing/2014/main" id="{A03995E8-58D6-319F-C7F3-107207AFF462}"/>
                </a:ext>
              </a:extLst>
            </p:cNvPr>
            <p:cNvCxnSpPr/>
            <p:nvPr/>
          </p:nvCxnSpPr>
          <p:spPr>
            <a:xfrm>
              <a:off x="1295400" y="4757799"/>
              <a:ext cx="534956" cy="6946"/>
            </a:xfrm>
            <a:prstGeom prst="line">
              <a:avLst/>
            </a:prstGeom>
            <a:ln w="57150" cmpd="sng">
              <a:solidFill>
                <a:srgbClr val="D95F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0" name="Straight Connector 4109">
              <a:extLst>
                <a:ext uri="{FF2B5EF4-FFF2-40B4-BE49-F238E27FC236}">
                  <a16:creationId xmlns:a16="http://schemas.microsoft.com/office/drawing/2014/main" id="{A52B88C1-DC22-8EA8-F8EF-4E5ED644AFF8}"/>
                </a:ext>
              </a:extLst>
            </p:cNvPr>
            <p:cNvCxnSpPr/>
            <p:nvPr/>
          </p:nvCxnSpPr>
          <p:spPr>
            <a:xfrm>
              <a:off x="1473776" y="4932168"/>
              <a:ext cx="606107" cy="0"/>
            </a:xfrm>
            <a:prstGeom prst="line">
              <a:avLst/>
            </a:prstGeom>
            <a:ln w="57150" cmpd="sng">
              <a:solidFill>
                <a:srgbClr val="D95F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11" name="Rectangle 4110">
            <a:extLst>
              <a:ext uri="{FF2B5EF4-FFF2-40B4-BE49-F238E27FC236}">
                <a16:creationId xmlns:a16="http://schemas.microsoft.com/office/drawing/2014/main" id="{47845546-B688-6F2E-4DAE-CD9BA6A4588A}"/>
              </a:ext>
            </a:extLst>
          </p:cNvPr>
          <p:cNvSpPr/>
          <p:nvPr/>
        </p:nvSpPr>
        <p:spPr>
          <a:xfrm>
            <a:off x="5257800" y="3965435"/>
            <a:ext cx="35514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{TGACGCTG, AACTGGTC, TTTTGTCA}</a:t>
            </a:r>
          </a:p>
        </p:txBody>
      </p:sp>
      <p:cxnSp>
        <p:nvCxnSpPr>
          <p:cNvPr id="4114" name="Straight Arrow Connector 4113">
            <a:extLst>
              <a:ext uri="{FF2B5EF4-FFF2-40B4-BE49-F238E27FC236}">
                <a16:creationId xmlns:a16="http://schemas.microsoft.com/office/drawing/2014/main" id="{91239652-C210-4D61-027D-657746514577}"/>
              </a:ext>
            </a:extLst>
          </p:cNvPr>
          <p:cNvCxnSpPr>
            <a:cxnSpLocks/>
          </p:cNvCxnSpPr>
          <p:nvPr/>
        </p:nvCxnSpPr>
        <p:spPr>
          <a:xfrm flipV="1">
            <a:off x="1776829" y="2931194"/>
            <a:ext cx="0" cy="530042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6" name="Straight Arrow Connector 4115">
            <a:extLst>
              <a:ext uri="{FF2B5EF4-FFF2-40B4-BE49-F238E27FC236}">
                <a16:creationId xmlns:a16="http://schemas.microsoft.com/office/drawing/2014/main" id="{871F4C06-1E34-86FE-0E00-DF794A5ECDCB}"/>
              </a:ext>
            </a:extLst>
          </p:cNvPr>
          <p:cNvCxnSpPr>
            <a:cxnSpLocks/>
          </p:cNvCxnSpPr>
          <p:nvPr/>
        </p:nvCxnSpPr>
        <p:spPr>
          <a:xfrm flipV="1">
            <a:off x="6934200" y="2830804"/>
            <a:ext cx="0" cy="530042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B46ED44B-E250-5B2D-D51B-72A587EE2436}"/>
              </a:ext>
            </a:extLst>
          </p:cNvPr>
          <p:cNvSpPr/>
          <p:nvPr/>
        </p:nvSpPr>
        <p:spPr>
          <a:xfrm>
            <a:off x="6536623" y="1600170"/>
            <a:ext cx="7951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Sketch</a:t>
            </a:r>
          </a:p>
        </p:txBody>
      </p:sp>
      <p:sp>
        <p:nvSpPr>
          <p:cNvPr id="4" name="AutoShape 3" descr=" 4099">
            <a:extLst>
              <a:ext uri="{FF2B5EF4-FFF2-40B4-BE49-F238E27FC236}">
                <a16:creationId xmlns:a16="http://schemas.microsoft.com/office/drawing/2014/main" id="{E03DE452-A7B3-4716-A58A-1AEAABC98E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858512"/>
            <a:ext cx="1534872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Nota bene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F20B98-5B9A-1E95-557F-E43E63F12C66}"/>
              </a:ext>
            </a:extLst>
          </p:cNvPr>
          <p:cNvSpPr/>
          <p:nvPr/>
        </p:nvSpPr>
        <p:spPr>
          <a:xfrm>
            <a:off x="5181600" y="5546185"/>
            <a:ext cx="31804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+mj-lt"/>
              </a:rPr>
              <a:t>AGCTCAGTCATGCGATCAGTACGTCATCATG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C972598-0743-0194-629E-2E3CDD8F65F7}"/>
              </a:ext>
            </a:extLst>
          </p:cNvPr>
          <p:cNvGrpSpPr/>
          <p:nvPr/>
        </p:nvGrpSpPr>
        <p:grpSpPr>
          <a:xfrm>
            <a:off x="5181600" y="5698585"/>
            <a:ext cx="1102097" cy="1069777"/>
            <a:chOff x="5181600" y="5698585"/>
            <a:chExt cx="1102097" cy="106977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3A2ECE4-5049-79F6-4487-7B0C79D57DB2}"/>
                </a:ext>
              </a:extLst>
            </p:cNvPr>
            <p:cNvSpPr/>
            <p:nvPr/>
          </p:nvSpPr>
          <p:spPr>
            <a:xfrm>
              <a:off x="5181600" y="5698585"/>
              <a:ext cx="58657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>
                  <a:latin typeface="+mj-lt"/>
                </a:rPr>
                <a:t>AGCT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D96270-C580-1475-08AC-6FAD724784BD}"/>
                </a:ext>
              </a:extLst>
            </p:cNvPr>
            <p:cNvSpPr/>
            <p:nvPr/>
          </p:nvSpPr>
          <p:spPr>
            <a:xfrm>
              <a:off x="5181600" y="5850985"/>
              <a:ext cx="69647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>
                  <a:latin typeface="+mj-lt"/>
                </a:rPr>
                <a:t>   GCTC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D04EC74-1950-8E51-FA70-0039E8EFD430}"/>
                </a:ext>
              </a:extLst>
            </p:cNvPr>
            <p:cNvSpPr/>
            <p:nvPr/>
          </p:nvSpPr>
          <p:spPr>
            <a:xfrm>
              <a:off x="5181600" y="6003385"/>
              <a:ext cx="80708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>
                  <a:latin typeface="+mj-lt"/>
                </a:rPr>
                <a:t>      CTCA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9D9FE7F-59C6-71BF-E074-C302542513C1}"/>
                </a:ext>
              </a:extLst>
            </p:cNvPr>
            <p:cNvSpPr/>
            <p:nvPr/>
          </p:nvSpPr>
          <p:spPr>
            <a:xfrm>
              <a:off x="5181600" y="6155785"/>
              <a:ext cx="90261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>
                  <a:latin typeface="+mj-lt"/>
                </a:rPr>
                <a:t>        TCAG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A50357B-63BF-A4A8-8709-8AD783B94D03}"/>
                </a:ext>
              </a:extLst>
            </p:cNvPr>
            <p:cNvSpPr/>
            <p:nvPr/>
          </p:nvSpPr>
          <p:spPr>
            <a:xfrm>
              <a:off x="5181600" y="6308185"/>
              <a:ext cx="98552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>
                  <a:latin typeface="+mj-lt"/>
                </a:rPr>
                <a:t>          CAGT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4AC4198-E7F5-A445-9801-79045068A2AA}"/>
                </a:ext>
              </a:extLst>
            </p:cNvPr>
            <p:cNvSpPr/>
            <p:nvPr/>
          </p:nvSpPr>
          <p:spPr>
            <a:xfrm>
              <a:off x="5181600" y="6460585"/>
              <a:ext cx="1102097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>
                  <a:latin typeface="+mj-lt"/>
                </a:rPr>
                <a:t>            AGTC</a:t>
              </a: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15B21843-5823-253E-CF12-CFF939A601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3751" y="5143639"/>
            <a:ext cx="534263" cy="18643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0CBD9FE-F713-ABA2-C9DC-6726302D42E5}"/>
              </a:ext>
            </a:extLst>
          </p:cNvPr>
          <p:cNvSpPr/>
          <p:nvPr/>
        </p:nvSpPr>
        <p:spPr>
          <a:xfrm>
            <a:off x="5181600" y="5102423"/>
            <a:ext cx="175323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+mj-lt"/>
              </a:rPr>
              <a:t>Substrings of length </a:t>
            </a:r>
            <a:r>
              <a:rPr lang="en-US" sz="1400" i="1" dirty="0">
                <a:latin typeface="+mj-lt"/>
              </a:rPr>
              <a:t>k</a:t>
            </a:r>
            <a:endParaRPr lang="en-US" sz="1400" dirty="0">
              <a:latin typeface="+mj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1AFB78-9157-AAF7-A2B7-3B99AA70DDCB}"/>
              </a:ext>
            </a:extLst>
          </p:cNvPr>
          <p:cNvSpPr/>
          <p:nvPr/>
        </p:nvSpPr>
        <p:spPr>
          <a:xfrm>
            <a:off x="234901" y="5359316"/>
            <a:ext cx="45077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We talk here about </a:t>
            </a:r>
            <a:r>
              <a:rPr lang="en-US" i="1" dirty="0">
                <a:latin typeface="+mj-lt"/>
              </a:rPr>
              <a:t>k</a:t>
            </a:r>
            <a:r>
              <a:rPr lang="en-US" dirty="0">
                <a:latin typeface="+mj-lt"/>
              </a:rPr>
              <a:t>-</a:t>
            </a:r>
            <a:r>
              <a:rPr lang="en-US" dirty="0" err="1">
                <a:latin typeface="+mj-lt"/>
              </a:rPr>
              <a:t>mers</a:t>
            </a:r>
            <a:r>
              <a:rPr lang="en-US" dirty="0">
                <a:latin typeface="+mj-lt"/>
              </a:rPr>
              <a:t> and metagenomics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9E700BE-72B3-6CCC-0974-A5DDEE563602}"/>
              </a:ext>
            </a:extLst>
          </p:cNvPr>
          <p:cNvSpPr/>
          <p:nvPr/>
        </p:nvSpPr>
        <p:spPr>
          <a:xfrm>
            <a:off x="238288" y="5752277"/>
            <a:ext cx="42844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err="1">
                <a:latin typeface="+mj-lt"/>
              </a:rPr>
              <a:t>FracMinHash</a:t>
            </a:r>
            <a:r>
              <a:rPr lang="en-US" i="1" dirty="0">
                <a:latin typeface="+mj-lt"/>
              </a:rPr>
              <a:t> is a general purpose approach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94237B-DB7F-0A12-BB8E-95BB0331ECE3}"/>
              </a:ext>
            </a:extLst>
          </p:cNvPr>
          <p:cNvSpPr/>
          <p:nvPr/>
        </p:nvSpPr>
        <p:spPr>
          <a:xfrm>
            <a:off x="240217" y="6145237"/>
            <a:ext cx="38201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Appropriate for numerous applications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252D99-BD14-8AF0-C734-AE3982EA3AFD}"/>
              </a:ext>
            </a:extLst>
          </p:cNvPr>
          <p:cNvSpPr/>
          <p:nvPr/>
        </p:nvSpPr>
        <p:spPr>
          <a:xfrm>
            <a:off x="3121612" y="1916668"/>
            <a:ext cx="20599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+mj-lt"/>
              </a:rPr>
              <a:t>FracMinHash</a:t>
            </a:r>
            <a:r>
              <a:rPr lang="en-US" dirty="0">
                <a:latin typeface="+mj-lt"/>
              </a:rPr>
              <a:t> sketch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532B5D9-BD98-DDD9-79B2-A720E648483A}"/>
              </a:ext>
            </a:extLst>
          </p:cNvPr>
          <p:cNvCxnSpPr>
            <a:cxnSpLocks/>
          </p:cNvCxnSpPr>
          <p:nvPr/>
        </p:nvCxnSpPr>
        <p:spPr>
          <a:xfrm>
            <a:off x="3202988" y="4287768"/>
            <a:ext cx="1752600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0AE4093F-17B0-4651-0DE7-8D4A1268D48D}"/>
              </a:ext>
            </a:extLst>
          </p:cNvPr>
          <p:cNvSpPr/>
          <p:nvPr/>
        </p:nvSpPr>
        <p:spPr>
          <a:xfrm>
            <a:off x="3048000" y="3962400"/>
            <a:ext cx="20599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+mj-lt"/>
              </a:rPr>
              <a:t>FracMinHash</a:t>
            </a:r>
            <a:r>
              <a:rPr lang="en-US" dirty="0">
                <a:latin typeface="+mj-lt"/>
              </a:rPr>
              <a:t> sketch</a:t>
            </a:r>
          </a:p>
        </p:txBody>
      </p:sp>
      <p:sp>
        <p:nvSpPr>
          <p:cNvPr id="22" name="AutoShape 2" descr=" 4098">
            <a:extLst>
              <a:ext uri="{FF2B5EF4-FFF2-40B4-BE49-F238E27FC236}">
                <a16:creationId xmlns:a16="http://schemas.microsoft.com/office/drawing/2014/main" id="{A4F2AFDB-E714-E7FB-6670-A005A62773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672860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 err="1">
                <a:solidFill>
                  <a:srgbClr val="000000"/>
                </a:solidFill>
                <a:latin typeface="+mj-lt"/>
              </a:rPr>
              <a:t>FracMinHash</a:t>
            </a:r>
            <a:endParaRPr lang="en-US" sz="4000" dirty="0">
              <a:solidFill>
                <a:srgbClr val="0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5550034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57" grpId="0"/>
      <p:bldP spid="4111" grpId="0"/>
      <p:bldP spid="3" grpId="0"/>
      <p:bldP spid="4" grpId="0" animBg="1"/>
      <p:bldP spid="5" grpId="0"/>
      <p:bldP spid="15" grpId="0"/>
      <p:bldP spid="17" grpId="0"/>
      <p:bldP spid="18" grpId="0"/>
      <p:bldP spid="19" grpId="0"/>
      <p:bldP spid="6" grpId="0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3CE73D0-3502-4797-BFD1-1748716BF9CB}"/>
              </a:ext>
            </a:extLst>
          </p:cNvPr>
          <p:cNvSpPr/>
          <p:nvPr/>
        </p:nvSpPr>
        <p:spPr>
          <a:xfrm>
            <a:off x="7621911" y="1281834"/>
            <a:ext cx="205269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CGACATGCTTGAAAA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TCCGGAGGGGCAATT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AGGTGCGGATCACTG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GCCTACGGCTGCTTT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CTTATTTTCGGCCTA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CTGATTTTTTCGAGG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GGGTCCTTAAATGGC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ACTCTCTGCGATTGC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TGGCACCAATGTCAC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CTGTCTTTTGTTATG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8423BC-2652-AB31-A459-0B8FF8E15825}"/>
              </a:ext>
            </a:extLst>
          </p:cNvPr>
          <p:cNvSpPr/>
          <p:nvPr/>
        </p:nvSpPr>
        <p:spPr>
          <a:xfrm>
            <a:off x="7621589" y="4462772"/>
            <a:ext cx="205269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CGACATGCTTGAAAA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ATCCTATACGTTCAG</a:t>
            </a:r>
          </a:p>
          <a:p>
            <a:r>
              <a:rPr lang="en-US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AGGTGCGGATCACTG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ACCTATCGTTCGCGG</a:t>
            </a:r>
          </a:p>
          <a:p>
            <a:r>
              <a:rPr lang="en-US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GCCTACGGCTGCTTT</a:t>
            </a:r>
          </a:p>
          <a:p>
            <a:r>
              <a:rPr lang="en-US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CTGATTTTTTCGAGG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ACGTCGATATGCACT</a:t>
            </a:r>
          </a:p>
          <a:p>
            <a:r>
              <a:rPr lang="en-US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ACTCTCTGCGATTGC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TTTTTGACACGACAA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TGGCACCAATGTCAC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F000071-B848-64ED-35A0-ACA2E419DD6B}"/>
              </a:ext>
            </a:extLst>
          </p:cNvPr>
          <p:cNvSpPr/>
          <p:nvPr/>
        </p:nvSpPr>
        <p:spPr>
          <a:xfrm>
            <a:off x="7621911" y="1281834"/>
            <a:ext cx="205269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CGACATGCTTGAAAA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TCCGGAGGGGCAATT</a:t>
            </a:r>
          </a:p>
          <a:p>
            <a:r>
              <a:rPr lang="en-US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AGGTGCGGATCACTG</a:t>
            </a:r>
          </a:p>
          <a:p>
            <a:r>
              <a:rPr lang="en-US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GCCTACGGCTGCTTT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CTTATTTTCGGCCTA</a:t>
            </a:r>
          </a:p>
          <a:p>
            <a:r>
              <a:rPr lang="en-US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CTGATTTTTTCGAGG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GGGTCCTTAAATGGC</a:t>
            </a:r>
          </a:p>
          <a:p>
            <a:r>
              <a:rPr lang="en-US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ACTCTCTGCGATTGC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TGGCACCAATGTCAC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CTGTCTTTTGTTATG</a:t>
            </a:r>
          </a:p>
        </p:txBody>
      </p:sp>
      <p:sp>
        <p:nvSpPr>
          <p:cNvPr id="4099" name="AutoShape 3" descr=" 4099"/>
          <p:cNvSpPr>
            <a:spLocks noChangeArrowheads="1"/>
          </p:cNvSpPr>
          <p:nvPr/>
        </p:nvSpPr>
        <p:spPr bwMode="auto">
          <a:xfrm>
            <a:off x="0" y="843958"/>
            <a:ext cx="3048000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 err="1">
                <a:solidFill>
                  <a:srgbClr val="000000"/>
                </a:solidFill>
                <a:latin typeface="+mj-lt"/>
              </a:rPr>
              <a:t>FracMinHash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 Intuition</a:t>
            </a:r>
          </a:p>
        </p:txBody>
      </p:sp>
      <p:pic>
        <p:nvPicPr>
          <p:cNvPr id="3" name="Picture 2" descr="Black.png">
            <a:extLst>
              <a:ext uri="{FF2B5EF4-FFF2-40B4-BE49-F238E27FC236}">
                <a16:creationId xmlns:a16="http://schemas.microsoft.com/office/drawing/2014/main" id="{3D827E14-D7C5-02D5-730F-B96318E8D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198" y="1524000"/>
            <a:ext cx="1533768" cy="1538028"/>
          </a:xfrm>
          <a:prstGeom prst="rect">
            <a:avLst/>
          </a:prstGeom>
        </p:spPr>
      </p:pic>
      <p:pic>
        <p:nvPicPr>
          <p:cNvPr id="4" name="Picture 3" descr="BlackAndRed.png">
            <a:extLst>
              <a:ext uri="{FF2B5EF4-FFF2-40B4-BE49-F238E27FC236}">
                <a16:creationId xmlns:a16="http://schemas.microsoft.com/office/drawing/2014/main" id="{9E84A7EE-B367-4A09-3341-D19FF3E5A4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798" y="1600200"/>
            <a:ext cx="1533768" cy="1538028"/>
          </a:xfrm>
          <a:prstGeom prst="rect">
            <a:avLst/>
          </a:prstGeom>
        </p:spPr>
      </p:pic>
      <p:pic>
        <p:nvPicPr>
          <p:cNvPr id="12" name="Picture 11" descr="Blue.png">
            <a:extLst>
              <a:ext uri="{FF2B5EF4-FFF2-40B4-BE49-F238E27FC236}">
                <a16:creationId xmlns:a16="http://schemas.microsoft.com/office/drawing/2014/main" id="{AC019936-1648-726C-43ED-D6B162EAE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864" y="4382719"/>
            <a:ext cx="1514894" cy="1510686"/>
          </a:xfrm>
          <a:prstGeom prst="rect">
            <a:avLst/>
          </a:prstGeom>
        </p:spPr>
      </p:pic>
      <p:pic>
        <p:nvPicPr>
          <p:cNvPr id="13" name="Picture 12" descr="BlueAndRed.png">
            <a:extLst>
              <a:ext uri="{FF2B5EF4-FFF2-40B4-BE49-F238E27FC236}">
                <a16:creationId xmlns:a16="http://schemas.microsoft.com/office/drawing/2014/main" id="{8E27904A-28F2-2B63-3CCA-632AC55930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2834" y="4402530"/>
            <a:ext cx="1514894" cy="151068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8F6BFAA-3C02-6944-D2C0-5171AA847861}"/>
              </a:ext>
            </a:extLst>
          </p:cNvPr>
          <p:cNvSpPr/>
          <p:nvPr/>
        </p:nvSpPr>
        <p:spPr>
          <a:xfrm>
            <a:off x="4101060" y="4724400"/>
            <a:ext cx="11267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Randomly </a:t>
            </a:r>
          </a:p>
          <a:p>
            <a:r>
              <a:rPr lang="en-US" dirty="0">
                <a:latin typeface="+mj-lt"/>
              </a:rPr>
              <a:t>sample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A430A52-0E48-152E-F7D2-1D3949B5F71D}"/>
              </a:ext>
            </a:extLst>
          </p:cNvPr>
          <p:cNvCxnSpPr>
            <a:cxnSpLocks/>
          </p:cNvCxnSpPr>
          <p:nvPr/>
        </p:nvCxnSpPr>
        <p:spPr>
          <a:xfrm>
            <a:off x="4164454" y="5086652"/>
            <a:ext cx="833775" cy="0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48554BE-C9ED-6BC1-E243-86A34608ED8E}"/>
              </a:ext>
            </a:extLst>
          </p:cNvPr>
          <p:cNvCxnSpPr>
            <a:cxnSpLocks/>
          </p:cNvCxnSpPr>
          <p:nvPr/>
        </p:nvCxnSpPr>
        <p:spPr>
          <a:xfrm>
            <a:off x="6719453" y="5112399"/>
            <a:ext cx="946713" cy="0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726EC872-77D1-C910-F5D0-0154C2FCDA61}"/>
              </a:ext>
            </a:extLst>
          </p:cNvPr>
          <p:cNvSpPr/>
          <p:nvPr/>
        </p:nvSpPr>
        <p:spPr>
          <a:xfrm>
            <a:off x="6631909" y="4793389"/>
            <a:ext cx="103425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List of </a:t>
            </a:r>
          </a:p>
          <a:p>
            <a:r>
              <a:rPr lang="en-US" dirty="0">
                <a:latin typeface="+mj-lt"/>
              </a:rPr>
              <a:t>sampled </a:t>
            </a:r>
          </a:p>
          <a:p>
            <a:r>
              <a:rPr lang="en-US" dirty="0">
                <a:latin typeface="+mj-lt"/>
              </a:rPr>
              <a:t>k-</a:t>
            </a:r>
            <a:r>
              <a:rPr lang="en-US" dirty="0" err="1">
                <a:latin typeface="+mj-lt"/>
              </a:rPr>
              <a:t>mers</a:t>
            </a:r>
            <a:endParaRPr lang="en-US" dirty="0">
              <a:latin typeface="+mj-l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90C46A-F39B-6F5A-44FE-1E6ACE4E677B}"/>
              </a:ext>
            </a:extLst>
          </p:cNvPr>
          <p:cNvSpPr/>
          <p:nvPr/>
        </p:nvSpPr>
        <p:spPr>
          <a:xfrm>
            <a:off x="7952692" y="870734"/>
            <a:ext cx="8067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Sketch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58C727A-7AC2-A899-279B-20FAE263F2D0}"/>
              </a:ext>
            </a:extLst>
          </p:cNvPr>
          <p:cNvCxnSpPr/>
          <p:nvPr/>
        </p:nvCxnSpPr>
        <p:spPr>
          <a:xfrm>
            <a:off x="8398784" y="3254846"/>
            <a:ext cx="0" cy="1122483"/>
          </a:xfrm>
          <a:prstGeom prst="straightConnector1">
            <a:avLst/>
          </a:prstGeom>
          <a:ln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3E4E56A-0E9D-74DA-7AE0-FDA0B7572E47}"/>
              </a:ext>
            </a:extLst>
          </p:cNvPr>
          <p:cNvCxnSpPr>
            <a:cxnSpLocks/>
          </p:cNvCxnSpPr>
          <p:nvPr/>
        </p:nvCxnSpPr>
        <p:spPr>
          <a:xfrm>
            <a:off x="6719453" y="2190460"/>
            <a:ext cx="946713" cy="0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423D216E-9E60-B0EF-A9D8-602EE6C6CDF4}"/>
              </a:ext>
            </a:extLst>
          </p:cNvPr>
          <p:cNvSpPr/>
          <p:nvPr/>
        </p:nvSpPr>
        <p:spPr>
          <a:xfrm>
            <a:off x="6631909" y="1871450"/>
            <a:ext cx="103425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List of </a:t>
            </a:r>
          </a:p>
          <a:p>
            <a:r>
              <a:rPr lang="en-US" dirty="0">
                <a:latin typeface="+mj-lt"/>
              </a:rPr>
              <a:t>sampled </a:t>
            </a:r>
          </a:p>
          <a:p>
            <a:r>
              <a:rPr lang="en-US" dirty="0">
                <a:latin typeface="+mj-lt"/>
              </a:rPr>
              <a:t>k-</a:t>
            </a:r>
            <a:r>
              <a:rPr lang="en-US" dirty="0" err="1">
                <a:latin typeface="+mj-lt"/>
              </a:rPr>
              <a:t>mers</a:t>
            </a:r>
            <a:endParaRPr lang="en-US" dirty="0">
              <a:latin typeface="+mj-lt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975DC25-95A7-BA82-6BCA-D828A075956E}"/>
              </a:ext>
            </a:extLst>
          </p:cNvPr>
          <p:cNvSpPr/>
          <p:nvPr/>
        </p:nvSpPr>
        <p:spPr>
          <a:xfrm>
            <a:off x="4160966" y="1828800"/>
            <a:ext cx="11267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Randomly </a:t>
            </a:r>
          </a:p>
          <a:p>
            <a:r>
              <a:rPr lang="en-US" dirty="0">
                <a:latin typeface="+mj-lt"/>
              </a:rPr>
              <a:t>sample</a:t>
            </a:r>
          </a:p>
        </p:txBody>
      </p:sp>
      <p:cxnSp>
        <p:nvCxnSpPr>
          <p:cNvPr id="4112" name="Straight Arrow Connector 4111">
            <a:extLst>
              <a:ext uri="{FF2B5EF4-FFF2-40B4-BE49-F238E27FC236}">
                <a16:creationId xmlns:a16="http://schemas.microsoft.com/office/drawing/2014/main" id="{955623CE-08BF-9470-0AF2-82F1C61F8030}"/>
              </a:ext>
            </a:extLst>
          </p:cNvPr>
          <p:cNvCxnSpPr>
            <a:cxnSpLocks/>
          </p:cNvCxnSpPr>
          <p:nvPr/>
        </p:nvCxnSpPr>
        <p:spPr>
          <a:xfrm>
            <a:off x="4224360" y="2191052"/>
            <a:ext cx="833775" cy="0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13" name="Group 4112">
            <a:extLst>
              <a:ext uri="{FF2B5EF4-FFF2-40B4-BE49-F238E27FC236}">
                <a16:creationId xmlns:a16="http://schemas.microsoft.com/office/drawing/2014/main" id="{004EEEE7-133A-BCD8-C1DD-93807B69A4DB}"/>
              </a:ext>
            </a:extLst>
          </p:cNvPr>
          <p:cNvGrpSpPr/>
          <p:nvPr/>
        </p:nvGrpSpPr>
        <p:grpSpPr>
          <a:xfrm>
            <a:off x="48716" y="1600200"/>
            <a:ext cx="1503255" cy="1049313"/>
            <a:chOff x="901076" y="3886200"/>
            <a:chExt cx="1503255" cy="1049313"/>
          </a:xfrm>
        </p:grpSpPr>
        <p:sp>
          <p:nvSpPr>
            <p:cNvPr id="4115" name="Rectangle 4114">
              <a:extLst>
                <a:ext uri="{FF2B5EF4-FFF2-40B4-BE49-F238E27FC236}">
                  <a16:creationId xmlns:a16="http://schemas.microsoft.com/office/drawing/2014/main" id="{52013020-0669-5B7E-B421-6642BC285B3E}"/>
                </a:ext>
              </a:extLst>
            </p:cNvPr>
            <p:cNvSpPr/>
            <p:nvPr/>
          </p:nvSpPr>
          <p:spPr>
            <a:xfrm>
              <a:off x="1489750" y="4222780"/>
              <a:ext cx="68121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+mj-lt"/>
                </a:rPr>
                <a:t>Reads</a:t>
              </a:r>
            </a:p>
          </p:txBody>
        </p:sp>
        <p:cxnSp>
          <p:nvCxnSpPr>
            <p:cNvPr id="4117" name="Straight Connector 4116">
              <a:extLst>
                <a:ext uri="{FF2B5EF4-FFF2-40B4-BE49-F238E27FC236}">
                  <a16:creationId xmlns:a16="http://schemas.microsoft.com/office/drawing/2014/main" id="{DCA20F40-3B49-0DD1-5566-880EB23FDA0E}"/>
                </a:ext>
              </a:extLst>
            </p:cNvPr>
            <p:cNvCxnSpPr/>
            <p:nvPr/>
          </p:nvCxnSpPr>
          <p:spPr>
            <a:xfrm flipV="1">
              <a:off x="1364714" y="3886200"/>
              <a:ext cx="403940" cy="250053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8" name="Straight Connector 4117">
              <a:extLst>
                <a:ext uri="{FF2B5EF4-FFF2-40B4-BE49-F238E27FC236}">
                  <a16:creationId xmlns:a16="http://schemas.microsoft.com/office/drawing/2014/main" id="{BC5B8BE6-4B6A-38E5-E6E2-AF12489F6E8B}"/>
                </a:ext>
              </a:extLst>
            </p:cNvPr>
            <p:cNvCxnSpPr/>
            <p:nvPr/>
          </p:nvCxnSpPr>
          <p:spPr>
            <a:xfrm>
              <a:off x="1138388" y="4136253"/>
              <a:ext cx="396484" cy="184919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9" name="Straight Connector 4118">
              <a:extLst>
                <a:ext uri="{FF2B5EF4-FFF2-40B4-BE49-F238E27FC236}">
                  <a16:creationId xmlns:a16="http://schemas.microsoft.com/office/drawing/2014/main" id="{2FA5C2C8-2393-79D6-F1D9-075FA3729BB8}"/>
                </a:ext>
              </a:extLst>
            </p:cNvPr>
            <p:cNvCxnSpPr/>
            <p:nvPr/>
          </p:nvCxnSpPr>
          <p:spPr>
            <a:xfrm>
              <a:off x="926299" y="4482880"/>
              <a:ext cx="369711" cy="186215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0" name="Straight Connector 4119">
              <a:extLst>
                <a:ext uri="{FF2B5EF4-FFF2-40B4-BE49-F238E27FC236}">
                  <a16:creationId xmlns:a16="http://schemas.microsoft.com/office/drawing/2014/main" id="{F4D73ADF-7C21-E76A-3EFA-AD551277E29F}"/>
                </a:ext>
              </a:extLst>
            </p:cNvPr>
            <p:cNvCxnSpPr/>
            <p:nvPr/>
          </p:nvCxnSpPr>
          <p:spPr>
            <a:xfrm>
              <a:off x="1058698" y="4321172"/>
              <a:ext cx="317002" cy="188031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1" name="Straight Connector 4120">
              <a:extLst>
                <a:ext uri="{FF2B5EF4-FFF2-40B4-BE49-F238E27FC236}">
                  <a16:creationId xmlns:a16="http://schemas.microsoft.com/office/drawing/2014/main" id="{6A579A7C-42AB-7154-7098-01B0FEF1802B}"/>
                </a:ext>
              </a:extLst>
            </p:cNvPr>
            <p:cNvCxnSpPr/>
            <p:nvPr/>
          </p:nvCxnSpPr>
          <p:spPr>
            <a:xfrm>
              <a:off x="901076" y="4675095"/>
              <a:ext cx="463638" cy="260418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2" name="Straight Connector 4121">
              <a:extLst>
                <a:ext uri="{FF2B5EF4-FFF2-40B4-BE49-F238E27FC236}">
                  <a16:creationId xmlns:a16="http://schemas.microsoft.com/office/drawing/2014/main" id="{2BE38CFA-A19E-69E4-18E5-7EDBA68301A8}"/>
                </a:ext>
              </a:extLst>
            </p:cNvPr>
            <p:cNvCxnSpPr/>
            <p:nvPr/>
          </p:nvCxnSpPr>
          <p:spPr>
            <a:xfrm>
              <a:off x="1615492" y="4545884"/>
              <a:ext cx="297355" cy="130209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3" name="Straight Connector 4122">
              <a:extLst>
                <a:ext uri="{FF2B5EF4-FFF2-40B4-BE49-F238E27FC236}">
                  <a16:creationId xmlns:a16="http://schemas.microsoft.com/office/drawing/2014/main" id="{A96B831F-8F2A-D484-9CF6-AC336D493F56}"/>
                </a:ext>
              </a:extLst>
            </p:cNvPr>
            <p:cNvCxnSpPr/>
            <p:nvPr/>
          </p:nvCxnSpPr>
          <p:spPr>
            <a:xfrm>
              <a:off x="1912847" y="4497381"/>
              <a:ext cx="289514" cy="178712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4" name="Straight Connector 4123">
              <a:extLst>
                <a:ext uri="{FF2B5EF4-FFF2-40B4-BE49-F238E27FC236}">
                  <a16:creationId xmlns:a16="http://schemas.microsoft.com/office/drawing/2014/main" id="{7A24ED5B-D223-C78C-6D4E-21C7E32BF79A}"/>
                </a:ext>
              </a:extLst>
            </p:cNvPr>
            <p:cNvCxnSpPr/>
            <p:nvPr/>
          </p:nvCxnSpPr>
          <p:spPr>
            <a:xfrm flipV="1">
              <a:off x="1640814" y="4044497"/>
              <a:ext cx="272033" cy="171728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6" name="Straight Connector 4125">
              <a:extLst>
                <a:ext uri="{FF2B5EF4-FFF2-40B4-BE49-F238E27FC236}">
                  <a16:creationId xmlns:a16="http://schemas.microsoft.com/office/drawing/2014/main" id="{27676583-4032-FE23-A533-817536C1F78D}"/>
                </a:ext>
              </a:extLst>
            </p:cNvPr>
            <p:cNvCxnSpPr/>
            <p:nvPr/>
          </p:nvCxnSpPr>
          <p:spPr>
            <a:xfrm flipV="1">
              <a:off x="2000391" y="4025581"/>
              <a:ext cx="403940" cy="250053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9" name="Straight Connector 4128">
              <a:extLst>
                <a:ext uri="{FF2B5EF4-FFF2-40B4-BE49-F238E27FC236}">
                  <a16:creationId xmlns:a16="http://schemas.microsoft.com/office/drawing/2014/main" id="{955D1D96-0112-7960-A1BD-30B05277997F}"/>
                </a:ext>
              </a:extLst>
            </p:cNvPr>
            <p:cNvCxnSpPr/>
            <p:nvPr/>
          </p:nvCxnSpPr>
          <p:spPr>
            <a:xfrm>
              <a:off x="1295400" y="4757799"/>
              <a:ext cx="534956" cy="6946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0" name="Straight Connector 4129">
              <a:extLst>
                <a:ext uri="{FF2B5EF4-FFF2-40B4-BE49-F238E27FC236}">
                  <a16:creationId xmlns:a16="http://schemas.microsoft.com/office/drawing/2014/main" id="{8AE95E08-0A36-D2C8-CE25-60604DAE676F}"/>
                </a:ext>
              </a:extLst>
            </p:cNvPr>
            <p:cNvCxnSpPr/>
            <p:nvPr/>
          </p:nvCxnSpPr>
          <p:spPr>
            <a:xfrm>
              <a:off x="1473776" y="4932168"/>
              <a:ext cx="606107" cy="0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31" name="Rectangle 4130">
            <a:extLst>
              <a:ext uri="{FF2B5EF4-FFF2-40B4-BE49-F238E27FC236}">
                <a16:creationId xmlns:a16="http://schemas.microsoft.com/office/drawing/2014/main" id="{7C42DC46-3107-4107-533C-F1F8E300EF88}"/>
              </a:ext>
            </a:extLst>
          </p:cNvPr>
          <p:cNvSpPr/>
          <p:nvPr/>
        </p:nvSpPr>
        <p:spPr>
          <a:xfrm>
            <a:off x="1517905" y="1888215"/>
            <a:ext cx="8595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Get all </a:t>
            </a:r>
          </a:p>
          <a:p>
            <a:r>
              <a:rPr lang="en-US" dirty="0">
                <a:latin typeface="+mj-lt"/>
              </a:rPr>
              <a:t>K-</a:t>
            </a:r>
            <a:r>
              <a:rPr lang="en-US" dirty="0" err="1">
                <a:latin typeface="+mj-lt"/>
              </a:rPr>
              <a:t>mers</a:t>
            </a:r>
            <a:endParaRPr lang="en-US" dirty="0">
              <a:latin typeface="+mj-lt"/>
            </a:endParaRPr>
          </a:p>
        </p:txBody>
      </p:sp>
      <p:cxnSp>
        <p:nvCxnSpPr>
          <p:cNvPr id="4132" name="Straight Arrow Connector 4131">
            <a:extLst>
              <a:ext uri="{FF2B5EF4-FFF2-40B4-BE49-F238E27FC236}">
                <a16:creationId xmlns:a16="http://schemas.microsoft.com/office/drawing/2014/main" id="{5E68244B-F35E-8E23-4668-1AB7EACA1C1C}"/>
              </a:ext>
            </a:extLst>
          </p:cNvPr>
          <p:cNvCxnSpPr>
            <a:cxnSpLocks/>
          </p:cNvCxnSpPr>
          <p:nvPr/>
        </p:nvCxnSpPr>
        <p:spPr>
          <a:xfrm>
            <a:off x="1581299" y="2250467"/>
            <a:ext cx="833775" cy="0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33" name="Group 4132">
            <a:extLst>
              <a:ext uri="{FF2B5EF4-FFF2-40B4-BE49-F238E27FC236}">
                <a16:creationId xmlns:a16="http://schemas.microsoft.com/office/drawing/2014/main" id="{8ABFCBCA-5AFC-81A1-950D-404C0960D07F}"/>
              </a:ext>
            </a:extLst>
          </p:cNvPr>
          <p:cNvGrpSpPr/>
          <p:nvPr/>
        </p:nvGrpSpPr>
        <p:grpSpPr>
          <a:xfrm>
            <a:off x="67149" y="4587742"/>
            <a:ext cx="1503255" cy="1049313"/>
            <a:chOff x="901076" y="3886200"/>
            <a:chExt cx="1503255" cy="1049313"/>
          </a:xfrm>
        </p:grpSpPr>
        <p:sp>
          <p:nvSpPr>
            <p:cNvPr id="4134" name="Rectangle 4133">
              <a:extLst>
                <a:ext uri="{FF2B5EF4-FFF2-40B4-BE49-F238E27FC236}">
                  <a16:creationId xmlns:a16="http://schemas.microsoft.com/office/drawing/2014/main" id="{5A2C1C96-CEEE-630D-C9E4-2875D6F1CD59}"/>
                </a:ext>
              </a:extLst>
            </p:cNvPr>
            <p:cNvSpPr/>
            <p:nvPr/>
          </p:nvSpPr>
          <p:spPr>
            <a:xfrm>
              <a:off x="1489750" y="4222780"/>
              <a:ext cx="681212" cy="338554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+mj-lt"/>
                </a:rPr>
                <a:t>Reads</a:t>
              </a:r>
            </a:p>
          </p:txBody>
        </p:sp>
        <p:cxnSp>
          <p:nvCxnSpPr>
            <p:cNvPr id="4135" name="Straight Connector 4134">
              <a:extLst>
                <a:ext uri="{FF2B5EF4-FFF2-40B4-BE49-F238E27FC236}">
                  <a16:creationId xmlns:a16="http://schemas.microsoft.com/office/drawing/2014/main" id="{C617752A-9732-767A-6E22-44881C851B68}"/>
                </a:ext>
              </a:extLst>
            </p:cNvPr>
            <p:cNvCxnSpPr/>
            <p:nvPr/>
          </p:nvCxnSpPr>
          <p:spPr>
            <a:xfrm flipV="1">
              <a:off x="1364714" y="3886200"/>
              <a:ext cx="403940" cy="250053"/>
            </a:xfrm>
            <a:prstGeom prst="line">
              <a:avLst/>
            </a:prstGeom>
            <a:ln w="57150" cmpd="sng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6" name="Straight Connector 4135">
              <a:extLst>
                <a:ext uri="{FF2B5EF4-FFF2-40B4-BE49-F238E27FC236}">
                  <a16:creationId xmlns:a16="http://schemas.microsoft.com/office/drawing/2014/main" id="{C4355977-1479-D0D1-306C-9376D3692608}"/>
                </a:ext>
              </a:extLst>
            </p:cNvPr>
            <p:cNvCxnSpPr/>
            <p:nvPr/>
          </p:nvCxnSpPr>
          <p:spPr>
            <a:xfrm>
              <a:off x="1138388" y="4136253"/>
              <a:ext cx="396484" cy="184919"/>
            </a:xfrm>
            <a:prstGeom prst="line">
              <a:avLst/>
            </a:prstGeom>
            <a:ln w="57150" cmpd="sng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7" name="Straight Connector 4136">
              <a:extLst>
                <a:ext uri="{FF2B5EF4-FFF2-40B4-BE49-F238E27FC236}">
                  <a16:creationId xmlns:a16="http://schemas.microsoft.com/office/drawing/2014/main" id="{264259CD-8DDD-4BD9-32B5-B95C877D1C69}"/>
                </a:ext>
              </a:extLst>
            </p:cNvPr>
            <p:cNvCxnSpPr/>
            <p:nvPr/>
          </p:nvCxnSpPr>
          <p:spPr>
            <a:xfrm>
              <a:off x="926299" y="4482880"/>
              <a:ext cx="369711" cy="186215"/>
            </a:xfrm>
            <a:prstGeom prst="line">
              <a:avLst/>
            </a:prstGeom>
            <a:ln w="57150" cmpd="sng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8" name="Straight Connector 4137">
              <a:extLst>
                <a:ext uri="{FF2B5EF4-FFF2-40B4-BE49-F238E27FC236}">
                  <a16:creationId xmlns:a16="http://schemas.microsoft.com/office/drawing/2014/main" id="{73AC6E53-8656-498F-F3B9-95EFAC236C80}"/>
                </a:ext>
              </a:extLst>
            </p:cNvPr>
            <p:cNvCxnSpPr/>
            <p:nvPr/>
          </p:nvCxnSpPr>
          <p:spPr>
            <a:xfrm>
              <a:off x="1058698" y="4321172"/>
              <a:ext cx="317002" cy="188031"/>
            </a:xfrm>
            <a:prstGeom prst="line">
              <a:avLst/>
            </a:prstGeom>
            <a:ln w="57150" cmpd="sng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9" name="Straight Connector 4138">
              <a:extLst>
                <a:ext uri="{FF2B5EF4-FFF2-40B4-BE49-F238E27FC236}">
                  <a16:creationId xmlns:a16="http://schemas.microsoft.com/office/drawing/2014/main" id="{37D7D352-7FAF-1BF5-51E3-65E2D88ABA38}"/>
                </a:ext>
              </a:extLst>
            </p:cNvPr>
            <p:cNvCxnSpPr/>
            <p:nvPr/>
          </p:nvCxnSpPr>
          <p:spPr>
            <a:xfrm>
              <a:off x="901076" y="4675095"/>
              <a:ext cx="463638" cy="260418"/>
            </a:xfrm>
            <a:prstGeom prst="line">
              <a:avLst/>
            </a:prstGeom>
            <a:ln w="57150" cmpd="sng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0" name="Straight Connector 4139">
              <a:extLst>
                <a:ext uri="{FF2B5EF4-FFF2-40B4-BE49-F238E27FC236}">
                  <a16:creationId xmlns:a16="http://schemas.microsoft.com/office/drawing/2014/main" id="{2894566E-5994-410F-1A71-829550AD59B8}"/>
                </a:ext>
              </a:extLst>
            </p:cNvPr>
            <p:cNvCxnSpPr/>
            <p:nvPr/>
          </p:nvCxnSpPr>
          <p:spPr>
            <a:xfrm>
              <a:off x="1615492" y="4545884"/>
              <a:ext cx="297355" cy="130209"/>
            </a:xfrm>
            <a:prstGeom prst="line">
              <a:avLst/>
            </a:prstGeom>
            <a:ln w="57150" cmpd="sng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1" name="Straight Connector 4140">
              <a:extLst>
                <a:ext uri="{FF2B5EF4-FFF2-40B4-BE49-F238E27FC236}">
                  <a16:creationId xmlns:a16="http://schemas.microsoft.com/office/drawing/2014/main" id="{3A768F25-58FF-95C2-06A4-658ACDE53A2E}"/>
                </a:ext>
              </a:extLst>
            </p:cNvPr>
            <p:cNvCxnSpPr/>
            <p:nvPr/>
          </p:nvCxnSpPr>
          <p:spPr>
            <a:xfrm>
              <a:off x="1912847" y="4497381"/>
              <a:ext cx="289514" cy="178712"/>
            </a:xfrm>
            <a:prstGeom prst="line">
              <a:avLst/>
            </a:prstGeom>
            <a:ln w="57150" cmpd="sng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2" name="Straight Connector 4141">
              <a:extLst>
                <a:ext uri="{FF2B5EF4-FFF2-40B4-BE49-F238E27FC236}">
                  <a16:creationId xmlns:a16="http://schemas.microsoft.com/office/drawing/2014/main" id="{70A403B6-1835-45B1-C770-DFF8B9434173}"/>
                </a:ext>
              </a:extLst>
            </p:cNvPr>
            <p:cNvCxnSpPr/>
            <p:nvPr/>
          </p:nvCxnSpPr>
          <p:spPr>
            <a:xfrm flipV="1">
              <a:off x="1640814" y="4044497"/>
              <a:ext cx="272033" cy="171728"/>
            </a:xfrm>
            <a:prstGeom prst="line">
              <a:avLst/>
            </a:prstGeom>
            <a:ln w="57150" cmpd="sng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3" name="Straight Connector 4142">
              <a:extLst>
                <a:ext uri="{FF2B5EF4-FFF2-40B4-BE49-F238E27FC236}">
                  <a16:creationId xmlns:a16="http://schemas.microsoft.com/office/drawing/2014/main" id="{49B6391D-2549-5437-22E2-3534AF64C117}"/>
                </a:ext>
              </a:extLst>
            </p:cNvPr>
            <p:cNvCxnSpPr/>
            <p:nvPr/>
          </p:nvCxnSpPr>
          <p:spPr>
            <a:xfrm flipV="1">
              <a:off x="2000391" y="4025581"/>
              <a:ext cx="403940" cy="250053"/>
            </a:xfrm>
            <a:prstGeom prst="line">
              <a:avLst/>
            </a:prstGeom>
            <a:ln w="57150" cmpd="sng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4" name="Straight Connector 4143">
              <a:extLst>
                <a:ext uri="{FF2B5EF4-FFF2-40B4-BE49-F238E27FC236}">
                  <a16:creationId xmlns:a16="http://schemas.microsoft.com/office/drawing/2014/main" id="{5F650B88-EE61-86C0-8F0A-DF8841DB477E}"/>
                </a:ext>
              </a:extLst>
            </p:cNvPr>
            <p:cNvCxnSpPr/>
            <p:nvPr/>
          </p:nvCxnSpPr>
          <p:spPr>
            <a:xfrm>
              <a:off x="1295400" y="4757799"/>
              <a:ext cx="534956" cy="6946"/>
            </a:xfrm>
            <a:prstGeom prst="line">
              <a:avLst/>
            </a:prstGeom>
            <a:ln w="57150" cmpd="sng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5" name="Straight Connector 4144">
              <a:extLst>
                <a:ext uri="{FF2B5EF4-FFF2-40B4-BE49-F238E27FC236}">
                  <a16:creationId xmlns:a16="http://schemas.microsoft.com/office/drawing/2014/main" id="{163BE3C1-DF66-D1A8-BD95-E5803DEDF7C3}"/>
                </a:ext>
              </a:extLst>
            </p:cNvPr>
            <p:cNvCxnSpPr/>
            <p:nvPr/>
          </p:nvCxnSpPr>
          <p:spPr>
            <a:xfrm>
              <a:off x="1473776" y="4932168"/>
              <a:ext cx="606107" cy="0"/>
            </a:xfrm>
            <a:prstGeom prst="line">
              <a:avLst/>
            </a:prstGeom>
            <a:ln w="57150" cmpd="sng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46" name="Rectangle 4145">
            <a:extLst>
              <a:ext uri="{FF2B5EF4-FFF2-40B4-BE49-F238E27FC236}">
                <a16:creationId xmlns:a16="http://schemas.microsoft.com/office/drawing/2014/main" id="{40F18CAA-5C1B-0113-7F08-3F3BDADB5E90}"/>
              </a:ext>
            </a:extLst>
          </p:cNvPr>
          <p:cNvSpPr/>
          <p:nvPr/>
        </p:nvSpPr>
        <p:spPr>
          <a:xfrm>
            <a:off x="1536338" y="4875757"/>
            <a:ext cx="8595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Get all </a:t>
            </a:r>
          </a:p>
          <a:p>
            <a:r>
              <a:rPr lang="en-US" dirty="0">
                <a:latin typeface="+mj-lt"/>
              </a:rPr>
              <a:t>K-</a:t>
            </a:r>
            <a:r>
              <a:rPr lang="en-US" dirty="0" err="1">
                <a:latin typeface="+mj-lt"/>
              </a:rPr>
              <a:t>mers</a:t>
            </a:r>
            <a:endParaRPr lang="en-US" dirty="0">
              <a:latin typeface="+mj-lt"/>
            </a:endParaRPr>
          </a:p>
        </p:txBody>
      </p:sp>
      <p:cxnSp>
        <p:nvCxnSpPr>
          <p:cNvPr id="4147" name="Straight Arrow Connector 4146">
            <a:extLst>
              <a:ext uri="{FF2B5EF4-FFF2-40B4-BE49-F238E27FC236}">
                <a16:creationId xmlns:a16="http://schemas.microsoft.com/office/drawing/2014/main" id="{FA2CBB83-60B0-6E9B-270E-392BAB50982E}"/>
              </a:ext>
            </a:extLst>
          </p:cNvPr>
          <p:cNvCxnSpPr>
            <a:cxnSpLocks/>
          </p:cNvCxnSpPr>
          <p:nvPr/>
        </p:nvCxnSpPr>
        <p:spPr>
          <a:xfrm>
            <a:off x="1599732" y="5238009"/>
            <a:ext cx="833775" cy="0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B1868043-FEA2-28F1-960F-316B2715E84E}"/>
              </a:ext>
            </a:extLst>
          </p:cNvPr>
          <p:cNvGrpSpPr/>
          <p:nvPr/>
        </p:nvGrpSpPr>
        <p:grpSpPr>
          <a:xfrm>
            <a:off x="2563013" y="3364468"/>
            <a:ext cx="3758658" cy="369332"/>
            <a:chOff x="2563013" y="3364468"/>
            <a:chExt cx="3758658" cy="369332"/>
          </a:xfrm>
        </p:grpSpPr>
        <p:pic>
          <p:nvPicPr>
            <p:cNvPr id="2" name="Picture 1" descr="Shape&#10;&#10;Description automatically generated with medium confidence">
              <a:extLst>
                <a:ext uri="{FF2B5EF4-FFF2-40B4-BE49-F238E27FC236}">
                  <a16:creationId xmlns:a16="http://schemas.microsoft.com/office/drawing/2014/main" id="{46BF4A8D-DED0-AF91-3D1E-18F76142CC9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31749" y="3426113"/>
              <a:ext cx="1255923" cy="246043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40E86C9-D40E-5FD6-DA91-32AE51E22547}"/>
                </a:ext>
              </a:extLst>
            </p:cNvPr>
            <p:cNvSpPr/>
            <p:nvPr/>
          </p:nvSpPr>
          <p:spPr>
            <a:xfrm>
              <a:off x="2563013" y="3364468"/>
              <a:ext cx="375865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latin typeface="+mj-lt"/>
                </a:rPr>
                <a:t>Some fraction,                         of k-</a:t>
              </a:r>
              <a:r>
                <a:rPr lang="en-US" dirty="0" err="1">
                  <a:latin typeface="+mj-lt"/>
                </a:rPr>
                <a:t>mers</a:t>
              </a:r>
              <a:endParaRPr lang="en-US" dirty="0">
                <a:latin typeface="+mj-lt"/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D7379DF7-2106-56A0-919D-7936739D7020}"/>
              </a:ext>
            </a:extLst>
          </p:cNvPr>
          <p:cNvSpPr/>
          <p:nvPr/>
        </p:nvSpPr>
        <p:spPr>
          <a:xfrm>
            <a:off x="6412800" y="3594012"/>
            <a:ext cx="19986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Overlap = similarity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DFE088-64C1-3D36-E01E-1EA3CF70A1C0}"/>
              </a:ext>
            </a:extLst>
          </p:cNvPr>
          <p:cNvSpPr/>
          <p:nvPr/>
        </p:nvSpPr>
        <p:spPr>
          <a:xfrm>
            <a:off x="7621589" y="4462772"/>
            <a:ext cx="205269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CGACATGCTTGAAAA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ATCCTATACGTTCAG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AGGTGCGGATCACTG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ACCTATCGTTCGCGG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GCCTACGGCTGCTTT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CTGATTTTTTCGAGG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ACGTCGATATGCACT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ACTCTCTGCGATTGC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TTTTTGACACGACAA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TGGCACCAATGTCAC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FEE2304-FB1E-4202-55C2-2F9D742AF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D839-6155-4130-9A65-D0D84F81E563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0" name="AutoShape 2" descr=" 4098">
            <a:extLst>
              <a:ext uri="{FF2B5EF4-FFF2-40B4-BE49-F238E27FC236}">
                <a16:creationId xmlns:a16="http://schemas.microsoft.com/office/drawing/2014/main" id="{7041A6B5-017B-7FE8-D9F3-E0F0998B53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672860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 err="1">
                <a:solidFill>
                  <a:srgbClr val="000000"/>
                </a:solidFill>
                <a:latin typeface="+mj-lt"/>
              </a:rPr>
              <a:t>FracMinHash</a:t>
            </a:r>
            <a:endParaRPr lang="en-US" sz="4000" dirty="0">
              <a:solidFill>
                <a:srgbClr val="0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85095978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22" grpId="0"/>
      <p:bldP spid="21" grpId="0"/>
      <p:bldP spid="14" grpId="0"/>
      <p:bldP spid="17" grpId="0"/>
      <p:bldP spid="18" grpId="0"/>
      <p:bldP spid="49" grpId="0"/>
      <p:bldP spid="58" grpId="0"/>
      <p:bldP spid="4131" grpId="0"/>
      <p:bldP spid="4146" grpId="0"/>
      <p:bldP spid="11" grpId="0"/>
      <p:bldP spid="20" grpId="0"/>
      <p:bldP spid="20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4100">
            <a:extLst>
              <a:ext uri="{FF2B5EF4-FFF2-40B4-BE49-F238E27FC236}">
                <a16:creationId xmlns:a16="http://schemas.microsoft.com/office/drawing/2014/main" id="{B206FE5D-CC8B-C826-58C0-7C29788170C9}"/>
              </a:ext>
            </a:extLst>
          </p:cNvPr>
          <p:cNvSpPr/>
          <p:nvPr/>
        </p:nvSpPr>
        <p:spPr>
          <a:xfrm>
            <a:off x="4216057" y="5788039"/>
            <a:ext cx="111149" cy="1555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99" name="AutoShape 3" descr=" 4099"/>
          <p:cNvSpPr>
            <a:spLocks noChangeArrowheads="1"/>
          </p:cNvSpPr>
          <p:nvPr/>
        </p:nvSpPr>
        <p:spPr bwMode="auto">
          <a:xfrm>
            <a:off x="0" y="843958"/>
            <a:ext cx="3076434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 err="1">
                <a:solidFill>
                  <a:srgbClr val="000000"/>
                </a:solidFill>
                <a:latin typeface="+mj-lt"/>
              </a:rPr>
              <a:t>FracMinHash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 Definition</a:t>
            </a:r>
          </a:p>
        </p:txBody>
      </p:sp>
      <p:pic>
        <p:nvPicPr>
          <p:cNvPr id="3" name="Picture 2" descr="Shape&#10;&#10;Description automatically generated with medium confidence">
            <a:extLst>
              <a:ext uri="{FF2B5EF4-FFF2-40B4-BE49-F238E27FC236}">
                <a16:creationId xmlns:a16="http://schemas.microsoft.com/office/drawing/2014/main" id="{B2282BCF-1C7F-826C-C9B8-83A249F6F5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635" y="1443810"/>
            <a:ext cx="1255923" cy="246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2DF9AD-1DEA-BD8E-AE63-A9B34BCEE6D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3302469"/>
            <a:ext cx="6121718" cy="304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00DE5F-0F3E-9454-9142-2D34ECEE354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83155" y="1998930"/>
            <a:ext cx="2875408" cy="31356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746A8DB-4CA9-3400-CB3C-704F14CD8D7E}"/>
              </a:ext>
            </a:extLst>
          </p:cNvPr>
          <p:cNvSpPr/>
          <p:nvPr/>
        </p:nvSpPr>
        <p:spPr>
          <a:xfrm>
            <a:off x="2721" y="1382165"/>
            <a:ext cx="7806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Scale: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611150-B824-4BAC-C6EE-539E38F66F5E}"/>
              </a:ext>
            </a:extLst>
          </p:cNvPr>
          <p:cNvSpPr/>
          <p:nvPr/>
        </p:nvSpPr>
        <p:spPr>
          <a:xfrm>
            <a:off x="2057400" y="1382165"/>
            <a:ext cx="27532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i.e. how much compression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CDFFCA-1E6E-830F-BCA5-F885E13ABCBC}"/>
              </a:ext>
            </a:extLst>
          </p:cNvPr>
          <p:cNvSpPr/>
          <p:nvPr/>
        </p:nvSpPr>
        <p:spPr>
          <a:xfrm>
            <a:off x="2721" y="1971047"/>
            <a:ext cx="16049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Hash function: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254167-6216-802C-072F-650C17B6915E}"/>
              </a:ext>
            </a:extLst>
          </p:cNvPr>
          <p:cNvSpPr/>
          <p:nvPr/>
        </p:nvSpPr>
        <p:spPr>
          <a:xfrm>
            <a:off x="4495800" y="1971047"/>
            <a:ext cx="2685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does the random sampling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0CC811-0693-88AB-C28B-F828E30EE36B}"/>
              </a:ext>
            </a:extLst>
          </p:cNvPr>
          <p:cNvSpPr/>
          <p:nvPr/>
        </p:nvSpPr>
        <p:spPr>
          <a:xfrm>
            <a:off x="2721" y="2626395"/>
            <a:ext cx="22010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+mj-lt"/>
              </a:rPr>
              <a:t>FracMinHash</a:t>
            </a:r>
            <a:r>
              <a:rPr lang="en-US" dirty="0">
                <a:latin typeface="+mj-lt"/>
              </a:rPr>
              <a:t> sketch</a:t>
            </a:r>
            <a:r>
              <a:rPr lang="en-US" baseline="30000" dirty="0">
                <a:latin typeface="+mj-lt"/>
              </a:rPr>
              <a:t>1</a:t>
            </a:r>
            <a:r>
              <a:rPr lang="en-US" dirty="0">
                <a:latin typeface="+mj-lt"/>
              </a:rPr>
              <a:t>: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F8D5822-8B9D-2881-2C38-60A56798C3DC}"/>
              </a:ext>
            </a:extLst>
          </p:cNvPr>
          <p:cNvCxnSpPr>
            <a:cxnSpLocks/>
          </p:cNvCxnSpPr>
          <p:nvPr/>
        </p:nvCxnSpPr>
        <p:spPr>
          <a:xfrm flipV="1">
            <a:off x="2667000" y="3657600"/>
            <a:ext cx="0" cy="533400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3E351C2-1662-A6BF-1984-6C43FF4376DC}"/>
              </a:ext>
            </a:extLst>
          </p:cNvPr>
          <p:cNvCxnSpPr>
            <a:cxnSpLocks/>
          </p:cNvCxnSpPr>
          <p:nvPr/>
        </p:nvCxnSpPr>
        <p:spPr>
          <a:xfrm flipV="1">
            <a:off x="3733800" y="3733800"/>
            <a:ext cx="0" cy="1066800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894C6C1-AA26-B1F2-D3B8-94E54C602877}"/>
              </a:ext>
            </a:extLst>
          </p:cNvPr>
          <p:cNvCxnSpPr>
            <a:cxnSpLocks/>
          </p:cNvCxnSpPr>
          <p:nvPr/>
        </p:nvCxnSpPr>
        <p:spPr>
          <a:xfrm flipV="1">
            <a:off x="6629400" y="3733800"/>
            <a:ext cx="0" cy="533400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FB653F68-4E23-4A6F-A5A9-72D51C66E062}"/>
              </a:ext>
            </a:extLst>
          </p:cNvPr>
          <p:cNvSpPr/>
          <p:nvPr/>
        </p:nvSpPr>
        <p:spPr>
          <a:xfrm>
            <a:off x="1981200" y="4191000"/>
            <a:ext cx="14201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Set of k-</a:t>
            </a:r>
            <a:r>
              <a:rPr lang="en-US" dirty="0" err="1">
                <a:latin typeface="+mj-lt"/>
              </a:rPr>
              <a:t>mers</a:t>
            </a:r>
            <a:endParaRPr lang="en-US" dirty="0"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AE90BA-7D19-D604-A07D-6DB2DAB3212D}"/>
              </a:ext>
            </a:extLst>
          </p:cNvPr>
          <p:cNvSpPr/>
          <p:nvPr/>
        </p:nvSpPr>
        <p:spPr>
          <a:xfrm>
            <a:off x="3124245" y="4778031"/>
            <a:ext cx="12953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Hash values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A51BD8-58E2-D413-A925-A62A6957F58E}"/>
              </a:ext>
            </a:extLst>
          </p:cNvPr>
          <p:cNvSpPr/>
          <p:nvPr/>
        </p:nvSpPr>
        <p:spPr>
          <a:xfrm>
            <a:off x="5638800" y="4223159"/>
            <a:ext cx="216193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Below some fraction </a:t>
            </a:r>
          </a:p>
          <a:p>
            <a:r>
              <a:rPr lang="en-US" dirty="0">
                <a:latin typeface="+mj-lt"/>
              </a:rPr>
              <a:t>of the max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189C105-EA3E-294E-B8B5-1030AA84F193}"/>
              </a:ext>
            </a:extLst>
          </p:cNvPr>
          <p:cNvSpPr/>
          <p:nvPr/>
        </p:nvSpPr>
        <p:spPr>
          <a:xfrm>
            <a:off x="152400" y="5158241"/>
            <a:ext cx="1630948" cy="147116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CC15D31-FF49-6F52-3815-76BE0D72130E}"/>
              </a:ext>
            </a:extLst>
          </p:cNvPr>
          <p:cNvCxnSpPr>
            <a:cxnSpLocks/>
          </p:cNvCxnSpPr>
          <p:nvPr/>
        </p:nvCxnSpPr>
        <p:spPr>
          <a:xfrm flipV="1">
            <a:off x="375833" y="5302277"/>
            <a:ext cx="403940" cy="250053"/>
          </a:xfrm>
          <a:prstGeom prst="line">
            <a:avLst/>
          </a:prstGeom>
          <a:ln w="57150" cmpd="sng">
            <a:solidFill>
              <a:srgbClr val="3A3A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72C1B09-40DB-A64B-5D68-65BF45737E88}"/>
              </a:ext>
            </a:extLst>
          </p:cNvPr>
          <p:cNvCxnSpPr>
            <a:cxnSpLocks/>
          </p:cNvCxnSpPr>
          <p:nvPr/>
        </p:nvCxnSpPr>
        <p:spPr>
          <a:xfrm flipV="1">
            <a:off x="1303209" y="5820113"/>
            <a:ext cx="403940" cy="250053"/>
          </a:xfrm>
          <a:prstGeom prst="line">
            <a:avLst/>
          </a:prstGeom>
          <a:ln w="57150" cmpd="sng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3ECE50B-808F-C5DA-6AA1-29C90E0C2223}"/>
              </a:ext>
            </a:extLst>
          </p:cNvPr>
          <p:cNvCxnSpPr>
            <a:cxnSpLocks/>
          </p:cNvCxnSpPr>
          <p:nvPr/>
        </p:nvCxnSpPr>
        <p:spPr>
          <a:xfrm flipV="1">
            <a:off x="730883" y="5320714"/>
            <a:ext cx="403940" cy="250053"/>
          </a:xfrm>
          <a:prstGeom prst="line">
            <a:avLst/>
          </a:prstGeom>
          <a:ln w="57150" cmpd="sng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3F7E9DF-FE2B-72F0-DC29-C5D5B1963AFF}"/>
              </a:ext>
            </a:extLst>
          </p:cNvPr>
          <p:cNvCxnSpPr>
            <a:cxnSpLocks/>
          </p:cNvCxnSpPr>
          <p:nvPr/>
        </p:nvCxnSpPr>
        <p:spPr>
          <a:xfrm flipV="1">
            <a:off x="581107" y="6030741"/>
            <a:ext cx="403940" cy="250053"/>
          </a:xfrm>
          <a:prstGeom prst="line">
            <a:avLst/>
          </a:prstGeom>
          <a:ln w="57150" cmpd="sng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880660E-FDDD-4EBB-B905-6395C3C683B4}"/>
              </a:ext>
            </a:extLst>
          </p:cNvPr>
          <p:cNvCxnSpPr>
            <a:cxnSpLocks/>
          </p:cNvCxnSpPr>
          <p:nvPr/>
        </p:nvCxnSpPr>
        <p:spPr>
          <a:xfrm flipV="1">
            <a:off x="1030285" y="5519729"/>
            <a:ext cx="403940" cy="250053"/>
          </a:xfrm>
          <a:prstGeom prst="line">
            <a:avLst/>
          </a:prstGeom>
          <a:ln w="57150" cmpd="sng">
            <a:solidFill>
              <a:srgbClr val="CC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Picture 55">
            <a:extLst>
              <a:ext uri="{FF2B5EF4-FFF2-40B4-BE49-F238E27FC236}">
                <a16:creationId xmlns:a16="http://schemas.microsoft.com/office/drawing/2014/main" id="{E6545C7E-06FA-BCEF-BF63-6E4E433CF7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4710" y="5862794"/>
            <a:ext cx="5820212" cy="590105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9F227A08-756E-13A1-F60E-E5B6BA9ABFD7}"/>
              </a:ext>
            </a:extLst>
          </p:cNvPr>
          <p:cNvSpPr/>
          <p:nvPr/>
        </p:nvSpPr>
        <p:spPr>
          <a:xfrm>
            <a:off x="3554401" y="6523096"/>
            <a:ext cx="7889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latin typeface="+mj-lt"/>
              </a:rPr>
              <a:t>s</a:t>
            </a:r>
            <a:r>
              <a:rPr lang="en-US" dirty="0">
                <a:latin typeface="+mj-lt"/>
              </a:rPr>
              <a:t>=20%</a:t>
            </a:r>
          </a:p>
        </p:txBody>
      </p: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7682C5EC-7559-3700-A896-5E18FDC27C97}"/>
              </a:ext>
            </a:extLst>
          </p:cNvPr>
          <p:cNvCxnSpPr>
            <a:cxnSpLocks/>
            <a:endCxn id="4101" idx="0"/>
          </p:cNvCxnSpPr>
          <p:nvPr/>
        </p:nvCxnSpPr>
        <p:spPr>
          <a:xfrm>
            <a:off x="1455324" y="5519729"/>
            <a:ext cx="2816308" cy="26831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7" name="Rectangle 4096">
            <a:extLst>
              <a:ext uri="{FF2B5EF4-FFF2-40B4-BE49-F238E27FC236}">
                <a16:creationId xmlns:a16="http://schemas.microsoft.com/office/drawing/2014/main" id="{10C879BE-773E-E17D-30FD-D01913B0F3BA}"/>
              </a:ext>
            </a:extLst>
          </p:cNvPr>
          <p:cNvSpPr/>
          <p:nvPr/>
        </p:nvSpPr>
        <p:spPr>
          <a:xfrm>
            <a:off x="3020859" y="5788039"/>
            <a:ext cx="111149" cy="1555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0" name="Rectangle 4099">
            <a:extLst>
              <a:ext uri="{FF2B5EF4-FFF2-40B4-BE49-F238E27FC236}">
                <a16:creationId xmlns:a16="http://schemas.microsoft.com/office/drawing/2014/main" id="{883B9974-18F3-7298-DD9D-94842F2A287C}"/>
              </a:ext>
            </a:extLst>
          </p:cNvPr>
          <p:cNvSpPr/>
          <p:nvPr/>
        </p:nvSpPr>
        <p:spPr>
          <a:xfrm>
            <a:off x="3618458" y="5788039"/>
            <a:ext cx="111149" cy="1555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2" name="Rectangle 4101">
            <a:extLst>
              <a:ext uri="{FF2B5EF4-FFF2-40B4-BE49-F238E27FC236}">
                <a16:creationId xmlns:a16="http://schemas.microsoft.com/office/drawing/2014/main" id="{B7CC7882-736B-B913-0859-4D402996C128}"/>
              </a:ext>
            </a:extLst>
          </p:cNvPr>
          <p:cNvSpPr/>
          <p:nvPr/>
        </p:nvSpPr>
        <p:spPr>
          <a:xfrm>
            <a:off x="4813656" y="5788039"/>
            <a:ext cx="111149" cy="1555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3" name="Rectangle 4102">
            <a:extLst>
              <a:ext uri="{FF2B5EF4-FFF2-40B4-BE49-F238E27FC236}">
                <a16:creationId xmlns:a16="http://schemas.microsoft.com/office/drawing/2014/main" id="{D83CE47D-D5B4-30DA-051B-DAD5D5B3372C}"/>
              </a:ext>
            </a:extLst>
          </p:cNvPr>
          <p:cNvSpPr/>
          <p:nvPr/>
        </p:nvSpPr>
        <p:spPr>
          <a:xfrm>
            <a:off x="5411255" y="5788039"/>
            <a:ext cx="111149" cy="1555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4" name="Rectangle 4103">
            <a:extLst>
              <a:ext uri="{FF2B5EF4-FFF2-40B4-BE49-F238E27FC236}">
                <a16:creationId xmlns:a16="http://schemas.microsoft.com/office/drawing/2014/main" id="{C45286E8-EADE-7862-2856-6C7079CA50B5}"/>
              </a:ext>
            </a:extLst>
          </p:cNvPr>
          <p:cNvSpPr/>
          <p:nvPr/>
        </p:nvSpPr>
        <p:spPr>
          <a:xfrm>
            <a:off x="6008854" y="5788039"/>
            <a:ext cx="111149" cy="1555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5" name="Rectangle 4104">
            <a:extLst>
              <a:ext uri="{FF2B5EF4-FFF2-40B4-BE49-F238E27FC236}">
                <a16:creationId xmlns:a16="http://schemas.microsoft.com/office/drawing/2014/main" id="{EC67BF1D-5B56-FA2E-1E90-E0267FE44762}"/>
              </a:ext>
            </a:extLst>
          </p:cNvPr>
          <p:cNvSpPr/>
          <p:nvPr/>
        </p:nvSpPr>
        <p:spPr>
          <a:xfrm>
            <a:off x="6606453" y="5788039"/>
            <a:ext cx="111149" cy="1555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6" name="Rectangle 4105">
            <a:extLst>
              <a:ext uri="{FF2B5EF4-FFF2-40B4-BE49-F238E27FC236}">
                <a16:creationId xmlns:a16="http://schemas.microsoft.com/office/drawing/2014/main" id="{956BF67B-7A44-D849-5D8B-67D4FBBD648B}"/>
              </a:ext>
            </a:extLst>
          </p:cNvPr>
          <p:cNvSpPr/>
          <p:nvPr/>
        </p:nvSpPr>
        <p:spPr>
          <a:xfrm>
            <a:off x="7204051" y="5788039"/>
            <a:ext cx="111149" cy="1555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14" name="Connector: Elbow 4113">
            <a:extLst>
              <a:ext uri="{FF2B5EF4-FFF2-40B4-BE49-F238E27FC236}">
                <a16:creationId xmlns:a16="http://schemas.microsoft.com/office/drawing/2014/main" id="{6A0F78D0-5621-F54C-3CC6-3050DDF81506}"/>
              </a:ext>
            </a:extLst>
          </p:cNvPr>
          <p:cNvCxnSpPr>
            <a:endCxn id="4102" idx="0"/>
          </p:cNvCxnSpPr>
          <p:nvPr/>
        </p:nvCxnSpPr>
        <p:spPr>
          <a:xfrm flipV="1">
            <a:off x="1707149" y="5788039"/>
            <a:ext cx="3162082" cy="74755"/>
          </a:xfrm>
          <a:prstGeom prst="bentConnector4">
            <a:avLst>
              <a:gd name="adj1" fmla="val 605"/>
              <a:gd name="adj2" fmla="val 40579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7" name="Connector: Elbow 4116">
            <a:extLst>
              <a:ext uri="{FF2B5EF4-FFF2-40B4-BE49-F238E27FC236}">
                <a16:creationId xmlns:a16="http://schemas.microsoft.com/office/drawing/2014/main" id="{1C571143-86C3-EB4F-A618-BA03D9574572}"/>
              </a:ext>
            </a:extLst>
          </p:cNvPr>
          <p:cNvCxnSpPr>
            <a:cxnSpLocks/>
            <a:endCxn id="4097" idx="0"/>
          </p:cNvCxnSpPr>
          <p:nvPr/>
        </p:nvCxnSpPr>
        <p:spPr>
          <a:xfrm flipV="1">
            <a:off x="978230" y="5788039"/>
            <a:ext cx="2098204" cy="242702"/>
          </a:xfrm>
          <a:prstGeom prst="bentConnector4">
            <a:avLst>
              <a:gd name="adj1" fmla="val 48676"/>
              <a:gd name="adj2" fmla="val 16740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1" name="Connector: Elbow 4120">
            <a:extLst>
              <a:ext uri="{FF2B5EF4-FFF2-40B4-BE49-F238E27FC236}">
                <a16:creationId xmlns:a16="http://schemas.microsoft.com/office/drawing/2014/main" id="{6327B2BF-3395-1177-A952-0A6FA444CE57}"/>
              </a:ext>
            </a:extLst>
          </p:cNvPr>
          <p:cNvCxnSpPr>
            <a:endCxn id="4105" idx="0"/>
          </p:cNvCxnSpPr>
          <p:nvPr/>
        </p:nvCxnSpPr>
        <p:spPr>
          <a:xfrm>
            <a:off x="1134823" y="5320714"/>
            <a:ext cx="5527205" cy="46732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3" name="Connector: Elbow 4122">
            <a:extLst>
              <a:ext uri="{FF2B5EF4-FFF2-40B4-BE49-F238E27FC236}">
                <a16:creationId xmlns:a16="http://schemas.microsoft.com/office/drawing/2014/main" id="{B55D386C-74E0-EE06-FA4F-2BD559493F86}"/>
              </a:ext>
            </a:extLst>
          </p:cNvPr>
          <p:cNvCxnSpPr>
            <a:endCxn id="4100" idx="0"/>
          </p:cNvCxnSpPr>
          <p:nvPr/>
        </p:nvCxnSpPr>
        <p:spPr>
          <a:xfrm>
            <a:off x="779773" y="5302277"/>
            <a:ext cx="2894260" cy="48576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24" name="Rectangle 4123">
            <a:extLst>
              <a:ext uri="{FF2B5EF4-FFF2-40B4-BE49-F238E27FC236}">
                <a16:creationId xmlns:a16="http://schemas.microsoft.com/office/drawing/2014/main" id="{015C4B15-4636-0DDA-E36C-311814FEE3F5}"/>
              </a:ext>
            </a:extLst>
          </p:cNvPr>
          <p:cNvSpPr/>
          <p:nvPr/>
        </p:nvSpPr>
        <p:spPr>
          <a:xfrm>
            <a:off x="7391400" y="6393700"/>
            <a:ext cx="3289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latin typeface="+mj-lt"/>
              </a:rPr>
              <a:t>H</a:t>
            </a:r>
          </a:p>
        </p:txBody>
      </p:sp>
      <p:sp>
        <p:nvSpPr>
          <p:cNvPr id="4128" name="Rectangle 4127">
            <a:extLst>
              <a:ext uri="{FF2B5EF4-FFF2-40B4-BE49-F238E27FC236}">
                <a16:creationId xmlns:a16="http://schemas.microsoft.com/office/drawing/2014/main" id="{9897CADB-FD86-17A9-F45D-CF7FFF44040C}"/>
              </a:ext>
            </a:extLst>
          </p:cNvPr>
          <p:cNvSpPr/>
          <p:nvPr/>
        </p:nvSpPr>
        <p:spPr>
          <a:xfrm>
            <a:off x="530472" y="4764495"/>
            <a:ext cx="841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K-</a:t>
            </a:r>
            <a:r>
              <a:rPr lang="en-US" dirty="0" err="1">
                <a:latin typeface="+mj-lt"/>
              </a:rPr>
              <a:t>mers</a:t>
            </a:r>
            <a:endParaRPr lang="en-US" dirty="0">
              <a:latin typeface="+mj-lt"/>
            </a:endParaRPr>
          </a:p>
        </p:txBody>
      </p:sp>
      <p:pic>
        <p:nvPicPr>
          <p:cNvPr id="4129" name="Picture 4128">
            <a:extLst>
              <a:ext uri="{FF2B5EF4-FFF2-40B4-BE49-F238E27FC236}">
                <a16:creationId xmlns:a16="http://schemas.microsoft.com/office/drawing/2014/main" id="{5D42F69A-95F2-43EB-8818-750BD8AFD157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4091" b="1254"/>
          <a:stretch/>
        </p:blipFill>
        <p:spPr>
          <a:xfrm>
            <a:off x="2019387" y="4971655"/>
            <a:ext cx="169906" cy="309634"/>
          </a:xfrm>
          <a:prstGeom prst="rect">
            <a:avLst/>
          </a:prstGeom>
        </p:spPr>
      </p:pic>
      <p:sp>
        <p:nvSpPr>
          <p:cNvPr id="4130" name="Left Brace 4129">
            <a:extLst>
              <a:ext uri="{FF2B5EF4-FFF2-40B4-BE49-F238E27FC236}">
                <a16:creationId xmlns:a16="http://schemas.microsoft.com/office/drawing/2014/main" id="{CDFCDAFA-D1DB-293A-6104-FE1AFA8D7675}"/>
              </a:ext>
            </a:extLst>
          </p:cNvPr>
          <p:cNvSpPr/>
          <p:nvPr/>
        </p:nvSpPr>
        <p:spPr>
          <a:xfrm rot="16200000">
            <a:off x="3298039" y="6175048"/>
            <a:ext cx="172350" cy="709871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4131" name="Rectangle 4130">
            <a:extLst>
              <a:ext uri="{FF2B5EF4-FFF2-40B4-BE49-F238E27FC236}">
                <a16:creationId xmlns:a16="http://schemas.microsoft.com/office/drawing/2014/main" id="{B07A1E2E-99BB-90E8-9447-C9B0BE698496}"/>
              </a:ext>
            </a:extLst>
          </p:cNvPr>
          <p:cNvSpPr/>
          <p:nvPr/>
        </p:nvSpPr>
        <p:spPr>
          <a:xfrm>
            <a:off x="2971800" y="6569628"/>
            <a:ext cx="7791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sketch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057BF58-1E11-B87C-CB5D-18FA7644B26E}"/>
              </a:ext>
            </a:extLst>
          </p:cNvPr>
          <p:cNvCxnSpPr>
            <a:cxnSpLocks/>
          </p:cNvCxnSpPr>
          <p:nvPr/>
        </p:nvCxnSpPr>
        <p:spPr>
          <a:xfrm flipV="1">
            <a:off x="3886200" y="5769782"/>
            <a:ext cx="0" cy="816747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EF9BA1DB-5597-03B7-50BA-ECA495227279}"/>
              </a:ext>
            </a:extLst>
          </p:cNvPr>
          <p:cNvSpPr/>
          <p:nvPr/>
        </p:nvSpPr>
        <p:spPr>
          <a:xfrm>
            <a:off x="0" y="6519446"/>
            <a:ext cx="568565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+mj-lt"/>
              </a:rPr>
              <a:t>1. </a:t>
            </a:r>
            <a:r>
              <a:rPr lang="en-US" sz="1600" dirty="0">
                <a:latin typeface="+mj-lt"/>
                <a:hlinkClick r:id="rId7"/>
              </a:rPr>
              <a:t>https://twitter.com/ctitusbrown/status/1465360407518928909</a:t>
            </a:r>
            <a:r>
              <a:rPr lang="en-US" sz="1600" dirty="0">
                <a:latin typeface="+mj-lt"/>
              </a:rPr>
              <a:t> 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3B517F35-874A-BF58-640B-8049CD418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D839-6155-4130-9A65-D0D84F81E563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2" name="AutoShape 2" descr=" 4098">
            <a:extLst>
              <a:ext uri="{FF2B5EF4-FFF2-40B4-BE49-F238E27FC236}">
                <a16:creationId xmlns:a16="http://schemas.microsoft.com/office/drawing/2014/main" id="{97E4B5DB-4EAA-BFFA-BE05-92B7BC901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672860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 err="1">
                <a:solidFill>
                  <a:srgbClr val="000000"/>
                </a:solidFill>
                <a:latin typeface="+mj-lt"/>
              </a:rPr>
              <a:t>FracMinHash</a:t>
            </a:r>
            <a:endParaRPr lang="en-US" sz="4000" dirty="0">
              <a:solidFill>
                <a:srgbClr val="0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75517699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4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4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42" presetClass="path" presetSubtype="0" accel="50000" decel="5000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4.07407E-6 L 0.19931 0.00138 " pathEditMode="relative" rAng="0" ptsTypes="AA">
                                      <p:cBhvr>
                                        <p:cTn id="134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965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2" grpId="0"/>
      <p:bldP spid="6" grpId="0"/>
      <p:bldP spid="14" grpId="0"/>
      <p:bldP spid="4" grpId="0" animBg="1"/>
      <p:bldP spid="58" grpId="0"/>
      <p:bldP spid="58" grpId="1"/>
      <p:bldP spid="4124" grpId="0"/>
      <p:bldP spid="4128" grpId="0"/>
      <p:bldP spid="4130" grpId="0" animBg="1"/>
      <p:bldP spid="4131" grpId="0"/>
      <p:bldP spid="17" grpId="0"/>
      <p:bldP spid="17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2" descr=" 4098"/>
          <p:cNvSpPr>
            <a:spLocks noChangeArrowheads="1"/>
          </p:cNvSpPr>
          <p:nvPr/>
        </p:nvSpPr>
        <p:spPr bwMode="auto">
          <a:xfrm>
            <a:off x="609600" y="1"/>
            <a:ext cx="7848600" cy="672860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 err="1">
                <a:solidFill>
                  <a:srgbClr val="000000"/>
                </a:solidFill>
                <a:latin typeface="+mj-lt"/>
              </a:rPr>
              <a:t>FracMinHash</a:t>
            </a:r>
            <a:endParaRPr lang="en-US" sz="40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33" name="AutoShape 3" descr=" 4099">
            <a:extLst>
              <a:ext uri="{FF2B5EF4-FFF2-40B4-BE49-F238E27FC236}">
                <a16:creationId xmlns:a16="http://schemas.microsoft.com/office/drawing/2014/main" id="{8016D77B-058F-E662-3FEC-B5CE02C82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804627"/>
            <a:ext cx="1576202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Generality</a:t>
            </a:r>
          </a:p>
        </p:txBody>
      </p:sp>
      <p:sp>
        <p:nvSpPr>
          <p:cNvPr id="4130" name="Rectangle 4129">
            <a:extLst>
              <a:ext uri="{FF2B5EF4-FFF2-40B4-BE49-F238E27FC236}">
                <a16:creationId xmlns:a16="http://schemas.microsoft.com/office/drawing/2014/main" id="{6BC159A4-0504-17CA-81CF-7A45032FDE5F}"/>
              </a:ext>
            </a:extLst>
          </p:cNvPr>
          <p:cNvSpPr/>
          <p:nvPr/>
        </p:nvSpPr>
        <p:spPr>
          <a:xfrm>
            <a:off x="1600200" y="857705"/>
            <a:ext cx="53654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Can use </a:t>
            </a:r>
            <a:r>
              <a:rPr lang="en-US" dirty="0" err="1">
                <a:latin typeface="+mj-lt"/>
              </a:rPr>
              <a:t>FracMinHash</a:t>
            </a:r>
            <a:r>
              <a:rPr lang="en-US" dirty="0">
                <a:latin typeface="+mj-lt"/>
              </a:rPr>
              <a:t> sketches to measure many things</a:t>
            </a:r>
            <a:endParaRPr lang="en-US" baseline="30000" dirty="0"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CBDE64-D4AD-32E7-A8B0-49AF7E592DD4}"/>
              </a:ext>
            </a:extLst>
          </p:cNvPr>
          <p:cNvSpPr/>
          <p:nvPr/>
        </p:nvSpPr>
        <p:spPr>
          <a:xfrm>
            <a:off x="-28903" y="1422955"/>
            <a:ext cx="16547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ANI estimation</a:t>
            </a:r>
            <a:r>
              <a:rPr lang="en-US" baseline="30000" dirty="0">
                <a:latin typeface="+mj-lt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8BE233-EB47-97B8-A00A-BF1242AE9BBC}"/>
              </a:ext>
            </a:extLst>
          </p:cNvPr>
          <p:cNvSpPr/>
          <p:nvPr/>
        </p:nvSpPr>
        <p:spPr>
          <a:xfrm>
            <a:off x="-28903" y="3051339"/>
            <a:ext cx="18134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+mj-lt"/>
              </a:rPr>
              <a:t>dNdS</a:t>
            </a:r>
            <a:r>
              <a:rPr lang="en-US" dirty="0">
                <a:latin typeface="+mj-lt"/>
              </a:rPr>
              <a:t> estimation</a:t>
            </a:r>
            <a:r>
              <a:rPr lang="en-US" baseline="30000" dirty="0">
                <a:latin typeface="+mj-lt"/>
              </a:rPr>
              <a:t>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E59BE0-7F3B-91F4-C0E2-C551CDA9D23D}"/>
              </a:ext>
            </a:extLst>
          </p:cNvPr>
          <p:cNvSpPr/>
          <p:nvPr/>
        </p:nvSpPr>
        <p:spPr>
          <a:xfrm>
            <a:off x="-28903" y="1830051"/>
            <a:ext cx="43273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Cosine similarity &amp; other metric estimation</a:t>
            </a:r>
            <a:r>
              <a:rPr lang="en-US" baseline="30000" dirty="0">
                <a:latin typeface="+mj-lt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EB3B9D-5A17-9ECD-8598-57F69AF46FD2}"/>
              </a:ext>
            </a:extLst>
          </p:cNvPr>
          <p:cNvSpPr/>
          <p:nvPr/>
        </p:nvSpPr>
        <p:spPr>
          <a:xfrm>
            <a:off x="-28903" y="2644243"/>
            <a:ext cx="33954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Metagenomic functional profiling</a:t>
            </a:r>
            <a:r>
              <a:rPr lang="en-US" baseline="30000" dirty="0">
                <a:latin typeface="+mj-lt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A66546-FF60-A895-110A-CAB470AE3A90}"/>
              </a:ext>
            </a:extLst>
          </p:cNvPr>
          <p:cNvSpPr txBox="1"/>
          <p:nvPr/>
        </p:nvSpPr>
        <p:spPr>
          <a:xfrm>
            <a:off x="-31531" y="3896380"/>
            <a:ext cx="9141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1. Hera, M. R., Pierce-Ward, N. T., &amp; </a:t>
            </a:r>
            <a:r>
              <a:rPr lang="en-US" sz="14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Koslicki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D. (2023). Deriving confidence intervals for mutation rates across a wide range of evolutionary distances using </a:t>
            </a:r>
            <a:r>
              <a:rPr lang="en-US" sz="14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FracMinHash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 </a:t>
            </a:r>
            <a:r>
              <a:rPr lang="en-US" sz="1400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Genome research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 </a:t>
            </a:r>
            <a:r>
              <a:rPr lang="en-US" sz="1400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33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(7), 1061-1068.</a:t>
            </a:r>
            <a:endParaRPr lang="en-US" sz="1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E281607-2765-F275-1D65-25871167D824}"/>
              </a:ext>
            </a:extLst>
          </p:cNvPr>
          <p:cNvSpPr txBox="1"/>
          <p:nvPr/>
        </p:nvSpPr>
        <p:spPr>
          <a:xfrm>
            <a:off x="-31531" y="6119336"/>
            <a:ext cx="914137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5. </a:t>
            </a:r>
            <a:r>
              <a:rPr lang="en-US" sz="14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Irber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L., Pierce-Ward, N. T., </a:t>
            </a:r>
            <a:r>
              <a:rPr lang="en-US" sz="14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Abuelanin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M., Alexander, H., Anant, A., </a:t>
            </a:r>
            <a:r>
              <a:rPr lang="en-US" sz="14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Barve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K., ... &amp; Brown, C. T. (2024). </a:t>
            </a:r>
            <a:r>
              <a:rPr lang="en-US" sz="14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sourmash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v4: A multitool to quickly search, compare, and analyze genomic and metagenomic data sets. </a:t>
            </a:r>
            <a:r>
              <a:rPr lang="en-US" sz="1400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Journal of Open Source Software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 </a:t>
            </a:r>
            <a:r>
              <a:rPr lang="en-US" sz="1400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9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(98), 6830.</a:t>
            </a:r>
            <a:endParaRPr lang="en-US" sz="14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D34646-0E3D-CA77-5B3A-526EF2E13581}"/>
              </a:ext>
            </a:extLst>
          </p:cNvPr>
          <p:cNvSpPr txBox="1"/>
          <p:nvPr/>
        </p:nvSpPr>
        <p:spPr>
          <a:xfrm>
            <a:off x="-31531" y="5007858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3. Hera, M. R., Liu, S., Wei, W., Rodriguez, J. S., Ma, C., &amp; </a:t>
            </a:r>
            <a:r>
              <a:rPr lang="en-US" sz="14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Koslicki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D. (2023). </a:t>
            </a:r>
            <a:r>
              <a:rPr lang="en-US" sz="1400" b="0" i="0" dirty="0">
                <a:effectLst/>
                <a:highlight>
                  <a:srgbClr val="FFFFFF"/>
                </a:highlight>
                <a:latin typeface="Inter"/>
              </a:rPr>
              <a:t>Metagenomic functional profiling: to sketch or not to sketch?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</a:t>
            </a:r>
            <a:r>
              <a:rPr lang="en-US" sz="1400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ECCB 2024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In Press.</a:t>
            </a:r>
            <a:endParaRPr lang="en-US" sz="14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7E879EC-5F6A-54B8-DE7A-F559422F25DC}"/>
              </a:ext>
            </a:extLst>
          </p:cNvPr>
          <p:cNvSpPr txBox="1"/>
          <p:nvPr/>
        </p:nvSpPr>
        <p:spPr>
          <a:xfrm>
            <a:off x="-31531" y="4452119"/>
            <a:ext cx="9141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2. Hera, M. R., &amp; </a:t>
            </a:r>
            <a:r>
              <a:rPr lang="en-US" sz="14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Koslicki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D. (2024). Cosine Similarity Estimation Using </a:t>
            </a:r>
            <a:r>
              <a:rPr lang="en-US" sz="14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FracMinHash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: Theoretical Analysis, Safety Conditions, and Implementation. </a:t>
            </a:r>
            <a:r>
              <a:rPr lang="en-US" sz="1400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WABI 2024, </a:t>
            </a:r>
            <a:r>
              <a:rPr lang="en-US" sz="1400" b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In Press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</a:t>
            </a:r>
            <a:endParaRPr 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4FAA4B5-67C9-1EB2-396A-494F514EE86E}"/>
              </a:ext>
            </a:extLst>
          </p:cNvPr>
          <p:cNvSpPr txBox="1"/>
          <p:nvPr/>
        </p:nvSpPr>
        <p:spPr>
          <a:xfrm>
            <a:off x="-31531" y="5563597"/>
            <a:ext cx="9141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4. Rodriguez, J.S., Hera, M. R., &amp; </a:t>
            </a:r>
            <a:r>
              <a:rPr lang="en-US" sz="14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Koslicki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D. (2024). Estimating nonsynonymous to synonymous mutation rates with </a:t>
            </a:r>
            <a:r>
              <a:rPr lang="en-US" sz="14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FracMinHash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 </a:t>
            </a:r>
            <a:r>
              <a:rPr lang="en-US" sz="1400" i="1" dirty="0">
                <a:solidFill>
                  <a:srgbClr val="222222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In progress</a:t>
            </a:r>
            <a:endParaRPr lang="en-US" sz="1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ED770F-D348-0393-3610-8C57FA8A92A8}"/>
              </a:ext>
            </a:extLst>
          </p:cNvPr>
          <p:cNvSpPr/>
          <p:nvPr/>
        </p:nvSpPr>
        <p:spPr>
          <a:xfrm>
            <a:off x="-28903" y="2237147"/>
            <a:ext cx="33441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Metagenomic taxonomic profiling</a:t>
            </a:r>
            <a:endParaRPr lang="en-US" baseline="30000" dirty="0">
              <a:latin typeface="+mj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64C971-3225-6A9A-DB20-2BF3F6778856}"/>
              </a:ext>
            </a:extLst>
          </p:cNvPr>
          <p:cNvSpPr/>
          <p:nvPr/>
        </p:nvSpPr>
        <p:spPr>
          <a:xfrm>
            <a:off x="-28903" y="3458435"/>
            <a:ext cx="58434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User-friendly tooling</a:t>
            </a:r>
            <a:r>
              <a:rPr lang="en-US" baseline="30000" dirty="0">
                <a:latin typeface="+mj-lt"/>
              </a:rPr>
              <a:t>5</a:t>
            </a:r>
            <a:r>
              <a:rPr lang="en-US" dirty="0">
                <a:latin typeface="+mj-lt"/>
              </a:rPr>
              <a:t>: </a:t>
            </a:r>
            <a:r>
              <a:rPr lang="en-US" dirty="0" err="1">
                <a:latin typeface="+mj-lt"/>
              </a:rPr>
              <a:t>Sourmash</a:t>
            </a:r>
            <a:endParaRPr lang="en-US" baseline="30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40557851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0"/>
      <p:bldP spid="19" grpId="0"/>
      <p:bldP spid="35" grpId="0"/>
      <p:bldP spid="40" grpId="0"/>
      <p:bldP spid="44" grpId="0"/>
      <p:bldP spid="45" grpId="0"/>
      <p:bldP spid="2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6616" y="1553763"/>
            <a:ext cx="4389120" cy="274320"/>
          </a:xfrm>
          <a:prstGeom prst="rect">
            <a:avLst/>
          </a:prstGeom>
          <a:noFill/>
          <a:ln/>
        </p:spPr>
        <p:txBody>
          <a:bodyPr wrap="square" lIns="572" tIns="572" rIns="572" bIns="572" rtlCol="0" anchor="ctr">
            <a:normAutofit fontScale="92500" lnSpcReduction="10000"/>
          </a:bodyPr>
          <a:lstStyle/>
          <a:p>
            <a:r>
              <a:rPr lang="en-US" sz="2025" b="1" dirty="0" err="1">
                <a:solidFill>
                  <a:srgbClr val="1834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sourmash</a:t>
            </a:r>
            <a:r>
              <a:rPr lang="en-US" sz="2025" b="1" dirty="0">
                <a:solidFill>
                  <a:srgbClr val="1834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capabilities</a:t>
            </a:r>
            <a:endParaRPr lang="en-US" sz="2025" dirty="0"/>
          </a:p>
        </p:txBody>
      </p:sp>
      <p:sp>
        <p:nvSpPr>
          <p:cNvPr id="3" name="Text 1"/>
          <p:cNvSpPr/>
          <p:nvPr/>
        </p:nvSpPr>
        <p:spPr>
          <a:xfrm>
            <a:off x="370332" y="1896663"/>
            <a:ext cx="5623560" cy="192024"/>
          </a:xfrm>
          <a:prstGeom prst="rect">
            <a:avLst/>
          </a:prstGeom>
          <a:noFill/>
          <a:ln/>
        </p:spPr>
        <p:txBody>
          <a:bodyPr wrap="square" lIns="572" tIns="572" rIns="572" bIns="572" rtlCol="0" anchor="ctr">
            <a:normAutofit/>
          </a:bodyPr>
          <a:lstStyle/>
          <a:p>
            <a:r>
              <a:rPr lang="en-US" sz="960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 families arranged by the biological or computational question they answer.</a:t>
            </a:r>
            <a:endParaRPr lang="en-US" sz="960" dirty="0"/>
          </a:p>
        </p:txBody>
      </p:sp>
      <p:sp>
        <p:nvSpPr>
          <p:cNvPr id="4" name="Text 2"/>
          <p:cNvSpPr/>
          <p:nvPr/>
        </p:nvSpPr>
        <p:spPr>
          <a:xfrm>
            <a:off x="440007" y="2253279"/>
            <a:ext cx="1680210" cy="843534"/>
          </a:xfrm>
          <a:prstGeom prst="rect">
            <a:avLst/>
          </a:prstGeom>
          <a:solidFill>
            <a:srgbClr val="EAF3FF"/>
          </a:solidFill>
          <a:ln w="12700">
            <a:solidFill>
              <a:srgbClr val="2F80ED"/>
            </a:solidFill>
          </a:ln>
        </p:spPr>
        <p:txBody>
          <a:bodyPr wrap="square" lIns="1048" tIns="1048" rIns="1048" bIns="1048" rtlCol="0" anchor="ctr">
            <a:normAutofit/>
          </a:bodyPr>
          <a:lstStyle/>
          <a:p>
            <a:r>
              <a:rPr lang="en-US" sz="1088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representations
</a:t>
            </a:r>
            <a:r>
              <a:rPr lang="en-US" sz="810" dirty="0">
                <a:solidFill>
                  <a:srgbClr val="1834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sketch dna/protein/translate
sketch fromfile
compute (legacy)
</a:t>
            </a:r>
            <a:endParaRPr lang="en-US" sz="1088" dirty="0"/>
          </a:p>
          <a:p>
            <a:r>
              <a:rPr lang="en-US" sz="765" i="1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FASTA/FASTQ → signatures</a:t>
            </a:r>
            <a:endParaRPr lang="en-US" sz="1088" dirty="0"/>
          </a:p>
        </p:txBody>
      </p:sp>
      <p:sp>
        <p:nvSpPr>
          <p:cNvPr id="5" name="Text 3"/>
          <p:cNvSpPr/>
          <p:nvPr/>
        </p:nvSpPr>
        <p:spPr>
          <a:xfrm>
            <a:off x="2620851" y="2253279"/>
            <a:ext cx="1680210" cy="843534"/>
          </a:xfrm>
          <a:prstGeom prst="rect">
            <a:avLst/>
          </a:prstGeom>
          <a:solidFill>
            <a:srgbClr val="F1ECFA"/>
          </a:solidFill>
          <a:ln w="12700">
            <a:solidFill>
              <a:srgbClr val="6C4AB6"/>
            </a:solidFill>
          </a:ln>
        </p:spPr>
        <p:txBody>
          <a:bodyPr wrap="square" lIns="1048" tIns="1048" rIns="1048" bIns="1048" rtlCol="0" anchor="ctr">
            <a:normAutofit/>
          </a:bodyPr>
          <a:lstStyle/>
          <a:p>
            <a:r>
              <a:rPr lang="en-US" sz="1088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relatedness
</a:t>
            </a:r>
            <a:r>
              <a:rPr lang="en-US" sz="810" dirty="0">
                <a:solidFill>
                  <a:srgbClr val="1834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• plot
--containment • --ani
CSV / NumPy / PNG
</a:t>
            </a:r>
            <a:endParaRPr lang="en-US" sz="1088" dirty="0"/>
          </a:p>
          <a:p>
            <a:r>
              <a:rPr lang="en-US" sz="765" i="1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similarity matrices, ANI, clusters</a:t>
            </a:r>
            <a:endParaRPr lang="en-US" sz="1088" dirty="0"/>
          </a:p>
        </p:txBody>
      </p:sp>
      <p:sp>
        <p:nvSpPr>
          <p:cNvPr id="6" name="Text 4"/>
          <p:cNvSpPr/>
          <p:nvPr/>
        </p:nvSpPr>
        <p:spPr>
          <a:xfrm>
            <a:off x="4801695" y="2253279"/>
            <a:ext cx="1680210" cy="843534"/>
          </a:xfrm>
          <a:prstGeom prst="rect">
            <a:avLst/>
          </a:prstGeom>
          <a:solidFill>
            <a:srgbClr val="E6F7F4"/>
          </a:solidFill>
          <a:ln w="12700">
            <a:solidFill>
              <a:srgbClr val="0F9D91"/>
            </a:solidFill>
          </a:ln>
        </p:spPr>
        <p:txBody>
          <a:bodyPr wrap="square" lIns="1048" tIns="1048" rIns="1048" bIns="1048" rtlCol="0" anchor="ctr">
            <a:normAutofit/>
          </a:bodyPr>
          <a:lstStyle/>
          <a:p>
            <a:r>
              <a:rPr lang="en-US" sz="1088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relatives
</a:t>
            </a:r>
            <a:r>
              <a:rPr lang="en-US" sz="810" dirty="0">
                <a:solidFill>
                  <a:srgbClr val="1834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
prefetch
indexes / RocksDB / SBT
</a:t>
            </a:r>
            <a:endParaRPr lang="en-US" sz="1088" dirty="0"/>
          </a:p>
          <a:p>
            <a:r>
              <a:rPr lang="en-US" sz="765" i="1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matches and candidate subsets</a:t>
            </a:r>
            <a:endParaRPr lang="en-US" sz="1088" dirty="0"/>
          </a:p>
        </p:txBody>
      </p:sp>
      <p:sp>
        <p:nvSpPr>
          <p:cNvPr id="7" name="Text 5"/>
          <p:cNvSpPr/>
          <p:nvPr/>
        </p:nvSpPr>
        <p:spPr>
          <a:xfrm>
            <a:off x="6982539" y="2253279"/>
            <a:ext cx="1680210" cy="843534"/>
          </a:xfrm>
          <a:prstGeom prst="rect">
            <a:avLst/>
          </a:prstGeom>
          <a:solidFill>
            <a:srgbClr val="FFF3E2"/>
          </a:solidFill>
          <a:ln w="12700">
            <a:solidFill>
              <a:srgbClr val="D97706"/>
            </a:solidFill>
          </a:ln>
        </p:spPr>
        <p:txBody>
          <a:bodyPr wrap="square" lIns="1048" tIns="1048" rIns="1048" bIns="1048" rtlCol="0" anchor="ctr">
            <a:normAutofit/>
          </a:bodyPr>
          <a:lstStyle/>
          <a:p>
            <a:r>
              <a:rPr lang="en-US" sz="1088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metagenomes
</a:t>
            </a:r>
            <a:r>
              <a:rPr lang="en-US" sz="810" dirty="0">
                <a:solidFill>
                  <a:srgbClr val="1834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gather
multigather
minimum metagenome cover
</a:t>
            </a:r>
            <a:endParaRPr lang="en-US" sz="1088" dirty="0"/>
          </a:p>
          <a:p>
            <a:r>
              <a:rPr lang="en-US" sz="765" i="1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genomes explain the sample?</a:t>
            </a:r>
            <a:endParaRPr lang="en-US" sz="1088" dirty="0"/>
          </a:p>
        </p:txBody>
      </p:sp>
      <p:sp>
        <p:nvSpPr>
          <p:cNvPr id="8" name="Text 6"/>
          <p:cNvSpPr/>
          <p:nvPr/>
        </p:nvSpPr>
        <p:spPr>
          <a:xfrm>
            <a:off x="440007" y="3446571"/>
            <a:ext cx="1680210" cy="843534"/>
          </a:xfrm>
          <a:prstGeom prst="rect">
            <a:avLst/>
          </a:prstGeom>
          <a:solidFill>
            <a:srgbClr val="EDF7ED"/>
          </a:solidFill>
          <a:ln w="12700">
            <a:solidFill>
              <a:srgbClr val="2E7D32"/>
            </a:solidFill>
          </a:ln>
        </p:spPr>
        <p:txBody>
          <a:bodyPr wrap="square" lIns="1048" tIns="1048" rIns="1048" bIns="1048" rtlCol="0" anchor="ctr">
            <a:normAutofit/>
          </a:bodyPr>
          <a:lstStyle/>
          <a:p>
            <a:r>
              <a:rPr lang="en-US" sz="1088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Attach taxonomy
</a:t>
            </a:r>
            <a:r>
              <a:rPr lang="en-US" sz="810" dirty="0">
                <a:solidFill>
                  <a:srgbClr val="1834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tax metagenome/genome
tax annotate/prepare/grep
tax summarize
</a:t>
            </a:r>
            <a:endParaRPr lang="en-US" sz="1088" dirty="0"/>
          </a:p>
          <a:p>
            <a:r>
              <a:rPr lang="en-US" sz="765" i="1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NCBI/GTDB lineage summaries</a:t>
            </a:r>
            <a:endParaRPr lang="en-US" sz="1088" dirty="0"/>
          </a:p>
        </p:txBody>
      </p:sp>
      <p:sp>
        <p:nvSpPr>
          <p:cNvPr id="9" name="Text 7"/>
          <p:cNvSpPr/>
          <p:nvPr/>
        </p:nvSpPr>
        <p:spPr>
          <a:xfrm>
            <a:off x="2620851" y="3446571"/>
            <a:ext cx="1680210" cy="843534"/>
          </a:xfrm>
          <a:prstGeom prst="rect">
            <a:avLst/>
          </a:prstGeom>
          <a:solidFill>
            <a:srgbClr val="EEF5FF"/>
          </a:solidFill>
          <a:ln w="12700">
            <a:solidFill>
              <a:srgbClr val="4D7EBB"/>
            </a:solidFill>
          </a:ln>
        </p:spPr>
        <p:txBody>
          <a:bodyPr wrap="square" lIns="1048" tIns="1048" rIns="1048" bIns="1048" rtlCol="0" anchor="ctr">
            <a:normAutofit/>
          </a:bodyPr>
          <a:lstStyle/>
          <a:p>
            <a:r>
              <a:rPr lang="en-US" sz="1088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Curate collections
</a:t>
            </a:r>
            <a:r>
              <a:rPr lang="en-US" sz="810" dirty="0">
                <a:solidFill>
                  <a:srgbClr val="1834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
manifests • picklists
prepared + private DBs
</a:t>
            </a:r>
            <a:endParaRPr lang="en-US" sz="1088" dirty="0"/>
          </a:p>
          <a:p>
            <a:r>
              <a:rPr lang="en-US" sz="765" i="1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searchable signature libraries</a:t>
            </a:r>
            <a:endParaRPr lang="en-US" sz="1088" dirty="0"/>
          </a:p>
        </p:txBody>
      </p:sp>
      <p:sp>
        <p:nvSpPr>
          <p:cNvPr id="10" name="Text 8"/>
          <p:cNvSpPr/>
          <p:nvPr/>
        </p:nvSpPr>
        <p:spPr>
          <a:xfrm>
            <a:off x="4801695" y="3446571"/>
            <a:ext cx="1680210" cy="843534"/>
          </a:xfrm>
          <a:prstGeom prst="rect">
            <a:avLst/>
          </a:prstGeom>
          <a:solidFill>
            <a:srgbClr val="FFF8DD"/>
          </a:solidFill>
          <a:ln w="12700">
            <a:solidFill>
              <a:srgbClr val="B8870B"/>
            </a:solidFill>
          </a:ln>
        </p:spPr>
        <p:txBody>
          <a:bodyPr wrap="square" lIns="1048" tIns="1048" rIns="1048" bIns="1048" rtlCol="0" anchor="ctr">
            <a:normAutofit/>
          </a:bodyPr>
          <a:lstStyle/>
          <a:p>
            <a:r>
              <a:rPr lang="en-US" sz="1088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Manipulate signatures
</a:t>
            </a:r>
            <a:r>
              <a:rPr lang="en-US" sz="810" dirty="0">
                <a:solidFill>
                  <a:srgbClr val="1834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 • split • merge
subtract • intersect
filter • downsample • kmers
</a:t>
            </a:r>
            <a:endParaRPr lang="en-US" sz="1088" dirty="0"/>
          </a:p>
          <a:p>
            <a:r>
              <a:rPr lang="en-US" sz="765" i="1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algebra and quality control</a:t>
            </a:r>
            <a:endParaRPr lang="en-US" sz="1088" dirty="0"/>
          </a:p>
        </p:txBody>
      </p:sp>
      <p:sp>
        <p:nvSpPr>
          <p:cNvPr id="11" name="Text 9"/>
          <p:cNvSpPr/>
          <p:nvPr/>
        </p:nvSpPr>
        <p:spPr>
          <a:xfrm>
            <a:off x="6982539" y="3446571"/>
            <a:ext cx="1680210" cy="843534"/>
          </a:xfrm>
          <a:prstGeom prst="rect">
            <a:avLst/>
          </a:prstGeom>
          <a:solidFill>
            <a:srgbClr val="F3F4F6"/>
          </a:solidFill>
          <a:ln w="12700">
            <a:solidFill>
              <a:srgbClr val="59677A"/>
            </a:solidFill>
          </a:ln>
        </p:spPr>
        <p:txBody>
          <a:bodyPr wrap="square" lIns="1048" tIns="1048" rIns="1048" bIns="1048" rtlCol="0" anchor="ctr">
            <a:normAutofit lnSpcReduction="10000"/>
          </a:bodyPr>
          <a:lstStyle/>
          <a:p>
            <a:r>
              <a:rPr lang="en-US" sz="1088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Extend and scale
</a:t>
            </a:r>
            <a:r>
              <a:rPr lang="en-US" sz="810" dirty="0">
                <a:solidFill>
                  <a:srgbClr val="1834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branchwater
betterplot
directsketch
Python/Rust APIs
</a:t>
            </a:r>
            <a:r>
              <a:rPr lang="en-US" sz="765" i="1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execution, plots, streaming, scripting</a:t>
            </a:r>
            <a:endParaRPr lang="en-US" sz="1088" dirty="0"/>
          </a:p>
        </p:txBody>
      </p:sp>
      <p:sp>
        <p:nvSpPr>
          <p:cNvPr id="12" name="Text 10"/>
          <p:cNvSpPr/>
          <p:nvPr/>
        </p:nvSpPr>
        <p:spPr>
          <a:xfrm>
            <a:off x="440007" y="4639863"/>
            <a:ext cx="1680210" cy="843534"/>
          </a:xfrm>
          <a:prstGeom prst="rect">
            <a:avLst/>
          </a:prstGeom>
          <a:solidFill>
            <a:srgbClr val="FCEEF2"/>
          </a:solidFill>
          <a:ln w="12700">
            <a:solidFill>
              <a:srgbClr val="B91C1C"/>
            </a:solidFill>
          </a:ln>
        </p:spPr>
        <p:txBody>
          <a:bodyPr wrap="square" lIns="1048" tIns="1048" rIns="1048" bIns="1048" rtlCol="0" anchor="ctr">
            <a:normAutofit/>
          </a:bodyPr>
          <a:lstStyle/>
          <a:p>
            <a:r>
              <a:rPr lang="en-US" sz="1088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research tasks
</a:t>
            </a:r>
            <a:r>
              <a:rPr lang="en-US" sz="810" dirty="0">
                <a:solidFill>
                  <a:srgbClr val="1834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selection
strain/species clustering
public metagenome search
</a:t>
            </a:r>
            <a:r>
              <a:rPr lang="en-US" sz="765" i="1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raw sequencing into interpretable context</a:t>
            </a:r>
            <a:endParaRPr lang="en-US" sz="1088" dirty="0"/>
          </a:p>
        </p:txBody>
      </p:sp>
      <p:sp>
        <p:nvSpPr>
          <p:cNvPr id="13" name="Text 11"/>
          <p:cNvSpPr/>
          <p:nvPr/>
        </p:nvSpPr>
        <p:spPr>
          <a:xfrm>
            <a:off x="2620851" y="4639863"/>
            <a:ext cx="1680210" cy="843534"/>
          </a:xfrm>
          <a:prstGeom prst="rect">
            <a:avLst/>
          </a:prstGeom>
          <a:solidFill>
            <a:srgbClr val="EEF8F7"/>
          </a:solidFill>
          <a:ln w="12700">
            <a:solidFill>
              <a:srgbClr val="0F9D91"/>
            </a:solidFill>
          </a:ln>
        </p:spPr>
        <p:txBody>
          <a:bodyPr wrap="square" lIns="1048" tIns="1048" rIns="1048" bIns="1048" rtlCol="0" anchor="ctr">
            <a:normAutofit/>
          </a:bodyPr>
          <a:lstStyle/>
          <a:p>
            <a:r>
              <a:rPr lang="en-US" sz="1088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Interoperability
</a:t>
            </a:r>
            <a:r>
              <a:rPr lang="en-US" sz="810" dirty="0">
                <a:solidFill>
                  <a:srgbClr val="1834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 outputs
R workflows
MASH import/export
</a:t>
            </a:r>
            <a:endParaRPr lang="en-US" sz="1088" dirty="0"/>
          </a:p>
          <a:p>
            <a:r>
              <a:rPr lang="en-US" sz="765" i="1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results into downstream analyses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4801695" y="4639863"/>
            <a:ext cx="1680210" cy="843534"/>
          </a:xfrm>
          <a:prstGeom prst="rect">
            <a:avLst/>
          </a:prstGeom>
          <a:solidFill>
            <a:srgbClr val="FFF5ED"/>
          </a:solidFill>
          <a:ln w="12700">
            <a:solidFill>
              <a:srgbClr val="D97706"/>
            </a:solidFill>
          </a:ln>
        </p:spPr>
        <p:txBody>
          <a:bodyPr wrap="square" lIns="1048" tIns="1048" rIns="1048" bIns="1048" rtlCol="0" anchor="ctr">
            <a:normAutofit fontScale="92500"/>
          </a:bodyPr>
          <a:lstStyle/>
          <a:p>
            <a:r>
              <a:rPr lang="en-US" sz="1125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Abundance-aware analyses
</a:t>
            </a:r>
            <a:r>
              <a:rPr lang="en-US" sz="810" dirty="0">
                <a:solidFill>
                  <a:srgbClr val="1834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-p abund
abundance-weighted gather
angular similarity
</a:t>
            </a:r>
            <a:r>
              <a:rPr lang="en-US" sz="765" i="1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composition and coverage-sensitive summaries</a:t>
            </a:r>
            <a:endParaRPr lang="en-US" sz="1088" dirty="0"/>
          </a:p>
        </p:txBody>
      </p:sp>
      <p:sp>
        <p:nvSpPr>
          <p:cNvPr id="15" name="Text 13"/>
          <p:cNvSpPr/>
          <p:nvPr/>
        </p:nvSpPr>
        <p:spPr>
          <a:xfrm>
            <a:off x="6982539" y="4639863"/>
            <a:ext cx="1680210" cy="843534"/>
          </a:xfrm>
          <a:prstGeom prst="rect">
            <a:avLst/>
          </a:prstGeom>
          <a:solidFill>
            <a:srgbClr val="ECFDF5"/>
          </a:solidFill>
          <a:ln w="12700">
            <a:solidFill>
              <a:srgbClr val="2E7D32"/>
            </a:solidFill>
          </a:ln>
        </p:spPr>
        <p:txBody>
          <a:bodyPr wrap="square" lIns="1048" tIns="1048" rIns="1048" bIns="1048" rtlCol="0" anchor="ctr">
            <a:normAutofit/>
          </a:bodyPr>
          <a:lstStyle/>
          <a:p>
            <a:r>
              <a:rPr lang="en-US" sz="1088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 the hood
</a:t>
            </a:r>
            <a:r>
              <a:rPr lang="en-US" sz="810" dirty="0">
                <a:solidFill>
                  <a:srgbClr val="1834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FracMinHash
k-mer sketches
low-memory comparisons
</a:t>
            </a:r>
            <a:endParaRPr lang="en-US" sz="1088" dirty="0"/>
          </a:p>
          <a:p>
            <a:r>
              <a:rPr lang="en-US" sz="765" i="1" dirty="0">
                <a:solidFill>
                  <a:srgbClr val="425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approximate operations at scale</a:t>
            </a:r>
            <a:endParaRPr lang="en-US" sz="1088" dirty="0"/>
          </a:p>
        </p:txBody>
      </p:sp>
      <p:sp>
        <p:nvSpPr>
          <p:cNvPr id="16" name="Text 14"/>
          <p:cNvSpPr/>
          <p:nvPr/>
        </p:nvSpPr>
        <p:spPr>
          <a:xfrm>
            <a:off x="630936" y="5785149"/>
            <a:ext cx="7886700" cy="370332"/>
          </a:xfrm>
          <a:prstGeom prst="rect">
            <a:avLst/>
          </a:prstGeom>
          <a:solidFill>
            <a:srgbClr val="FFFFFF"/>
          </a:solidFill>
          <a:ln w="10160">
            <a:solidFill>
              <a:srgbClr val="D8E1EB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ctr"/>
            <a:r>
              <a:rPr lang="en-US" sz="945" b="1" dirty="0">
                <a:solidFill>
                  <a:srgbClr val="1834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“mental model”: sketch once → store/index signatures → search/compare/decompose → add taxonomy → export interpretable tables and figures.</a:t>
            </a:r>
            <a:endParaRPr lang="en-US" sz="945" dirty="0"/>
          </a:p>
        </p:txBody>
      </p:sp>
      <p:sp>
        <p:nvSpPr>
          <p:cNvPr id="17" name="Text 15"/>
          <p:cNvSpPr/>
          <p:nvPr/>
        </p:nvSpPr>
        <p:spPr>
          <a:xfrm>
            <a:off x="356616" y="6272067"/>
            <a:ext cx="8435340" cy="123444"/>
          </a:xfrm>
          <a:prstGeom prst="rect">
            <a:avLst/>
          </a:prstGeom>
          <a:noFill/>
          <a:ln/>
        </p:spPr>
        <p:txBody>
          <a:bodyPr wrap="square" lIns="572" tIns="572" rIns="572" bIns="572" rtlCol="0" anchor="ctr">
            <a:normAutofit/>
          </a:bodyPr>
          <a:lstStyle/>
          <a:p>
            <a:r>
              <a:rPr lang="en-US" sz="585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sourmash documentation, https://sourmash.readthedocs.io/en/latest/</a:t>
            </a:r>
            <a:endParaRPr lang="en-US" sz="585" dirty="0"/>
          </a:p>
        </p:txBody>
      </p:sp>
      <p:sp>
        <p:nvSpPr>
          <p:cNvPr id="19" name="AutoShape 3" descr=" 4099">
            <a:extLst>
              <a:ext uri="{FF2B5EF4-FFF2-40B4-BE49-F238E27FC236}">
                <a16:creationId xmlns:a16="http://schemas.microsoft.com/office/drawing/2014/main" id="{0271FD5F-860B-3C61-9E4A-DF058D6B3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14400"/>
            <a:ext cx="2285999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Tons ‘o features</a:t>
            </a:r>
          </a:p>
        </p:txBody>
      </p:sp>
      <p:sp>
        <p:nvSpPr>
          <p:cNvPr id="21" name="AutoShape 2" descr=" 4098">
            <a:extLst>
              <a:ext uri="{FF2B5EF4-FFF2-40B4-BE49-F238E27FC236}">
                <a16:creationId xmlns:a16="http://schemas.microsoft.com/office/drawing/2014/main" id="{DA852E4F-6D5D-55E7-8644-8BDCA3552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672860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 err="1">
                <a:solidFill>
                  <a:srgbClr val="000000"/>
                </a:solidFill>
                <a:latin typeface="+mj-lt"/>
              </a:rPr>
              <a:t>Sourmash</a:t>
            </a:r>
            <a:endParaRPr lang="en-US" sz="40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4E8291-417F-A0B8-4F7A-F44BF9B5D669}"/>
              </a:ext>
            </a:extLst>
          </p:cNvPr>
          <p:cNvSpPr txBox="1"/>
          <p:nvPr/>
        </p:nvSpPr>
        <p:spPr>
          <a:xfrm>
            <a:off x="-31531" y="6396335"/>
            <a:ext cx="9141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Irber, L., Pierce-Ward, N. T., </a:t>
            </a:r>
            <a:r>
              <a:rPr lang="en-US" sz="12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Abuelanin</a:t>
            </a:r>
            <a:r>
              <a:rPr lang="en-US" sz="12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M., Alexander, H., Anant, A., </a:t>
            </a:r>
            <a:r>
              <a:rPr lang="en-US" sz="12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Barve</a:t>
            </a:r>
            <a:r>
              <a:rPr lang="en-US" sz="12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K., ... &amp; Brown, C. T. (2024). </a:t>
            </a:r>
            <a:r>
              <a:rPr lang="en-US" sz="12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sourmash</a:t>
            </a:r>
            <a:r>
              <a:rPr lang="en-US" sz="12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v4: A multitool to quickly search, compare, and analyze genomic and metagenomic data sets. </a:t>
            </a:r>
            <a:r>
              <a:rPr lang="en-US" sz="1200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Journal of Open Source Software</a:t>
            </a:r>
            <a:r>
              <a:rPr lang="en-US" sz="12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 </a:t>
            </a:r>
            <a:r>
              <a:rPr lang="en-US" sz="1200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9</a:t>
            </a:r>
            <a:r>
              <a:rPr lang="en-US" sz="12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(98), 6830.</a:t>
            </a:r>
            <a:endParaRPr lang="en-US" sz="12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E2C60E-7045-3A52-6064-D5EEDCFE9A7D}"/>
              </a:ext>
            </a:extLst>
          </p:cNvPr>
          <p:cNvSpPr/>
          <p:nvPr/>
        </p:nvSpPr>
        <p:spPr>
          <a:xfrm>
            <a:off x="2285999" y="963154"/>
            <a:ext cx="60450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+mj-lt"/>
              </a:rPr>
              <a:t>Sourmash</a:t>
            </a:r>
            <a:r>
              <a:rPr lang="en-US" dirty="0">
                <a:latin typeface="+mj-lt"/>
              </a:rPr>
              <a:t> is a Swiss Army knife for WGS metagenomic analysis</a:t>
            </a:r>
            <a:endParaRPr lang="en-US" baseline="30000" dirty="0">
              <a:latin typeface="+mj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AutoShape 3" descr=" 4099"/>
          <p:cNvSpPr>
            <a:spLocks noChangeArrowheads="1"/>
          </p:cNvSpPr>
          <p:nvPr/>
        </p:nvSpPr>
        <p:spPr bwMode="auto">
          <a:xfrm>
            <a:off x="0" y="1981200"/>
            <a:ext cx="3971636" cy="68580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YACHT</a:t>
            </a:r>
          </a:p>
        </p:txBody>
      </p:sp>
      <p:sp>
        <p:nvSpPr>
          <p:cNvPr id="9" name="AutoShape 2" descr=" 4098"/>
          <p:cNvSpPr>
            <a:spLocks noChangeArrowheads="1"/>
          </p:cNvSpPr>
          <p:nvPr/>
        </p:nvSpPr>
        <p:spPr bwMode="auto">
          <a:xfrm>
            <a:off x="416505" y="0"/>
            <a:ext cx="8310990" cy="829527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2800" dirty="0">
                <a:solidFill>
                  <a:srgbClr val="000000"/>
                </a:solidFill>
              </a:rPr>
              <a:t>YACHT: </a:t>
            </a:r>
            <a:r>
              <a:rPr lang="en-US" sz="2800" b="1" dirty="0">
                <a:solidFill>
                  <a:srgbClr val="000000"/>
                </a:solidFill>
              </a:rPr>
              <a:t>Y</a:t>
            </a:r>
            <a:r>
              <a:rPr lang="en-US" sz="2800" dirty="0">
                <a:solidFill>
                  <a:srgbClr val="000000"/>
                </a:solidFill>
              </a:rPr>
              <a:t>es/No </a:t>
            </a:r>
            <a:r>
              <a:rPr lang="en-US" sz="2800" b="1" dirty="0">
                <a:solidFill>
                  <a:srgbClr val="000000"/>
                </a:solidFill>
              </a:rPr>
              <a:t>A</a:t>
            </a:r>
            <a:r>
              <a:rPr lang="en-US" sz="2800" dirty="0">
                <a:solidFill>
                  <a:srgbClr val="000000"/>
                </a:solidFill>
              </a:rPr>
              <a:t>nswers to </a:t>
            </a:r>
            <a:r>
              <a:rPr lang="en-US" sz="2800" b="1" dirty="0">
                <a:solidFill>
                  <a:srgbClr val="000000"/>
                </a:solidFill>
              </a:rPr>
              <a:t>C</a:t>
            </a:r>
            <a:r>
              <a:rPr lang="en-US" sz="2800" dirty="0">
                <a:solidFill>
                  <a:srgbClr val="000000"/>
                </a:solidFill>
              </a:rPr>
              <a:t>ommunity </a:t>
            </a:r>
          </a:p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2800" dirty="0">
                <a:solidFill>
                  <a:srgbClr val="000000"/>
                </a:solidFill>
              </a:rPr>
              <a:t>membership via </a:t>
            </a:r>
            <a:r>
              <a:rPr lang="en-US" sz="2800" b="1" dirty="0">
                <a:solidFill>
                  <a:srgbClr val="000000"/>
                </a:solidFill>
              </a:rPr>
              <a:t>H</a:t>
            </a:r>
            <a:r>
              <a:rPr lang="en-US" sz="2800" dirty="0">
                <a:solidFill>
                  <a:srgbClr val="000000"/>
                </a:solidFill>
              </a:rPr>
              <a:t>ypothesis </a:t>
            </a:r>
            <a:r>
              <a:rPr lang="en-US" sz="2800" b="1" dirty="0">
                <a:solidFill>
                  <a:srgbClr val="000000"/>
                </a:solidFill>
              </a:rPr>
              <a:t>T</a:t>
            </a:r>
            <a:r>
              <a:rPr lang="en-US" sz="2800" dirty="0">
                <a:solidFill>
                  <a:srgbClr val="000000"/>
                </a:solidFill>
              </a:rPr>
              <a:t>esting</a:t>
            </a:r>
          </a:p>
        </p:txBody>
      </p:sp>
      <p:sp>
        <p:nvSpPr>
          <p:cNvPr id="20" name="AutoShape 3" descr=" 4099"/>
          <p:cNvSpPr>
            <a:spLocks noChangeArrowheads="1"/>
          </p:cNvSpPr>
          <p:nvPr/>
        </p:nvSpPr>
        <p:spPr bwMode="auto">
          <a:xfrm>
            <a:off x="0" y="2895600"/>
            <a:ext cx="3971636" cy="68580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Experiments</a:t>
            </a:r>
          </a:p>
        </p:txBody>
      </p:sp>
      <p:sp>
        <p:nvSpPr>
          <p:cNvPr id="10" name="AutoShape 3" descr=" 4099"/>
          <p:cNvSpPr>
            <a:spLocks noChangeArrowheads="1"/>
          </p:cNvSpPr>
          <p:nvPr/>
        </p:nvSpPr>
        <p:spPr bwMode="auto">
          <a:xfrm>
            <a:off x="0" y="1066800"/>
            <a:ext cx="3971636" cy="685800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800" dirty="0">
                <a:latin typeface="+mj-lt"/>
              </a:rPr>
              <a:t>Motivation</a:t>
            </a:r>
          </a:p>
        </p:txBody>
      </p:sp>
      <p:sp>
        <p:nvSpPr>
          <p:cNvPr id="2" name="AutoShape 3" descr=" 4099">
            <a:extLst>
              <a:ext uri="{FF2B5EF4-FFF2-40B4-BE49-F238E27FC236}">
                <a16:creationId xmlns:a16="http://schemas.microsoft.com/office/drawing/2014/main" id="{807FDEA3-5EE3-E982-1EE0-E96933676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810000"/>
            <a:ext cx="3971636" cy="68580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Code &amp; Conclusion</a:t>
            </a:r>
          </a:p>
        </p:txBody>
      </p:sp>
    </p:spTree>
    <p:extLst>
      <p:ext uri="{BB962C8B-B14F-4D97-AF65-F5344CB8AC3E}">
        <p14:creationId xmlns:p14="http://schemas.microsoft.com/office/powerpoint/2010/main" val="2170465839"/>
      </p:ext>
    </p:extLst>
  </p:cSld>
  <p:clrMapOvr>
    <a:masterClrMapping/>
  </p:clrMapOvr>
  <p:transition spd="med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2" descr=" 4098"/>
          <p:cNvSpPr>
            <a:spLocks noChangeArrowheads="1"/>
          </p:cNvSpPr>
          <p:nvPr/>
        </p:nvSpPr>
        <p:spPr bwMode="auto">
          <a:xfrm>
            <a:off x="609600" y="1"/>
            <a:ext cx="7848600" cy="672860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Motivation</a:t>
            </a:r>
          </a:p>
        </p:txBody>
      </p:sp>
      <p:sp>
        <p:nvSpPr>
          <p:cNvPr id="4099" name="AutoShape 3" descr=" 4099"/>
          <p:cNvSpPr>
            <a:spLocks noChangeArrowheads="1"/>
          </p:cNvSpPr>
          <p:nvPr/>
        </p:nvSpPr>
        <p:spPr bwMode="auto">
          <a:xfrm>
            <a:off x="-1" y="843958"/>
            <a:ext cx="2183307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(Meta)genomics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93173" y="2351285"/>
            <a:ext cx="68121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+mj-lt"/>
              </a:rPr>
              <a:t>Reads</a:t>
            </a:r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1468137" y="2014705"/>
            <a:ext cx="403940" cy="250053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241811" y="2264758"/>
            <a:ext cx="396484" cy="184919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029722" y="2611385"/>
            <a:ext cx="369711" cy="186215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162121" y="2449677"/>
            <a:ext cx="317002" cy="188031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04499" y="2803600"/>
            <a:ext cx="463638" cy="260418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1718915" y="2674389"/>
            <a:ext cx="297355" cy="130209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016270" y="2625886"/>
            <a:ext cx="289514" cy="178712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1744237" y="2173002"/>
            <a:ext cx="272033" cy="171728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2305784" y="2417158"/>
            <a:ext cx="403940" cy="250053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2103814" y="2154086"/>
            <a:ext cx="403940" cy="250053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2408276" y="2173002"/>
            <a:ext cx="403940" cy="250053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2420831" y="2716886"/>
            <a:ext cx="519369" cy="86714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1398823" y="2886304"/>
            <a:ext cx="534956" cy="6946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562600" y="1364352"/>
            <a:ext cx="24829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Reference database/info</a:t>
            </a:r>
          </a:p>
        </p:txBody>
      </p:sp>
      <p:cxnSp>
        <p:nvCxnSpPr>
          <p:cNvPr id="32" name="Straight Connector 31"/>
          <p:cNvCxnSpPr>
            <a:cxnSpLocks/>
          </p:cNvCxnSpPr>
          <p:nvPr/>
        </p:nvCxnSpPr>
        <p:spPr>
          <a:xfrm>
            <a:off x="5367597" y="2066083"/>
            <a:ext cx="2862003" cy="324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5367597" y="1789408"/>
            <a:ext cx="15258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+mj-lt"/>
              </a:rPr>
              <a:t>(Microbial) genome 1</a:t>
            </a:r>
          </a:p>
        </p:txBody>
      </p:sp>
      <p:cxnSp>
        <p:nvCxnSpPr>
          <p:cNvPr id="41" name="Straight Connector 40"/>
          <p:cNvCxnSpPr>
            <a:cxnSpLocks/>
          </p:cNvCxnSpPr>
          <p:nvPr/>
        </p:nvCxnSpPr>
        <p:spPr>
          <a:xfrm>
            <a:off x="5367597" y="2556461"/>
            <a:ext cx="2700679" cy="0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5367597" y="2265381"/>
            <a:ext cx="15258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+mj-lt"/>
              </a:rPr>
              <a:t>(Microbial) genome 2</a:t>
            </a:r>
          </a:p>
        </p:txBody>
      </p:sp>
      <p:sp>
        <p:nvSpPr>
          <p:cNvPr id="49" name="Rectangle 48"/>
          <p:cNvSpPr/>
          <p:nvPr/>
        </p:nvSpPr>
        <p:spPr>
          <a:xfrm rot="5400000">
            <a:off x="6828991" y="2746308"/>
            <a:ext cx="43954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+mj-lt"/>
              </a:rPr>
              <a:t>. . . </a:t>
            </a:r>
          </a:p>
        </p:txBody>
      </p:sp>
      <p:cxnSp>
        <p:nvCxnSpPr>
          <p:cNvPr id="58" name="Straight Connector 57"/>
          <p:cNvCxnSpPr/>
          <p:nvPr/>
        </p:nvCxnSpPr>
        <p:spPr>
          <a:xfrm>
            <a:off x="1577199" y="3060673"/>
            <a:ext cx="606107" cy="0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7F63D926-6EBC-4AB5-963B-8317C9FF2CC9}"/>
              </a:ext>
            </a:extLst>
          </p:cNvPr>
          <p:cNvSpPr/>
          <p:nvPr/>
        </p:nvSpPr>
        <p:spPr>
          <a:xfrm>
            <a:off x="762000" y="1446040"/>
            <a:ext cx="2629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Raw (meta)genomic reads</a:t>
            </a:r>
          </a:p>
        </p:txBody>
      </p:sp>
      <p:pic>
        <p:nvPicPr>
          <p:cNvPr id="5" name="Graphic 4" descr="Add">
            <a:extLst>
              <a:ext uri="{FF2B5EF4-FFF2-40B4-BE49-F238E27FC236}">
                <a16:creationId xmlns:a16="http://schemas.microsoft.com/office/drawing/2014/main" id="{C38E5AA1-266E-4255-A2E3-4ACF4CFBDC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30268" y="1987133"/>
            <a:ext cx="485100" cy="485100"/>
          </a:xfrm>
          <a:prstGeom prst="rect">
            <a:avLst/>
          </a:prstGeom>
        </p:spPr>
      </p:pic>
      <p:sp>
        <p:nvSpPr>
          <p:cNvPr id="3" name="Right Brace 2">
            <a:extLst>
              <a:ext uri="{FF2B5EF4-FFF2-40B4-BE49-F238E27FC236}">
                <a16:creationId xmlns:a16="http://schemas.microsoft.com/office/drawing/2014/main" id="{E54010D7-BCEA-703C-1C92-64917B6F806C}"/>
              </a:ext>
            </a:extLst>
          </p:cNvPr>
          <p:cNvSpPr/>
          <p:nvPr/>
        </p:nvSpPr>
        <p:spPr>
          <a:xfrm rot="10800000">
            <a:off x="4989649" y="1973622"/>
            <a:ext cx="300312" cy="1245709"/>
          </a:xfrm>
          <a:prstGeom prst="rightBrace">
            <a:avLst/>
          </a:prstGeom>
          <a:ln w="19050">
            <a:solidFill>
              <a:srgbClr val="558E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0B1B79-BE3C-E3B4-6E8C-999C27D6086B}"/>
              </a:ext>
            </a:extLst>
          </p:cNvPr>
          <p:cNvSpPr/>
          <p:nvPr/>
        </p:nvSpPr>
        <p:spPr>
          <a:xfrm>
            <a:off x="3651008" y="2438400"/>
            <a:ext cx="13613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+mj-lt"/>
              </a:rPr>
              <a:t>~1.2M genomes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4CED1A-8886-F136-2688-4FFCDBE967E1}"/>
              </a:ext>
            </a:extLst>
          </p:cNvPr>
          <p:cNvSpPr txBox="1"/>
          <p:nvPr/>
        </p:nvSpPr>
        <p:spPr>
          <a:xfrm>
            <a:off x="0" y="4827609"/>
            <a:ext cx="3388114" cy="647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1800" dirty="0">
                <a:solidFill>
                  <a:srgbClr val="FF0000"/>
                </a:solidFill>
                <a:latin typeface="+mj-lt"/>
              </a:rPr>
              <a:t>How to disentangle noise </a:t>
            </a:r>
          </a:p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1800" dirty="0">
                <a:solidFill>
                  <a:srgbClr val="FF0000"/>
                </a:solidFill>
                <a:latin typeface="+mj-lt"/>
              </a:rPr>
              <a:t>and low abundance organisms?</a:t>
            </a:r>
          </a:p>
        </p:txBody>
      </p:sp>
      <p:sp>
        <p:nvSpPr>
          <p:cNvPr id="9" name="AutoShape 3" descr=" 4099">
            <a:extLst>
              <a:ext uri="{FF2B5EF4-FFF2-40B4-BE49-F238E27FC236}">
                <a16:creationId xmlns:a16="http://schemas.microsoft.com/office/drawing/2014/main" id="{AF2FBD06-A5A4-3B43-E658-976528184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" y="4343400"/>
            <a:ext cx="1320867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Problem</a:t>
            </a:r>
          </a:p>
        </p:txBody>
      </p:sp>
      <p:pic>
        <p:nvPicPr>
          <p:cNvPr id="36" name="Graphic 35" descr="Checkmark with solid fill">
            <a:extLst>
              <a:ext uri="{FF2B5EF4-FFF2-40B4-BE49-F238E27FC236}">
                <a16:creationId xmlns:a16="http://schemas.microsoft.com/office/drawing/2014/main" id="{5EF311F8-7C53-B158-DEE9-1F683E4659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92515" y="1850847"/>
            <a:ext cx="418958" cy="418958"/>
          </a:xfrm>
          <a:prstGeom prst="rect">
            <a:avLst/>
          </a:prstGeom>
        </p:spPr>
      </p:pic>
      <p:pic>
        <p:nvPicPr>
          <p:cNvPr id="40" name="Graphic 39" descr="No sign with solid fill">
            <a:extLst>
              <a:ext uri="{FF2B5EF4-FFF2-40B4-BE49-F238E27FC236}">
                <a16:creationId xmlns:a16="http://schemas.microsoft.com/office/drawing/2014/main" id="{079F4919-BF2F-9FC4-669F-7F2962C2DC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32460" y="2376266"/>
            <a:ext cx="463252" cy="463252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B26A9418-4B0C-9D02-18B6-017C4F674FD4}"/>
              </a:ext>
            </a:extLst>
          </p:cNvPr>
          <p:cNvSpPr/>
          <p:nvPr/>
        </p:nvSpPr>
        <p:spPr>
          <a:xfrm>
            <a:off x="940334" y="3190817"/>
            <a:ext cx="10759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+mj-lt"/>
              </a:rPr>
              <a:t>{1,0,0,1,…}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6AFDBE0-40FC-3CFE-61D5-9B03D0C5C672}"/>
              </a:ext>
            </a:extLst>
          </p:cNvPr>
          <p:cNvSpPr/>
          <p:nvPr/>
        </p:nvSpPr>
        <p:spPr>
          <a:xfrm>
            <a:off x="-1" y="3657300"/>
            <a:ext cx="63647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+mj-lt"/>
              </a:rPr>
              <a:t>Presence/absence of reference</a:t>
            </a:r>
          </a:p>
          <a:p>
            <a:r>
              <a:rPr lang="en-US" sz="1600" dirty="0">
                <a:latin typeface="+mj-lt"/>
              </a:rPr>
              <a:t>genomes in a sample</a:t>
            </a:r>
          </a:p>
        </p:txBody>
      </p:sp>
      <p:sp>
        <p:nvSpPr>
          <p:cNvPr id="54" name="AutoShape 3" descr=" 4099">
            <a:extLst>
              <a:ext uri="{FF2B5EF4-FFF2-40B4-BE49-F238E27FC236}">
                <a16:creationId xmlns:a16="http://schemas.microsoft.com/office/drawing/2014/main" id="{3F69AFBB-CA08-8B36-47C0-A4A945D4A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3" y="3124200"/>
            <a:ext cx="831397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Goal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D0330565-D7FA-6070-3E8E-29570B6D2E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6281" y="3638669"/>
            <a:ext cx="4572638" cy="2095792"/>
          </a:xfrm>
          <a:prstGeom prst="rect">
            <a:avLst/>
          </a:prstGeom>
        </p:spPr>
      </p:pic>
      <p:sp>
        <p:nvSpPr>
          <p:cNvPr id="56" name="Right Brace 55">
            <a:extLst>
              <a:ext uri="{FF2B5EF4-FFF2-40B4-BE49-F238E27FC236}">
                <a16:creationId xmlns:a16="http://schemas.microsoft.com/office/drawing/2014/main" id="{27F12676-E24F-CD21-FBDC-D8169FAD53D6}"/>
              </a:ext>
            </a:extLst>
          </p:cNvPr>
          <p:cNvSpPr/>
          <p:nvPr/>
        </p:nvSpPr>
        <p:spPr>
          <a:xfrm rot="5400000">
            <a:off x="6143467" y="5454810"/>
            <a:ext cx="225287" cy="784590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75A379F-B531-3269-CFB0-C30558EFF777}"/>
              </a:ext>
            </a:extLst>
          </p:cNvPr>
          <p:cNvSpPr/>
          <p:nvPr/>
        </p:nvSpPr>
        <p:spPr>
          <a:xfrm>
            <a:off x="5689097" y="5930539"/>
            <a:ext cx="33596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Rare microbiome: in the sample at low abundance, or noise?</a:t>
            </a:r>
          </a:p>
        </p:txBody>
      </p:sp>
      <p:sp>
        <p:nvSpPr>
          <p:cNvPr id="7" name="AutoShape 3" descr=" 4099">
            <a:extLst>
              <a:ext uri="{FF2B5EF4-FFF2-40B4-BE49-F238E27FC236}">
                <a16:creationId xmlns:a16="http://schemas.microsoft.com/office/drawing/2014/main" id="{D293F5B2-8CF4-A0FD-0B50-176644111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" y="5571343"/>
            <a:ext cx="2636130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Current approaches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477B91-AB80-00B0-212B-3C72B561636B}"/>
              </a:ext>
            </a:extLst>
          </p:cNvPr>
          <p:cNvSpPr/>
          <p:nvPr/>
        </p:nvSpPr>
        <p:spPr>
          <a:xfrm>
            <a:off x="64684" y="6172200"/>
            <a:ext cx="43549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Hard thresholding, uninformed thresholds, FP’s remain, …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A55D0E4-4E1A-3DFC-12B3-50AE18FC8C4C}"/>
              </a:ext>
            </a:extLst>
          </p:cNvPr>
          <p:cNvGrpSpPr/>
          <p:nvPr/>
        </p:nvGrpSpPr>
        <p:grpSpPr>
          <a:xfrm>
            <a:off x="5632823" y="3522516"/>
            <a:ext cx="1153457" cy="2141994"/>
            <a:chOff x="5632823" y="3522516"/>
            <a:chExt cx="1153457" cy="2141994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889C96C-C517-835F-B716-C231C3FE0FC4}"/>
                </a:ext>
              </a:extLst>
            </p:cNvPr>
            <p:cNvCxnSpPr/>
            <p:nvPr/>
          </p:nvCxnSpPr>
          <p:spPr>
            <a:xfrm>
              <a:off x="5689097" y="3628594"/>
              <a:ext cx="0" cy="2035916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Down Arrow 61">
              <a:extLst>
                <a:ext uri="{FF2B5EF4-FFF2-40B4-BE49-F238E27FC236}">
                  <a16:creationId xmlns:a16="http://schemas.microsoft.com/office/drawing/2014/main" id="{F663B6DC-5373-0BE0-CBE6-FA19B8A93B80}"/>
                </a:ext>
              </a:extLst>
            </p:cNvPr>
            <p:cNvSpPr/>
            <p:nvPr/>
          </p:nvSpPr>
          <p:spPr>
            <a:xfrm rot="16200000">
              <a:off x="6020365" y="3490586"/>
              <a:ext cx="184938" cy="726592"/>
            </a:xfrm>
            <a:prstGeom prst="downArrow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775C88A-01BC-06CE-0C5C-8AB8A02CAC65}"/>
                </a:ext>
              </a:extLst>
            </p:cNvPr>
            <p:cNvSpPr/>
            <p:nvPr/>
          </p:nvSpPr>
          <p:spPr>
            <a:xfrm>
              <a:off x="5632823" y="3522516"/>
              <a:ext cx="1153457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>
                  <a:latin typeface="+mj-lt"/>
                </a:rPr>
                <a:t>Ignore all this</a:t>
              </a:r>
              <a:endParaRPr lang="en-US" sz="1600" dirty="0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0219860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1" grpId="0"/>
      <p:bldP spid="39" grpId="0"/>
      <p:bldP spid="42" grpId="0"/>
      <p:bldP spid="49" grpId="0"/>
      <p:bldP spid="37" grpId="0"/>
      <p:bldP spid="3" grpId="0" animBg="1"/>
      <p:bldP spid="4" grpId="0"/>
      <p:bldP spid="8" grpId="0"/>
      <p:bldP spid="9" grpId="0" animBg="1"/>
      <p:bldP spid="45" grpId="0"/>
      <p:bldP spid="46" grpId="0"/>
      <p:bldP spid="54" grpId="0" animBg="1"/>
      <p:bldP spid="56" grpId="0" animBg="1"/>
      <p:bldP spid="57" grpId="0"/>
      <p:bldP spid="7" grpId="0" animBg="1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AutoShape 3" descr=" 4099"/>
          <p:cNvSpPr>
            <a:spLocks noChangeArrowheads="1"/>
          </p:cNvSpPr>
          <p:nvPr/>
        </p:nvSpPr>
        <p:spPr bwMode="auto">
          <a:xfrm>
            <a:off x="-1" y="843958"/>
            <a:ext cx="2183307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(Meta)genomics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93173" y="2351285"/>
            <a:ext cx="68121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+mj-lt"/>
              </a:rPr>
              <a:t>Reads</a:t>
            </a:r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1468137" y="2014705"/>
            <a:ext cx="403940" cy="250053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241811" y="2264758"/>
            <a:ext cx="396484" cy="184919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029722" y="2611385"/>
            <a:ext cx="369711" cy="186215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162121" y="2449677"/>
            <a:ext cx="317002" cy="188031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04499" y="2803600"/>
            <a:ext cx="463638" cy="260418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1718915" y="2674389"/>
            <a:ext cx="297355" cy="130209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016270" y="2625886"/>
            <a:ext cx="289514" cy="178712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1744237" y="2173002"/>
            <a:ext cx="272033" cy="171728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2305784" y="2417158"/>
            <a:ext cx="403940" cy="250053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2103814" y="2154086"/>
            <a:ext cx="403940" cy="250053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2408276" y="2173002"/>
            <a:ext cx="403940" cy="250053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2420831" y="2716886"/>
            <a:ext cx="519369" cy="86714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1398823" y="2886304"/>
            <a:ext cx="534956" cy="6946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562600" y="1364352"/>
            <a:ext cx="24829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Reference database/info</a:t>
            </a:r>
          </a:p>
        </p:txBody>
      </p:sp>
      <p:cxnSp>
        <p:nvCxnSpPr>
          <p:cNvPr id="32" name="Straight Connector 31"/>
          <p:cNvCxnSpPr>
            <a:cxnSpLocks/>
          </p:cNvCxnSpPr>
          <p:nvPr/>
        </p:nvCxnSpPr>
        <p:spPr>
          <a:xfrm>
            <a:off x="5367597" y="2066083"/>
            <a:ext cx="2862003" cy="324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5367597" y="1789408"/>
            <a:ext cx="15258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+mj-lt"/>
              </a:rPr>
              <a:t>(Microbial) genome 1</a:t>
            </a:r>
          </a:p>
        </p:txBody>
      </p:sp>
      <p:cxnSp>
        <p:nvCxnSpPr>
          <p:cNvPr id="41" name="Straight Connector 40"/>
          <p:cNvCxnSpPr>
            <a:cxnSpLocks/>
          </p:cNvCxnSpPr>
          <p:nvPr/>
        </p:nvCxnSpPr>
        <p:spPr>
          <a:xfrm>
            <a:off x="5367597" y="2556461"/>
            <a:ext cx="2700679" cy="0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5367597" y="2265381"/>
            <a:ext cx="15258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+mj-lt"/>
              </a:rPr>
              <a:t>(Microbial) genome 2</a:t>
            </a:r>
          </a:p>
        </p:txBody>
      </p:sp>
      <p:sp>
        <p:nvSpPr>
          <p:cNvPr id="49" name="Rectangle 48"/>
          <p:cNvSpPr/>
          <p:nvPr/>
        </p:nvSpPr>
        <p:spPr>
          <a:xfrm rot="5400000">
            <a:off x="6828991" y="2746308"/>
            <a:ext cx="43954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+mj-lt"/>
              </a:rPr>
              <a:t>. . . </a:t>
            </a:r>
          </a:p>
        </p:txBody>
      </p:sp>
      <p:cxnSp>
        <p:nvCxnSpPr>
          <p:cNvPr id="58" name="Straight Connector 57"/>
          <p:cNvCxnSpPr/>
          <p:nvPr/>
        </p:nvCxnSpPr>
        <p:spPr>
          <a:xfrm>
            <a:off x="1577199" y="3060673"/>
            <a:ext cx="606107" cy="0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7F63D926-6EBC-4AB5-963B-8317C9FF2CC9}"/>
              </a:ext>
            </a:extLst>
          </p:cNvPr>
          <p:cNvSpPr/>
          <p:nvPr/>
        </p:nvSpPr>
        <p:spPr>
          <a:xfrm>
            <a:off x="762000" y="1446040"/>
            <a:ext cx="2629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Raw (meta)genomic reads</a:t>
            </a:r>
          </a:p>
        </p:txBody>
      </p:sp>
      <p:pic>
        <p:nvPicPr>
          <p:cNvPr id="5" name="Graphic 4" descr="Add">
            <a:extLst>
              <a:ext uri="{FF2B5EF4-FFF2-40B4-BE49-F238E27FC236}">
                <a16:creationId xmlns:a16="http://schemas.microsoft.com/office/drawing/2014/main" id="{C38E5AA1-266E-4255-A2E3-4ACF4CFBDC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30268" y="1987133"/>
            <a:ext cx="485100" cy="485100"/>
          </a:xfrm>
          <a:prstGeom prst="rect">
            <a:avLst/>
          </a:prstGeom>
        </p:spPr>
      </p:pic>
      <p:sp>
        <p:nvSpPr>
          <p:cNvPr id="3" name="Right Brace 2">
            <a:extLst>
              <a:ext uri="{FF2B5EF4-FFF2-40B4-BE49-F238E27FC236}">
                <a16:creationId xmlns:a16="http://schemas.microsoft.com/office/drawing/2014/main" id="{E54010D7-BCEA-703C-1C92-64917B6F806C}"/>
              </a:ext>
            </a:extLst>
          </p:cNvPr>
          <p:cNvSpPr/>
          <p:nvPr/>
        </p:nvSpPr>
        <p:spPr>
          <a:xfrm rot="10800000">
            <a:off x="4989649" y="1973622"/>
            <a:ext cx="300312" cy="1245709"/>
          </a:xfrm>
          <a:prstGeom prst="rightBrace">
            <a:avLst/>
          </a:prstGeom>
          <a:ln w="19050">
            <a:solidFill>
              <a:srgbClr val="558E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0B1B79-BE3C-E3B4-6E8C-999C27D6086B}"/>
              </a:ext>
            </a:extLst>
          </p:cNvPr>
          <p:cNvSpPr/>
          <p:nvPr/>
        </p:nvSpPr>
        <p:spPr>
          <a:xfrm>
            <a:off x="3651008" y="2438400"/>
            <a:ext cx="13613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+mj-lt"/>
              </a:rPr>
              <a:t>~1.2M genomes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4CED1A-8886-F136-2688-4FFCDBE967E1}"/>
              </a:ext>
            </a:extLst>
          </p:cNvPr>
          <p:cNvSpPr txBox="1"/>
          <p:nvPr/>
        </p:nvSpPr>
        <p:spPr>
          <a:xfrm>
            <a:off x="0" y="4827609"/>
            <a:ext cx="3388114" cy="647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1800" dirty="0">
                <a:solidFill>
                  <a:srgbClr val="FF0000"/>
                </a:solidFill>
                <a:latin typeface="+mj-lt"/>
              </a:rPr>
              <a:t>How to disentangle noise </a:t>
            </a:r>
          </a:p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1800" dirty="0">
                <a:solidFill>
                  <a:srgbClr val="FF0000"/>
                </a:solidFill>
                <a:latin typeface="+mj-lt"/>
              </a:rPr>
              <a:t>and low abundance organisms?</a:t>
            </a:r>
          </a:p>
        </p:txBody>
      </p:sp>
      <p:sp>
        <p:nvSpPr>
          <p:cNvPr id="9" name="AutoShape 3" descr=" 4099">
            <a:extLst>
              <a:ext uri="{FF2B5EF4-FFF2-40B4-BE49-F238E27FC236}">
                <a16:creationId xmlns:a16="http://schemas.microsoft.com/office/drawing/2014/main" id="{AF2FBD06-A5A4-3B43-E658-976528184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" y="4343400"/>
            <a:ext cx="1320867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Problem</a:t>
            </a:r>
          </a:p>
        </p:txBody>
      </p:sp>
      <p:pic>
        <p:nvPicPr>
          <p:cNvPr id="36" name="Graphic 35" descr="Checkmark with solid fill">
            <a:extLst>
              <a:ext uri="{FF2B5EF4-FFF2-40B4-BE49-F238E27FC236}">
                <a16:creationId xmlns:a16="http://schemas.microsoft.com/office/drawing/2014/main" id="{5EF311F8-7C53-B158-DEE9-1F683E4659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92515" y="1850847"/>
            <a:ext cx="418958" cy="418958"/>
          </a:xfrm>
          <a:prstGeom prst="rect">
            <a:avLst/>
          </a:prstGeom>
        </p:spPr>
      </p:pic>
      <p:pic>
        <p:nvPicPr>
          <p:cNvPr id="40" name="Graphic 39" descr="No sign with solid fill">
            <a:extLst>
              <a:ext uri="{FF2B5EF4-FFF2-40B4-BE49-F238E27FC236}">
                <a16:creationId xmlns:a16="http://schemas.microsoft.com/office/drawing/2014/main" id="{079F4919-BF2F-9FC4-669F-7F2962C2DC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32460" y="2376266"/>
            <a:ext cx="463252" cy="463252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B26A9418-4B0C-9D02-18B6-017C4F674FD4}"/>
              </a:ext>
            </a:extLst>
          </p:cNvPr>
          <p:cNvSpPr/>
          <p:nvPr/>
        </p:nvSpPr>
        <p:spPr>
          <a:xfrm>
            <a:off x="940334" y="3190817"/>
            <a:ext cx="10759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+mj-lt"/>
              </a:rPr>
              <a:t>{1,0,0,1,…}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6AFDBE0-40FC-3CFE-61D5-9B03D0C5C672}"/>
              </a:ext>
            </a:extLst>
          </p:cNvPr>
          <p:cNvSpPr/>
          <p:nvPr/>
        </p:nvSpPr>
        <p:spPr>
          <a:xfrm>
            <a:off x="-1" y="3657300"/>
            <a:ext cx="63647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+mj-lt"/>
              </a:rPr>
              <a:t>Presence/absence of reference</a:t>
            </a:r>
          </a:p>
          <a:p>
            <a:r>
              <a:rPr lang="en-US" sz="1600" dirty="0">
                <a:latin typeface="+mj-lt"/>
              </a:rPr>
              <a:t>genomes in a sample</a:t>
            </a:r>
          </a:p>
        </p:txBody>
      </p:sp>
      <p:sp>
        <p:nvSpPr>
          <p:cNvPr id="54" name="AutoShape 3" descr=" 4099">
            <a:extLst>
              <a:ext uri="{FF2B5EF4-FFF2-40B4-BE49-F238E27FC236}">
                <a16:creationId xmlns:a16="http://schemas.microsoft.com/office/drawing/2014/main" id="{3F69AFBB-CA08-8B36-47C0-A4A945D4A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3" y="3124200"/>
            <a:ext cx="831397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Goal</a:t>
            </a:r>
          </a:p>
        </p:txBody>
      </p:sp>
      <p:sp>
        <p:nvSpPr>
          <p:cNvPr id="7" name="AutoShape 3" descr=" 4099">
            <a:extLst>
              <a:ext uri="{FF2B5EF4-FFF2-40B4-BE49-F238E27FC236}">
                <a16:creationId xmlns:a16="http://schemas.microsoft.com/office/drawing/2014/main" id="{D293F5B2-8CF4-A0FD-0B50-176644111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" y="5571343"/>
            <a:ext cx="2636130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Current approaches</a:t>
            </a:r>
          </a:p>
        </p:txBody>
      </p:sp>
      <p:pic>
        <p:nvPicPr>
          <p:cNvPr id="14" name="Picture 13" descr="A picture containing text, screenshot, plot, diagram&#10;&#10;Description automatically generated">
            <a:extLst>
              <a:ext uri="{FF2B5EF4-FFF2-40B4-BE49-F238E27FC236}">
                <a16:creationId xmlns:a16="http://schemas.microsoft.com/office/drawing/2014/main" id="{4E30EAD9-61EA-EC49-ACBA-A94E102A241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71" r="7824" b="1729"/>
          <a:stretch/>
        </p:blipFill>
        <p:spPr>
          <a:xfrm>
            <a:off x="3879016" y="3389860"/>
            <a:ext cx="4731584" cy="3395682"/>
          </a:xfrm>
          <a:prstGeom prst="rect">
            <a:avLst/>
          </a:prstGeom>
        </p:spPr>
      </p:pic>
      <p:sp>
        <p:nvSpPr>
          <p:cNvPr id="29" name="AutoShape 2" descr=" 4098">
            <a:extLst>
              <a:ext uri="{FF2B5EF4-FFF2-40B4-BE49-F238E27FC236}">
                <a16:creationId xmlns:a16="http://schemas.microsoft.com/office/drawing/2014/main" id="{56ED0AF9-45D5-192F-886C-173A4A34C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672860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Motivation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3F3A1D-238E-E7A2-D63E-6A30FE08BD5C}"/>
              </a:ext>
            </a:extLst>
          </p:cNvPr>
          <p:cNvSpPr/>
          <p:nvPr/>
        </p:nvSpPr>
        <p:spPr>
          <a:xfrm>
            <a:off x="64684" y="6172200"/>
            <a:ext cx="43549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Hard thresholding, uninformed thresholds, FP’s remain, …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6D77241-D788-456D-50F2-A6D5E42B96F7}"/>
              </a:ext>
            </a:extLst>
          </p:cNvPr>
          <p:cNvGrpSpPr>
            <a:grpSpLocks noChangeAspect="1"/>
          </p:cNvGrpSpPr>
          <p:nvPr/>
        </p:nvGrpSpPr>
        <p:grpSpPr>
          <a:xfrm>
            <a:off x="4812586" y="3657299"/>
            <a:ext cx="3188414" cy="2667300"/>
            <a:chOff x="5050023" y="3940356"/>
            <a:chExt cx="2433266" cy="2035573"/>
          </a:xfrm>
        </p:grpSpPr>
        <p:pic>
          <p:nvPicPr>
            <p:cNvPr id="12" name="Picture 11" descr="A picture containing text, diagram, map&#10;&#10;Description automatically generated">
              <a:extLst>
                <a:ext uri="{FF2B5EF4-FFF2-40B4-BE49-F238E27FC236}">
                  <a16:creationId xmlns:a16="http://schemas.microsoft.com/office/drawing/2014/main" id="{6AED7856-632C-C172-1044-705BE82C3F4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721" t="54318" r="1174"/>
            <a:stretch/>
          </p:blipFill>
          <p:spPr>
            <a:xfrm>
              <a:off x="5050023" y="4289502"/>
              <a:ext cx="2433266" cy="1686427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AE25226-0904-6867-4DC5-7B43A9D5A8C2}"/>
                </a:ext>
              </a:extLst>
            </p:cNvPr>
            <p:cNvSpPr/>
            <p:nvPr/>
          </p:nvSpPr>
          <p:spPr>
            <a:xfrm>
              <a:off x="5791200" y="3940356"/>
              <a:ext cx="1102199" cy="3053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b="1" dirty="0">
                  <a:solidFill>
                    <a:srgbClr val="FF0000"/>
                  </a:solidFill>
                  <a:latin typeface="+mj-lt"/>
                </a:rPr>
                <a:t>- - -</a:t>
              </a:r>
              <a:r>
                <a:rPr lang="en-US" sz="1600" dirty="0">
                  <a:solidFill>
                    <a:srgbClr val="FF0000"/>
                  </a:solidFill>
                  <a:latin typeface="+mj-lt"/>
                </a:rPr>
                <a:t> Precision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6290198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AutoShape 3" descr=" 4099"/>
          <p:cNvSpPr>
            <a:spLocks noChangeArrowheads="1"/>
          </p:cNvSpPr>
          <p:nvPr/>
        </p:nvSpPr>
        <p:spPr bwMode="auto">
          <a:xfrm>
            <a:off x="0" y="1981200"/>
            <a:ext cx="3971636" cy="685800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800" dirty="0">
                <a:latin typeface="+mj-lt"/>
              </a:rPr>
              <a:t>YACHT</a:t>
            </a:r>
          </a:p>
        </p:txBody>
      </p:sp>
      <p:sp>
        <p:nvSpPr>
          <p:cNvPr id="9" name="AutoShape 2" descr=" 4098"/>
          <p:cNvSpPr>
            <a:spLocks noChangeArrowheads="1"/>
          </p:cNvSpPr>
          <p:nvPr/>
        </p:nvSpPr>
        <p:spPr bwMode="auto">
          <a:xfrm>
            <a:off x="416505" y="0"/>
            <a:ext cx="8310990" cy="829527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2800" dirty="0">
                <a:solidFill>
                  <a:srgbClr val="000000"/>
                </a:solidFill>
              </a:rPr>
              <a:t>YACHT: </a:t>
            </a:r>
            <a:r>
              <a:rPr lang="en-US" sz="2800" b="1" dirty="0">
                <a:solidFill>
                  <a:srgbClr val="000000"/>
                </a:solidFill>
              </a:rPr>
              <a:t>Y</a:t>
            </a:r>
            <a:r>
              <a:rPr lang="en-US" sz="2800" dirty="0">
                <a:solidFill>
                  <a:srgbClr val="000000"/>
                </a:solidFill>
              </a:rPr>
              <a:t>es/No </a:t>
            </a:r>
            <a:r>
              <a:rPr lang="en-US" sz="2800" b="1" dirty="0">
                <a:solidFill>
                  <a:srgbClr val="000000"/>
                </a:solidFill>
              </a:rPr>
              <a:t>A</a:t>
            </a:r>
            <a:r>
              <a:rPr lang="en-US" sz="2800" dirty="0">
                <a:solidFill>
                  <a:srgbClr val="000000"/>
                </a:solidFill>
              </a:rPr>
              <a:t>nswers to </a:t>
            </a:r>
            <a:r>
              <a:rPr lang="en-US" sz="2800" b="1" dirty="0">
                <a:solidFill>
                  <a:srgbClr val="000000"/>
                </a:solidFill>
              </a:rPr>
              <a:t>C</a:t>
            </a:r>
            <a:r>
              <a:rPr lang="en-US" sz="2800" dirty="0">
                <a:solidFill>
                  <a:srgbClr val="000000"/>
                </a:solidFill>
              </a:rPr>
              <a:t>ommunity </a:t>
            </a:r>
          </a:p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2800" dirty="0">
                <a:solidFill>
                  <a:srgbClr val="000000"/>
                </a:solidFill>
              </a:rPr>
              <a:t>membership via </a:t>
            </a:r>
            <a:r>
              <a:rPr lang="en-US" sz="2800" b="1" dirty="0">
                <a:solidFill>
                  <a:srgbClr val="000000"/>
                </a:solidFill>
              </a:rPr>
              <a:t>H</a:t>
            </a:r>
            <a:r>
              <a:rPr lang="en-US" sz="2800" dirty="0">
                <a:solidFill>
                  <a:srgbClr val="000000"/>
                </a:solidFill>
              </a:rPr>
              <a:t>ypothesis </a:t>
            </a:r>
            <a:r>
              <a:rPr lang="en-US" sz="2800" b="1" dirty="0">
                <a:solidFill>
                  <a:srgbClr val="000000"/>
                </a:solidFill>
              </a:rPr>
              <a:t>T</a:t>
            </a:r>
            <a:r>
              <a:rPr lang="en-US" sz="2800" dirty="0">
                <a:solidFill>
                  <a:srgbClr val="000000"/>
                </a:solidFill>
              </a:rPr>
              <a:t>esting</a:t>
            </a:r>
          </a:p>
        </p:txBody>
      </p:sp>
      <p:sp>
        <p:nvSpPr>
          <p:cNvPr id="20" name="AutoShape 3" descr=" 4099"/>
          <p:cNvSpPr>
            <a:spLocks noChangeArrowheads="1"/>
          </p:cNvSpPr>
          <p:nvPr/>
        </p:nvSpPr>
        <p:spPr bwMode="auto">
          <a:xfrm>
            <a:off x="0" y="2895600"/>
            <a:ext cx="3971636" cy="68580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Experiments</a:t>
            </a:r>
          </a:p>
        </p:txBody>
      </p:sp>
      <p:sp>
        <p:nvSpPr>
          <p:cNvPr id="10" name="AutoShape 3" descr=" 4099"/>
          <p:cNvSpPr>
            <a:spLocks noChangeArrowheads="1"/>
          </p:cNvSpPr>
          <p:nvPr/>
        </p:nvSpPr>
        <p:spPr bwMode="auto">
          <a:xfrm>
            <a:off x="0" y="1066800"/>
            <a:ext cx="3971636" cy="68580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Motivation</a:t>
            </a:r>
          </a:p>
        </p:txBody>
      </p:sp>
      <p:sp>
        <p:nvSpPr>
          <p:cNvPr id="2" name="AutoShape 3" descr=" 4099">
            <a:extLst>
              <a:ext uri="{FF2B5EF4-FFF2-40B4-BE49-F238E27FC236}">
                <a16:creationId xmlns:a16="http://schemas.microsoft.com/office/drawing/2014/main" id="{807FDEA3-5EE3-E982-1EE0-E96933676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810000"/>
            <a:ext cx="3971636" cy="68580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Code &amp; Conclusion</a:t>
            </a:r>
          </a:p>
        </p:txBody>
      </p:sp>
    </p:spTree>
    <p:extLst>
      <p:ext uri="{BB962C8B-B14F-4D97-AF65-F5344CB8AC3E}">
        <p14:creationId xmlns:p14="http://schemas.microsoft.com/office/powerpoint/2010/main" val="2445987943"/>
      </p:ext>
    </p:extLst>
  </p:cSld>
  <p:clrMapOvr>
    <a:masterClrMapping/>
  </p:clrMapOvr>
  <p:transition spd="med"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3" descr=" 4099">
            <a:extLst>
              <a:ext uri="{FF2B5EF4-FFF2-40B4-BE49-F238E27FC236}">
                <a16:creationId xmlns:a16="http://schemas.microsoft.com/office/drawing/2014/main" id="{E6CEC4CA-407F-2B89-E3AA-5B9BAE529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1" y="2159851"/>
            <a:ext cx="2046072" cy="430949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800" dirty="0">
                <a:solidFill>
                  <a:srgbClr val="000000"/>
                </a:solidFill>
              </a:rPr>
              <a:t>Observations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DF8048-B837-DC81-65A9-D6A61F6728DF}"/>
              </a:ext>
            </a:extLst>
          </p:cNvPr>
          <p:cNvSpPr/>
          <p:nvPr/>
        </p:nvSpPr>
        <p:spPr>
          <a:xfrm>
            <a:off x="0" y="2585198"/>
            <a:ext cx="71696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1. No organism in a metagenome will </a:t>
            </a:r>
            <a:r>
              <a:rPr lang="en-US" b="1" i="1" dirty="0"/>
              <a:t>exactly</a:t>
            </a:r>
            <a:r>
              <a:rPr lang="en-US" dirty="0"/>
              <a:t> match a reference genome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48F74D4-C804-2EB5-D0A9-42BC45C305B3}"/>
              </a:ext>
            </a:extLst>
          </p:cNvPr>
          <p:cNvGrpSpPr/>
          <p:nvPr/>
        </p:nvGrpSpPr>
        <p:grpSpPr>
          <a:xfrm>
            <a:off x="1004499" y="3081505"/>
            <a:ext cx="1935701" cy="1049313"/>
            <a:chOff x="1004499" y="2014705"/>
            <a:chExt cx="1935701" cy="1049313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3323FEF-DB1E-8AEC-9FEC-72666A21C883}"/>
                </a:ext>
              </a:extLst>
            </p:cNvPr>
            <p:cNvSpPr/>
            <p:nvPr/>
          </p:nvSpPr>
          <p:spPr>
            <a:xfrm>
              <a:off x="1593173" y="2351285"/>
              <a:ext cx="68121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+mj-lt"/>
                </a:rPr>
                <a:t>Reads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2783AE8-17BA-587C-3456-559947F19048}"/>
                </a:ext>
              </a:extLst>
            </p:cNvPr>
            <p:cNvCxnSpPr/>
            <p:nvPr/>
          </p:nvCxnSpPr>
          <p:spPr>
            <a:xfrm flipV="1">
              <a:off x="1468137" y="2014705"/>
              <a:ext cx="403940" cy="250053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7DAB9E8-AB4B-D5EC-3CD9-0D751C1E7CD1}"/>
                </a:ext>
              </a:extLst>
            </p:cNvPr>
            <p:cNvCxnSpPr/>
            <p:nvPr/>
          </p:nvCxnSpPr>
          <p:spPr>
            <a:xfrm>
              <a:off x="1241811" y="2264758"/>
              <a:ext cx="396484" cy="184919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29C137A-7384-0B57-19DC-C6BD06E66FC6}"/>
                </a:ext>
              </a:extLst>
            </p:cNvPr>
            <p:cNvCxnSpPr/>
            <p:nvPr/>
          </p:nvCxnSpPr>
          <p:spPr>
            <a:xfrm>
              <a:off x="1029722" y="2611385"/>
              <a:ext cx="369711" cy="186215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AD069CC-C6A3-DA21-B280-A5FDF37A40D0}"/>
                </a:ext>
              </a:extLst>
            </p:cNvPr>
            <p:cNvCxnSpPr/>
            <p:nvPr/>
          </p:nvCxnSpPr>
          <p:spPr>
            <a:xfrm>
              <a:off x="1162121" y="2449677"/>
              <a:ext cx="317002" cy="188031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DF4221A-8AEB-9E34-8BFE-4E22A10E1BCE}"/>
                </a:ext>
              </a:extLst>
            </p:cNvPr>
            <p:cNvCxnSpPr/>
            <p:nvPr/>
          </p:nvCxnSpPr>
          <p:spPr>
            <a:xfrm>
              <a:off x="1004499" y="2803600"/>
              <a:ext cx="463638" cy="260418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B6A03BA7-CE03-C416-21D1-63D657D457BE}"/>
                </a:ext>
              </a:extLst>
            </p:cNvPr>
            <p:cNvCxnSpPr/>
            <p:nvPr/>
          </p:nvCxnSpPr>
          <p:spPr>
            <a:xfrm>
              <a:off x="1718915" y="2674389"/>
              <a:ext cx="297355" cy="130209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4E06B97-345A-1718-A464-B62FDFC7A5B0}"/>
                </a:ext>
              </a:extLst>
            </p:cNvPr>
            <p:cNvCxnSpPr/>
            <p:nvPr/>
          </p:nvCxnSpPr>
          <p:spPr>
            <a:xfrm>
              <a:off x="2016270" y="2625886"/>
              <a:ext cx="289514" cy="178712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C4F96594-FE88-D475-1FA9-3C56E9CC8B6D}"/>
                </a:ext>
              </a:extLst>
            </p:cNvPr>
            <p:cNvCxnSpPr/>
            <p:nvPr/>
          </p:nvCxnSpPr>
          <p:spPr>
            <a:xfrm flipV="1">
              <a:off x="1744237" y="2173002"/>
              <a:ext cx="272033" cy="171728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B5C490D4-42FA-0D6D-F279-DBE67CC50A8E}"/>
                </a:ext>
              </a:extLst>
            </p:cNvPr>
            <p:cNvCxnSpPr/>
            <p:nvPr/>
          </p:nvCxnSpPr>
          <p:spPr>
            <a:xfrm flipV="1">
              <a:off x="2305784" y="2417158"/>
              <a:ext cx="403940" cy="250053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A149A445-CD03-1A25-E646-E3228AFBF34D}"/>
                </a:ext>
              </a:extLst>
            </p:cNvPr>
            <p:cNvCxnSpPr/>
            <p:nvPr/>
          </p:nvCxnSpPr>
          <p:spPr>
            <a:xfrm flipV="1">
              <a:off x="2103814" y="2154086"/>
              <a:ext cx="403940" cy="250053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9B4D810-7728-602B-D1D2-8675537BD775}"/>
                </a:ext>
              </a:extLst>
            </p:cNvPr>
            <p:cNvCxnSpPr/>
            <p:nvPr/>
          </p:nvCxnSpPr>
          <p:spPr>
            <a:xfrm flipV="1">
              <a:off x="2408276" y="2173002"/>
              <a:ext cx="403940" cy="250053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D22E9CEB-1053-1A52-E73E-E1CBF2A7EB21}"/>
                </a:ext>
              </a:extLst>
            </p:cNvPr>
            <p:cNvCxnSpPr/>
            <p:nvPr/>
          </p:nvCxnSpPr>
          <p:spPr>
            <a:xfrm>
              <a:off x="2420831" y="2716886"/>
              <a:ext cx="519369" cy="86714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A38FB28B-2250-2DCE-12DB-C9F97D90FD80}"/>
                </a:ext>
              </a:extLst>
            </p:cNvPr>
            <p:cNvCxnSpPr/>
            <p:nvPr/>
          </p:nvCxnSpPr>
          <p:spPr>
            <a:xfrm>
              <a:off x="1398823" y="2886304"/>
              <a:ext cx="534956" cy="6946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68BFFDBD-1D7B-A747-33C2-374090485613}"/>
                </a:ext>
              </a:extLst>
            </p:cNvPr>
            <p:cNvCxnSpPr/>
            <p:nvPr/>
          </p:nvCxnSpPr>
          <p:spPr>
            <a:xfrm>
              <a:off x="1577199" y="3060673"/>
              <a:ext cx="606107" cy="0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07F334F-4374-2675-D052-AC7C24F60032}"/>
              </a:ext>
            </a:extLst>
          </p:cNvPr>
          <p:cNvCxnSpPr/>
          <p:nvPr/>
        </p:nvCxnSpPr>
        <p:spPr>
          <a:xfrm>
            <a:off x="3886200" y="3518114"/>
            <a:ext cx="3362335" cy="0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57CB8DA1-144E-7C66-7325-823C6977D1A4}"/>
              </a:ext>
            </a:extLst>
          </p:cNvPr>
          <p:cNvSpPr/>
          <p:nvPr/>
        </p:nvSpPr>
        <p:spPr>
          <a:xfrm>
            <a:off x="3886200" y="3241439"/>
            <a:ext cx="142481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+mj-lt"/>
              </a:rPr>
              <a:t>Microbial genome 1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68CBFC3-D64D-E897-E2AB-86B242BC2D0D}"/>
              </a:ext>
            </a:extLst>
          </p:cNvPr>
          <p:cNvCxnSpPr/>
          <p:nvPr/>
        </p:nvCxnSpPr>
        <p:spPr>
          <a:xfrm>
            <a:off x="3886200" y="4008492"/>
            <a:ext cx="3090603" cy="1742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17EBA4BD-6155-F097-4CB8-5D22FCE4BE1C}"/>
              </a:ext>
            </a:extLst>
          </p:cNvPr>
          <p:cNvSpPr/>
          <p:nvPr/>
        </p:nvSpPr>
        <p:spPr>
          <a:xfrm>
            <a:off x="3886200" y="3717412"/>
            <a:ext cx="14328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+mj-lt"/>
              </a:rPr>
              <a:t>Microbial genome 2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C95A8F1-1C51-D3F9-33B9-950FA4460A65}"/>
              </a:ext>
            </a:extLst>
          </p:cNvPr>
          <p:cNvSpPr/>
          <p:nvPr/>
        </p:nvSpPr>
        <p:spPr>
          <a:xfrm rot="5400000">
            <a:off x="5347594" y="4198339"/>
            <a:ext cx="43954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+mj-lt"/>
              </a:rPr>
              <a:t>. . . </a:t>
            </a:r>
          </a:p>
        </p:txBody>
      </p:sp>
      <p:sp>
        <p:nvSpPr>
          <p:cNvPr id="4096" name="Rectangle 4095">
            <a:extLst>
              <a:ext uri="{FF2B5EF4-FFF2-40B4-BE49-F238E27FC236}">
                <a16:creationId xmlns:a16="http://schemas.microsoft.com/office/drawing/2014/main" id="{752773D1-EB2A-05B3-025C-29FCAEA556F8}"/>
              </a:ext>
            </a:extLst>
          </p:cNvPr>
          <p:cNvSpPr/>
          <p:nvPr/>
        </p:nvSpPr>
        <p:spPr>
          <a:xfrm>
            <a:off x="7229570" y="2661398"/>
            <a:ext cx="199063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ANI to something</a:t>
            </a:r>
          </a:p>
          <a:p>
            <a:r>
              <a:rPr lang="en-US" dirty="0"/>
              <a:t> in the sample</a:t>
            </a:r>
          </a:p>
        </p:txBody>
      </p:sp>
      <p:sp>
        <p:nvSpPr>
          <p:cNvPr id="4097" name="Rectangle 4096">
            <a:extLst>
              <a:ext uri="{FF2B5EF4-FFF2-40B4-BE49-F238E27FC236}">
                <a16:creationId xmlns:a16="http://schemas.microsoft.com/office/drawing/2014/main" id="{49FBA3D7-6EF6-B1D7-A019-1D126C6B4A41}"/>
              </a:ext>
            </a:extLst>
          </p:cNvPr>
          <p:cNvSpPr/>
          <p:nvPr/>
        </p:nvSpPr>
        <p:spPr>
          <a:xfrm>
            <a:off x="7316864" y="3256441"/>
            <a:ext cx="9017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0.97</a:t>
            </a:r>
          </a:p>
        </p:txBody>
      </p:sp>
      <p:sp>
        <p:nvSpPr>
          <p:cNvPr id="4098" name="Rectangle 4097">
            <a:extLst>
              <a:ext uri="{FF2B5EF4-FFF2-40B4-BE49-F238E27FC236}">
                <a16:creationId xmlns:a16="http://schemas.microsoft.com/office/drawing/2014/main" id="{96BB6144-8842-BD4F-8875-DC42BB7C98F1}"/>
              </a:ext>
            </a:extLst>
          </p:cNvPr>
          <p:cNvSpPr/>
          <p:nvPr/>
        </p:nvSpPr>
        <p:spPr>
          <a:xfrm>
            <a:off x="7316864" y="3754561"/>
            <a:ext cx="9017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0.92</a:t>
            </a:r>
          </a:p>
        </p:txBody>
      </p:sp>
      <p:sp>
        <p:nvSpPr>
          <p:cNvPr id="4100" name="Rectangle 4099">
            <a:extLst>
              <a:ext uri="{FF2B5EF4-FFF2-40B4-BE49-F238E27FC236}">
                <a16:creationId xmlns:a16="http://schemas.microsoft.com/office/drawing/2014/main" id="{1BECDB36-43C8-8DFB-7541-C9FFC727AB7B}"/>
              </a:ext>
            </a:extLst>
          </p:cNvPr>
          <p:cNvSpPr/>
          <p:nvPr/>
        </p:nvSpPr>
        <p:spPr>
          <a:xfrm>
            <a:off x="7958035" y="3248989"/>
            <a:ext cx="9842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in/out?</a:t>
            </a:r>
          </a:p>
        </p:txBody>
      </p:sp>
      <p:sp>
        <p:nvSpPr>
          <p:cNvPr id="4101" name="Rectangle 4100">
            <a:extLst>
              <a:ext uri="{FF2B5EF4-FFF2-40B4-BE49-F238E27FC236}">
                <a16:creationId xmlns:a16="http://schemas.microsoft.com/office/drawing/2014/main" id="{CE67646A-9514-B13B-77BA-CF5931F367A6}"/>
              </a:ext>
            </a:extLst>
          </p:cNvPr>
          <p:cNvSpPr/>
          <p:nvPr/>
        </p:nvSpPr>
        <p:spPr>
          <a:xfrm>
            <a:off x="7924800" y="3754561"/>
            <a:ext cx="9842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in/out?</a:t>
            </a:r>
          </a:p>
        </p:txBody>
      </p:sp>
      <p:sp>
        <p:nvSpPr>
          <p:cNvPr id="4102" name="Rectangle 4101">
            <a:extLst>
              <a:ext uri="{FF2B5EF4-FFF2-40B4-BE49-F238E27FC236}">
                <a16:creationId xmlns:a16="http://schemas.microsoft.com/office/drawing/2014/main" id="{59976634-AE6B-21D4-0FDC-6CD99770F1D1}"/>
              </a:ext>
            </a:extLst>
          </p:cNvPr>
          <p:cNvSpPr/>
          <p:nvPr/>
        </p:nvSpPr>
        <p:spPr>
          <a:xfrm>
            <a:off x="-1" y="4507468"/>
            <a:ext cx="71696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2. Reference genomes won’t always have 1X coverage in metagenome</a:t>
            </a:r>
          </a:p>
        </p:txBody>
      </p:sp>
      <p:cxnSp>
        <p:nvCxnSpPr>
          <p:cNvPr id="4103" name="Straight Connector 4102">
            <a:extLst>
              <a:ext uri="{FF2B5EF4-FFF2-40B4-BE49-F238E27FC236}">
                <a16:creationId xmlns:a16="http://schemas.microsoft.com/office/drawing/2014/main" id="{F4156B33-ABCA-A211-F630-DBE1B40E2423}"/>
              </a:ext>
            </a:extLst>
          </p:cNvPr>
          <p:cNvCxnSpPr/>
          <p:nvPr/>
        </p:nvCxnSpPr>
        <p:spPr>
          <a:xfrm>
            <a:off x="262197" y="5031965"/>
            <a:ext cx="3090603" cy="1742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04" name="Group 4103">
            <a:extLst>
              <a:ext uri="{FF2B5EF4-FFF2-40B4-BE49-F238E27FC236}">
                <a16:creationId xmlns:a16="http://schemas.microsoft.com/office/drawing/2014/main" id="{987F42AA-D3F5-80CF-B9B9-B827FB5468CB}"/>
              </a:ext>
            </a:extLst>
          </p:cNvPr>
          <p:cNvGrpSpPr/>
          <p:nvPr/>
        </p:nvGrpSpPr>
        <p:grpSpPr>
          <a:xfrm>
            <a:off x="262197" y="5251838"/>
            <a:ext cx="3125756" cy="212686"/>
            <a:chOff x="262197" y="4411787"/>
            <a:chExt cx="3125756" cy="212686"/>
          </a:xfrm>
        </p:grpSpPr>
        <p:cxnSp>
          <p:nvCxnSpPr>
            <p:cNvPr id="4105" name="Straight Connector 4104">
              <a:extLst>
                <a:ext uri="{FF2B5EF4-FFF2-40B4-BE49-F238E27FC236}">
                  <a16:creationId xmlns:a16="http://schemas.microsoft.com/office/drawing/2014/main" id="{1B033FCA-CC99-FF1C-0BF1-C1CA9966F453}"/>
                </a:ext>
              </a:extLst>
            </p:cNvPr>
            <p:cNvCxnSpPr/>
            <p:nvPr/>
          </p:nvCxnSpPr>
          <p:spPr>
            <a:xfrm>
              <a:off x="262197" y="4465127"/>
              <a:ext cx="534956" cy="6946"/>
            </a:xfrm>
            <a:prstGeom prst="line">
              <a:avLst/>
            </a:prstGeom>
            <a:ln w="57150" cmpd="sng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6" name="Straight Connector 4105">
              <a:extLst>
                <a:ext uri="{FF2B5EF4-FFF2-40B4-BE49-F238E27FC236}">
                  <a16:creationId xmlns:a16="http://schemas.microsoft.com/office/drawing/2014/main" id="{CB888B02-6759-FCF2-083B-828E15A57CF5}"/>
                </a:ext>
              </a:extLst>
            </p:cNvPr>
            <p:cNvCxnSpPr/>
            <p:nvPr/>
          </p:nvCxnSpPr>
          <p:spPr>
            <a:xfrm>
              <a:off x="422217" y="4617527"/>
              <a:ext cx="534956" cy="6946"/>
            </a:xfrm>
            <a:prstGeom prst="line">
              <a:avLst/>
            </a:prstGeom>
            <a:ln w="57150" cmpd="sng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7" name="Straight Connector 4106">
              <a:extLst>
                <a:ext uri="{FF2B5EF4-FFF2-40B4-BE49-F238E27FC236}">
                  <a16:creationId xmlns:a16="http://schemas.microsoft.com/office/drawing/2014/main" id="{00742379-69AB-B37D-E1A8-82A40B3ED7F1}"/>
                </a:ext>
              </a:extLst>
            </p:cNvPr>
            <p:cNvCxnSpPr/>
            <p:nvPr/>
          </p:nvCxnSpPr>
          <p:spPr>
            <a:xfrm>
              <a:off x="879417" y="4548947"/>
              <a:ext cx="534956" cy="6946"/>
            </a:xfrm>
            <a:prstGeom prst="line">
              <a:avLst/>
            </a:prstGeom>
            <a:ln w="57150" cmpd="sng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8" name="Straight Connector 4107">
              <a:extLst>
                <a:ext uri="{FF2B5EF4-FFF2-40B4-BE49-F238E27FC236}">
                  <a16:creationId xmlns:a16="http://schemas.microsoft.com/office/drawing/2014/main" id="{E82883F2-7BDC-AA53-6862-27293970C92D}"/>
                </a:ext>
              </a:extLst>
            </p:cNvPr>
            <p:cNvCxnSpPr/>
            <p:nvPr/>
          </p:nvCxnSpPr>
          <p:spPr>
            <a:xfrm>
              <a:off x="1450917" y="4617527"/>
              <a:ext cx="534956" cy="6946"/>
            </a:xfrm>
            <a:prstGeom prst="line">
              <a:avLst/>
            </a:prstGeom>
            <a:ln w="57150" cmpd="sng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9" name="Straight Connector 4108">
              <a:extLst>
                <a:ext uri="{FF2B5EF4-FFF2-40B4-BE49-F238E27FC236}">
                  <a16:creationId xmlns:a16="http://schemas.microsoft.com/office/drawing/2014/main" id="{0D95193A-C594-DD1A-5A06-EA4F604A8FFC}"/>
                </a:ext>
              </a:extLst>
            </p:cNvPr>
            <p:cNvCxnSpPr/>
            <p:nvPr/>
          </p:nvCxnSpPr>
          <p:spPr>
            <a:xfrm>
              <a:off x="1770957" y="4411787"/>
              <a:ext cx="534956" cy="6946"/>
            </a:xfrm>
            <a:prstGeom prst="line">
              <a:avLst/>
            </a:prstGeom>
            <a:ln w="57150" cmpd="sng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0" name="Straight Connector 4109">
              <a:extLst>
                <a:ext uri="{FF2B5EF4-FFF2-40B4-BE49-F238E27FC236}">
                  <a16:creationId xmlns:a16="http://schemas.microsoft.com/office/drawing/2014/main" id="{DC714425-C76E-A515-A60C-967D0E871EAD}"/>
                </a:ext>
              </a:extLst>
            </p:cNvPr>
            <p:cNvCxnSpPr/>
            <p:nvPr/>
          </p:nvCxnSpPr>
          <p:spPr>
            <a:xfrm>
              <a:off x="2190057" y="4617527"/>
              <a:ext cx="534956" cy="6946"/>
            </a:xfrm>
            <a:prstGeom prst="line">
              <a:avLst/>
            </a:prstGeom>
            <a:ln w="57150" cmpd="sng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1" name="Straight Connector 4110">
              <a:extLst>
                <a:ext uri="{FF2B5EF4-FFF2-40B4-BE49-F238E27FC236}">
                  <a16:creationId xmlns:a16="http://schemas.microsoft.com/office/drawing/2014/main" id="{9143EC38-5ED7-0733-D85A-B1CA8721EB76}"/>
                </a:ext>
              </a:extLst>
            </p:cNvPr>
            <p:cNvCxnSpPr/>
            <p:nvPr/>
          </p:nvCxnSpPr>
          <p:spPr>
            <a:xfrm>
              <a:off x="2593917" y="4427027"/>
              <a:ext cx="534956" cy="6946"/>
            </a:xfrm>
            <a:prstGeom prst="line">
              <a:avLst/>
            </a:prstGeom>
            <a:ln w="57150" cmpd="sng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2" name="Straight Connector 4111">
              <a:extLst>
                <a:ext uri="{FF2B5EF4-FFF2-40B4-BE49-F238E27FC236}">
                  <a16:creationId xmlns:a16="http://schemas.microsoft.com/office/drawing/2014/main" id="{90AF63F4-2249-6A03-A85F-5D2B077127F8}"/>
                </a:ext>
              </a:extLst>
            </p:cNvPr>
            <p:cNvCxnSpPr/>
            <p:nvPr/>
          </p:nvCxnSpPr>
          <p:spPr>
            <a:xfrm>
              <a:off x="2852997" y="4617527"/>
              <a:ext cx="534956" cy="6946"/>
            </a:xfrm>
            <a:prstGeom prst="line">
              <a:avLst/>
            </a:prstGeom>
            <a:ln w="57150" cmpd="sng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13" name="Rectangle 4112">
            <a:extLst>
              <a:ext uri="{FF2B5EF4-FFF2-40B4-BE49-F238E27FC236}">
                <a16:creationId xmlns:a16="http://schemas.microsoft.com/office/drawing/2014/main" id="{CE4F619E-96C7-932F-3DBB-74BC2CAF8E96}"/>
              </a:ext>
            </a:extLst>
          </p:cNvPr>
          <p:cNvSpPr/>
          <p:nvPr/>
        </p:nvSpPr>
        <p:spPr>
          <a:xfrm>
            <a:off x="1166484" y="5650468"/>
            <a:ext cx="13760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1X coverage</a:t>
            </a:r>
          </a:p>
        </p:txBody>
      </p:sp>
      <p:grpSp>
        <p:nvGrpSpPr>
          <p:cNvPr id="4114" name="Group 4113">
            <a:extLst>
              <a:ext uri="{FF2B5EF4-FFF2-40B4-BE49-F238E27FC236}">
                <a16:creationId xmlns:a16="http://schemas.microsoft.com/office/drawing/2014/main" id="{40B5EA42-0A38-8F31-82FF-05413DF14621}"/>
              </a:ext>
            </a:extLst>
          </p:cNvPr>
          <p:cNvGrpSpPr/>
          <p:nvPr/>
        </p:nvGrpSpPr>
        <p:grpSpPr>
          <a:xfrm>
            <a:off x="3846544" y="5031965"/>
            <a:ext cx="3125756" cy="987835"/>
            <a:chOff x="414597" y="4344314"/>
            <a:chExt cx="3125756" cy="987835"/>
          </a:xfrm>
        </p:grpSpPr>
        <p:cxnSp>
          <p:nvCxnSpPr>
            <p:cNvPr id="4115" name="Straight Connector 4114">
              <a:extLst>
                <a:ext uri="{FF2B5EF4-FFF2-40B4-BE49-F238E27FC236}">
                  <a16:creationId xmlns:a16="http://schemas.microsoft.com/office/drawing/2014/main" id="{D6F87110-C298-9507-7984-EB05F3FCDADE}"/>
                </a:ext>
              </a:extLst>
            </p:cNvPr>
            <p:cNvCxnSpPr/>
            <p:nvPr/>
          </p:nvCxnSpPr>
          <p:spPr>
            <a:xfrm>
              <a:off x="414597" y="4344314"/>
              <a:ext cx="3090603" cy="1742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6" name="Straight Connector 4115">
              <a:extLst>
                <a:ext uri="{FF2B5EF4-FFF2-40B4-BE49-F238E27FC236}">
                  <a16:creationId xmlns:a16="http://schemas.microsoft.com/office/drawing/2014/main" id="{16457FB3-763D-CE1F-3C27-3331EFF0D3E6}"/>
                </a:ext>
              </a:extLst>
            </p:cNvPr>
            <p:cNvCxnSpPr/>
            <p:nvPr/>
          </p:nvCxnSpPr>
          <p:spPr>
            <a:xfrm>
              <a:off x="414597" y="4617527"/>
              <a:ext cx="534956" cy="6946"/>
            </a:xfrm>
            <a:prstGeom prst="line">
              <a:avLst/>
            </a:prstGeom>
            <a:ln w="57150" cmpd="sng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7" name="Straight Connector 4116">
              <a:extLst>
                <a:ext uri="{FF2B5EF4-FFF2-40B4-BE49-F238E27FC236}">
                  <a16:creationId xmlns:a16="http://schemas.microsoft.com/office/drawing/2014/main" id="{11806DA1-7CE6-3BA9-C2B8-C3257449E874}"/>
                </a:ext>
              </a:extLst>
            </p:cNvPr>
            <p:cNvCxnSpPr/>
            <p:nvPr/>
          </p:nvCxnSpPr>
          <p:spPr>
            <a:xfrm>
              <a:off x="574617" y="4769927"/>
              <a:ext cx="534956" cy="6946"/>
            </a:xfrm>
            <a:prstGeom prst="line">
              <a:avLst/>
            </a:prstGeom>
            <a:ln w="57150" cmpd="sng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8" name="Straight Connector 4117">
              <a:extLst>
                <a:ext uri="{FF2B5EF4-FFF2-40B4-BE49-F238E27FC236}">
                  <a16:creationId xmlns:a16="http://schemas.microsoft.com/office/drawing/2014/main" id="{86DAB382-BE3F-71E9-DCAA-99F30656F7F1}"/>
                </a:ext>
              </a:extLst>
            </p:cNvPr>
            <p:cNvCxnSpPr/>
            <p:nvPr/>
          </p:nvCxnSpPr>
          <p:spPr>
            <a:xfrm>
              <a:off x="1603317" y="4769927"/>
              <a:ext cx="534956" cy="6946"/>
            </a:xfrm>
            <a:prstGeom prst="line">
              <a:avLst/>
            </a:prstGeom>
            <a:ln w="57150" cmpd="sng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9" name="Straight Connector 4118">
              <a:extLst>
                <a:ext uri="{FF2B5EF4-FFF2-40B4-BE49-F238E27FC236}">
                  <a16:creationId xmlns:a16="http://schemas.microsoft.com/office/drawing/2014/main" id="{7F5605AB-0F02-11A8-9FDC-F4F6436C9AB9}"/>
                </a:ext>
              </a:extLst>
            </p:cNvPr>
            <p:cNvCxnSpPr/>
            <p:nvPr/>
          </p:nvCxnSpPr>
          <p:spPr>
            <a:xfrm>
              <a:off x="1923357" y="4564187"/>
              <a:ext cx="534956" cy="6946"/>
            </a:xfrm>
            <a:prstGeom prst="line">
              <a:avLst/>
            </a:prstGeom>
            <a:ln w="57150" cmpd="sng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0" name="Straight Connector 4119">
              <a:extLst>
                <a:ext uri="{FF2B5EF4-FFF2-40B4-BE49-F238E27FC236}">
                  <a16:creationId xmlns:a16="http://schemas.microsoft.com/office/drawing/2014/main" id="{5A38AB4D-B6BD-2145-2C24-15BBA83E563C}"/>
                </a:ext>
              </a:extLst>
            </p:cNvPr>
            <p:cNvCxnSpPr/>
            <p:nvPr/>
          </p:nvCxnSpPr>
          <p:spPr>
            <a:xfrm>
              <a:off x="3005397" y="4769927"/>
              <a:ext cx="534956" cy="6946"/>
            </a:xfrm>
            <a:prstGeom prst="line">
              <a:avLst/>
            </a:prstGeom>
            <a:ln w="57150" cmpd="sng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21" name="Rectangle 4120">
              <a:extLst>
                <a:ext uri="{FF2B5EF4-FFF2-40B4-BE49-F238E27FC236}">
                  <a16:creationId xmlns:a16="http://schemas.microsoft.com/office/drawing/2014/main" id="{6B332BE7-D56A-D464-7A94-A919D851119F}"/>
                </a:ext>
              </a:extLst>
            </p:cNvPr>
            <p:cNvSpPr/>
            <p:nvPr/>
          </p:nvSpPr>
          <p:spPr>
            <a:xfrm>
              <a:off x="1318883" y="4962817"/>
              <a:ext cx="155852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/>
                <a:t>0.5X coverage</a:t>
              </a:r>
            </a:p>
          </p:txBody>
        </p:sp>
      </p:grpSp>
      <p:sp>
        <p:nvSpPr>
          <p:cNvPr id="4122" name="AutoShape 3" descr=" 4099">
            <a:extLst>
              <a:ext uri="{FF2B5EF4-FFF2-40B4-BE49-F238E27FC236}">
                <a16:creationId xmlns:a16="http://schemas.microsoft.com/office/drawing/2014/main" id="{C2D55855-7093-D6DB-2828-5D2B143E9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6019094"/>
            <a:ext cx="1376098" cy="430949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800" dirty="0">
                <a:solidFill>
                  <a:srgbClr val="000000"/>
                </a:solidFill>
              </a:rPr>
              <a:t>Desire</a:t>
            </a:r>
          </a:p>
        </p:txBody>
      </p:sp>
      <p:sp>
        <p:nvSpPr>
          <p:cNvPr id="4123" name="Rectangle 4122">
            <a:extLst>
              <a:ext uri="{FF2B5EF4-FFF2-40B4-BE49-F238E27FC236}">
                <a16:creationId xmlns:a16="http://schemas.microsoft.com/office/drawing/2014/main" id="{4724E2BE-2E80-DA30-044B-B1D67E2A29A2}"/>
              </a:ext>
            </a:extLst>
          </p:cNvPr>
          <p:cNvSpPr/>
          <p:nvPr/>
        </p:nvSpPr>
        <p:spPr>
          <a:xfrm>
            <a:off x="-1" y="6488668"/>
            <a:ext cx="989838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Statistical test to say a genome is in or out of a sample based on coverage and ANI to reference </a:t>
            </a:r>
          </a:p>
        </p:txBody>
      </p:sp>
      <p:sp>
        <p:nvSpPr>
          <p:cNvPr id="4125" name="AutoShape 2" descr=" 4098">
            <a:extLst>
              <a:ext uri="{FF2B5EF4-FFF2-40B4-BE49-F238E27FC236}">
                <a16:creationId xmlns:a16="http://schemas.microsoft.com/office/drawing/2014/main" id="{0288EF91-4693-E6A5-7964-62D537602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672860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YACHT</a:t>
            </a:r>
          </a:p>
        </p:txBody>
      </p:sp>
      <p:sp>
        <p:nvSpPr>
          <p:cNvPr id="2" name="AutoShape 3" descr=" 4099">
            <a:extLst>
              <a:ext uri="{FF2B5EF4-FFF2-40B4-BE49-F238E27FC236}">
                <a16:creationId xmlns:a16="http://schemas.microsoft.com/office/drawing/2014/main" id="{677AC8C2-8A38-6E0B-D74D-41EC00FC0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685800"/>
            <a:ext cx="685801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ANI: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C125AB-FFF3-E87A-6422-3F9AA1E03F18}"/>
              </a:ext>
            </a:extLst>
          </p:cNvPr>
          <p:cNvSpPr/>
          <p:nvPr/>
        </p:nvSpPr>
        <p:spPr>
          <a:xfrm>
            <a:off x="0" y="1137242"/>
            <a:ext cx="57332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Ratio of matching vs. all characters in aligned pair of strings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CB2BF2-88FD-59D9-6393-05572ED25909}"/>
              </a:ext>
            </a:extLst>
          </p:cNvPr>
          <p:cNvSpPr/>
          <p:nvPr/>
        </p:nvSpPr>
        <p:spPr>
          <a:xfrm>
            <a:off x="685800" y="740609"/>
            <a:ext cx="27966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Average Nucleotide Identity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E06D34-3E8E-369D-649E-B57497F25BFF}"/>
              </a:ext>
            </a:extLst>
          </p:cNvPr>
          <p:cNvSpPr txBox="1"/>
          <p:nvPr/>
        </p:nvSpPr>
        <p:spPr>
          <a:xfrm>
            <a:off x="1314713" y="1577662"/>
            <a:ext cx="22666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TCCGGAGGGGCAATT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8C3257-8418-3989-0032-4C086951E76C}"/>
              </a:ext>
            </a:extLst>
          </p:cNvPr>
          <p:cNvSpPr txBox="1"/>
          <p:nvPr/>
        </p:nvSpPr>
        <p:spPr>
          <a:xfrm>
            <a:off x="1314713" y="1773350"/>
            <a:ext cx="22666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TC</a:t>
            </a:r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GGAGGGGC</a:t>
            </a:r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ATT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FFDE59-7F33-BFF2-2CEB-1DEB57088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8197" y="1665599"/>
            <a:ext cx="738770" cy="36113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269DE01-7B1D-6109-415E-00EC502BDD5A}"/>
              </a:ext>
            </a:extLst>
          </p:cNvPr>
          <p:cNvSpPr/>
          <p:nvPr/>
        </p:nvSpPr>
        <p:spPr>
          <a:xfrm>
            <a:off x="543002" y="1640169"/>
            <a:ext cx="5237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E.g.</a:t>
            </a:r>
          </a:p>
        </p:txBody>
      </p:sp>
      <p:pic>
        <p:nvPicPr>
          <p:cNvPr id="9" name="Picture 2" descr="Fig. 3">
            <a:extLst>
              <a:ext uri="{FF2B5EF4-FFF2-40B4-BE49-F238E27FC236}">
                <a16:creationId xmlns:a16="http://schemas.microsoft.com/office/drawing/2014/main" id="{7F92BEDD-7249-1750-3A46-7C6824CA76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67" t="7357"/>
          <a:stretch/>
        </p:blipFill>
        <p:spPr bwMode="auto">
          <a:xfrm>
            <a:off x="457200" y="2303206"/>
            <a:ext cx="4991310" cy="294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utoShape 3" descr=" 4099">
            <a:extLst>
              <a:ext uri="{FF2B5EF4-FFF2-40B4-BE49-F238E27FC236}">
                <a16:creationId xmlns:a16="http://schemas.microsoft.com/office/drawing/2014/main" id="{EB101765-A510-3016-2FB9-566300F1B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3347" y="5010912"/>
            <a:ext cx="1752600" cy="47548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1400" dirty="0">
                <a:latin typeface="+mj-lt"/>
              </a:rPr>
              <a:t>ANI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155324-80E9-DE76-C875-93553AD9A8A3}"/>
              </a:ext>
            </a:extLst>
          </p:cNvPr>
          <p:cNvSpPr txBox="1"/>
          <p:nvPr/>
        </p:nvSpPr>
        <p:spPr>
          <a:xfrm>
            <a:off x="1424656" y="5383649"/>
            <a:ext cx="40490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222222"/>
                </a:solidFill>
                <a:effectLst/>
                <a:latin typeface="-apple-system"/>
              </a:rPr>
              <a:t>Jain, C., Rodriguez-R, L.M., Phillippy, A.M. 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-apple-system"/>
              </a:rPr>
              <a:t>et al.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-apple-system"/>
              </a:rPr>
              <a:t> High throughput ANI analysis of 90K prokaryotic genomes reveals clear species boundaries. 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-apple-system"/>
              </a:rPr>
              <a:t>Nat Commun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-apple-system"/>
              </a:rPr>
              <a:t> </a:t>
            </a:r>
            <a:r>
              <a:rPr lang="en-US" sz="1200" b="1" i="0" dirty="0">
                <a:solidFill>
                  <a:srgbClr val="222222"/>
                </a:solidFill>
                <a:effectLst/>
                <a:latin typeface="-apple-system"/>
              </a:rPr>
              <a:t>9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-apple-system"/>
              </a:rPr>
              <a:t>, 5114 (2018). https://</a:t>
            </a:r>
            <a:r>
              <a:rPr lang="en-US" sz="1200" b="0" i="0" dirty="0" err="1">
                <a:solidFill>
                  <a:srgbClr val="222222"/>
                </a:solidFill>
                <a:effectLst/>
                <a:latin typeface="-apple-system"/>
              </a:rPr>
              <a:t>doi.org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-apple-system"/>
              </a:rPr>
              <a:t>/10.1038/s41467-018-07641-9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162270930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/>
      <p:bldP spid="60" grpId="0"/>
      <p:bldP spid="62" grpId="0"/>
      <p:bldP spid="63" grpId="0"/>
      <p:bldP spid="4096" grpId="0"/>
      <p:bldP spid="4097" grpId="0"/>
      <p:bldP spid="4098" grpId="0"/>
      <p:bldP spid="4100" grpId="0"/>
      <p:bldP spid="4101" grpId="0"/>
      <p:bldP spid="4102" grpId="0"/>
      <p:bldP spid="4113" grpId="0"/>
      <p:bldP spid="4122" grpId="0" animBg="1"/>
      <p:bldP spid="4123" grpId="0"/>
      <p:bldP spid="3" grpId="0"/>
      <p:bldP spid="4" grpId="0"/>
      <p:bldP spid="5" grpId="0"/>
      <p:bldP spid="6" grpId="0"/>
      <p:bldP spid="8" grpId="0"/>
      <p:bldP spid="10" grpId="0" animBg="1"/>
      <p:bldP spid="10" grpId="1" animBg="1"/>
      <p:bldP spid="13" grpId="0"/>
      <p:bldP spid="13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8" name="Picture 4147">
            <a:extLst>
              <a:ext uri="{FF2B5EF4-FFF2-40B4-BE49-F238E27FC236}">
                <a16:creationId xmlns:a16="http://schemas.microsoft.com/office/drawing/2014/main" id="{00E98E2F-AE35-5714-5C4A-D3EF61F7D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011" y="4114800"/>
            <a:ext cx="7094789" cy="2739831"/>
          </a:xfrm>
          <a:prstGeom prst="rect">
            <a:avLst/>
          </a:prstGeom>
        </p:spPr>
      </p:pic>
      <p:sp>
        <p:nvSpPr>
          <p:cNvPr id="11" name="AutoShape 3" descr=" 4099">
            <a:extLst>
              <a:ext uri="{FF2B5EF4-FFF2-40B4-BE49-F238E27FC236}">
                <a16:creationId xmlns:a16="http://schemas.microsoft.com/office/drawing/2014/main" id="{E6CEC4CA-407F-2B89-E3AA-5B9BAE529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1" y="885726"/>
            <a:ext cx="1664880" cy="430949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800" dirty="0">
                <a:solidFill>
                  <a:srgbClr val="000000"/>
                </a:solidFill>
              </a:rPr>
              <a:t>YACHT test</a:t>
            </a:r>
          </a:p>
        </p:txBody>
      </p:sp>
      <p:sp>
        <p:nvSpPr>
          <p:cNvPr id="4125" name="AutoShape 2" descr=" 4098">
            <a:extLst>
              <a:ext uri="{FF2B5EF4-FFF2-40B4-BE49-F238E27FC236}">
                <a16:creationId xmlns:a16="http://schemas.microsoft.com/office/drawing/2014/main" id="{0288EF91-4693-E6A5-7964-62D537602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672860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YACHT</a:t>
            </a:r>
          </a:p>
        </p:txBody>
      </p:sp>
      <p:sp>
        <p:nvSpPr>
          <p:cNvPr id="4126" name="TextBox 4125">
            <a:extLst>
              <a:ext uri="{FF2B5EF4-FFF2-40B4-BE49-F238E27FC236}">
                <a16:creationId xmlns:a16="http://schemas.microsoft.com/office/drawing/2014/main" id="{540C01FA-0D7E-6F3B-D85D-44CC047A2B71}"/>
              </a:ext>
            </a:extLst>
          </p:cNvPr>
          <p:cNvSpPr txBox="1"/>
          <p:nvPr/>
        </p:nvSpPr>
        <p:spPr>
          <a:xfrm>
            <a:off x="0" y="1524000"/>
            <a:ext cx="923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Given: </a:t>
            </a:r>
          </a:p>
        </p:txBody>
      </p:sp>
      <p:sp>
        <p:nvSpPr>
          <p:cNvPr id="4127" name="TextBox 4126">
            <a:extLst>
              <a:ext uri="{FF2B5EF4-FFF2-40B4-BE49-F238E27FC236}">
                <a16:creationId xmlns:a16="http://schemas.microsoft.com/office/drawing/2014/main" id="{76F60D9C-83EB-DD33-1D51-EFC7317321CE}"/>
              </a:ext>
            </a:extLst>
          </p:cNvPr>
          <p:cNvSpPr txBox="1"/>
          <p:nvPr/>
        </p:nvSpPr>
        <p:spPr>
          <a:xfrm>
            <a:off x="737235" y="1529563"/>
            <a:ext cx="6153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 Confidence value (say, 95%) </a:t>
            </a:r>
          </a:p>
        </p:txBody>
      </p:sp>
      <p:sp>
        <p:nvSpPr>
          <p:cNvPr id="4128" name="TextBox 4127">
            <a:extLst>
              <a:ext uri="{FF2B5EF4-FFF2-40B4-BE49-F238E27FC236}">
                <a16:creationId xmlns:a16="http://schemas.microsoft.com/office/drawing/2014/main" id="{57D7A738-8043-4630-7EF3-659088EC3FF1}"/>
              </a:ext>
            </a:extLst>
          </p:cNvPr>
          <p:cNvSpPr txBox="1"/>
          <p:nvPr/>
        </p:nvSpPr>
        <p:spPr>
          <a:xfrm>
            <a:off x="737235" y="1891366"/>
            <a:ext cx="6153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2. Desired false negative rate </a:t>
            </a:r>
          </a:p>
        </p:txBody>
      </p:sp>
      <p:sp>
        <p:nvSpPr>
          <p:cNvPr id="4129" name="TextBox 4128">
            <a:extLst>
              <a:ext uri="{FF2B5EF4-FFF2-40B4-BE49-F238E27FC236}">
                <a16:creationId xmlns:a16="http://schemas.microsoft.com/office/drawing/2014/main" id="{5405C023-091F-C092-9112-34B8D8E608EE}"/>
              </a:ext>
            </a:extLst>
          </p:cNvPr>
          <p:cNvSpPr txBox="1"/>
          <p:nvPr/>
        </p:nvSpPr>
        <p:spPr>
          <a:xfrm>
            <a:off x="737235" y="2253169"/>
            <a:ext cx="6153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3. What % ANI means “same genome”</a:t>
            </a:r>
          </a:p>
        </p:txBody>
      </p:sp>
      <p:sp>
        <p:nvSpPr>
          <p:cNvPr id="4130" name="TextBox 4129">
            <a:extLst>
              <a:ext uri="{FF2B5EF4-FFF2-40B4-BE49-F238E27FC236}">
                <a16:creationId xmlns:a16="http://schemas.microsoft.com/office/drawing/2014/main" id="{D2D1A009-6012-FB3D-3F1C-9AF38F0C5EEF}"/>
              </a:ext>
            </a:extLst>
          </p:cNvPr>
          <p:cNvSpPr txBox="1"/>
          <p:nvPr/>
        </p:nvSpPr>
        <p:spPr>
          <a:xfrm>
            <a:off x="737235" y="2614971"/>
            <a:ext cx="6153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4. What coverage X means “in sample”</a:t>
            </a:r>
          </a:p>
        </p:txBody>
      </p:sp>
      <p:sp>
        <p:nvSpPr>
          <p:cNvPr id="4131" name="TextBox 4130">
            <a:extLst>
              <a:ext uri="{FF2B5EF4-FFF2-40B4-BE49-F238E27FC236}">
                <a16:creationId xmlns:a16="http://schemas.microsoft.com/office/drawing/2014/main" id="{8D126B41-6461-ED01-D3E5-253B69EF7C1E}"/>
              </a:ext>
            </a:extLst>
          </p:cNvPr>
          <p:cNvSpPr txBox="1"/>
          <p:nvPr/>
        </p:nvSpPr>
        <p:spPr>
          <a:xfrm>
            <a:off x="0" y="3048000"/>
            <a:ext cx="2019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YACHT tells you: </a:t>
            </a:r>
          </a:p>
        </p:txBody>
      </p:sp>
      <p:grpSp>
        <p:nvGrpSpPr>
          <p:cNvPr id="4132" name="Group 4131">
            <a:extLst>
              <a:ext uri="{FF2B5EF4-FFF2-40B4-BE49-F238E27FC236}">
                <a16:creationId xmlns:a16="http://schemas.microsoft.com/office/drawing/2014/main" id="{DAE8EF4C-0B7B-9F70-CC51-819B0D0A6080}"/>
              </a:ext>
            </a:extLst>
          </p:cNvPr>
          <p:cNvGrpSpPr/>
          <p:nvPr/>
        </p:nvGrpSpPr>
        <p:grpSpPr>
          <a:xfrm>
            <a:off x="5223332" y="990600"/>
            <a:ext cx="3844468" cy="2201870"/>
            <a:chOff x="7173955" y="1984088"/>
            <a:chExt cx="3844468" cy="2201870"/>
          </a:xfrm>
        </p:grpSpPr>
        <p:pic>
          <p:nvPicPr>
            <p:cNvPr id="4133" name="Picture 4132">
              <a:extLst>
                <a:ext uri="{FF2B5EF4-FFF2-40B4-BE49-F238E27FC236}">
                  <a16:creationId xmlns:a16="http://schemas.microsoft.com/office/drawing/2014/main" id="{5058AB47-B6B6-A09D-4910-5A7B57F2C21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17168"/>
            <a:stretch/>
          </p:blipFill>
          <p:spPr>
            <a:xfrm>
              <a:off x="7173955" y="2090166"/>
              <a:ext cx="3787603" cy="2095792"/>
            </a:xfrm>
            <a:prstGeom prst="rect">
              <a:avLst/>
            </a:prstGeom>
          </p:spPr>
        </p:pic>
        <p:cxnSp>
          <p:nvCxnSpPr>
            <p:cNvPr id="4134" name="Straight Connector 4133">
              <a:extLst>
                <a:ext uri="{FF2B5EF4-FFF2-40B4-BE49-F238E27FC236}">
                  <a16:creationId xmlns:a16="http://schemas.microsoft.com/office/drawing/2014/main" id="{C86F95D1-6E3E-45F0-6BC9-4E64C59AA9A9}"/>
                </a:ext>
              </a:extLst>
            </p:cNvPr>
            <p:cNvCxnSpPr/>
            <p:nvPr/>
          </p:nvCxnSpPr>
          <p:spPr>
            <a:xfrm>
              <a:off x="9921240" y="2090166"/>
              <a:ext cx="0" cy="2035916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35" name="Down Arrow 61">
              <a:extLst>
                <a:ext uri="{FF2B5EF4-FFF2-40B4-BE49-F238E27FC236}">
                  <a16:creationId xmlns:a16="http://schemas.microsoft.com/office/drawing/2014/main" id="{73E48046-FB03-E782-8015-3FF139870D8E}"/>
                </a:ext>
              </a:extLst>
            </p:cNvPr>
            <p:cNvSpPr/>
            <p:nvPr/>
          </p:nvSpPr>
          <p:spPr>
            <a:xfrm rot="16200000">
              <a:off x="10252508" y="1952158"/>
              <a:ext cx="184938" cy="726592"/>
            </a:xfrm>
            <a:prstGeom prst="downArrow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36" name="Rectangle 4135">
              <a:extLst>
                <a:ext uri="{FF2B5EF4-FFF2-40B4-BE49-F238E27FC236}">
                  <a16:creationId xmlns:a16="http://schemas.microsoft.com/office/drawing/2014/main" id="{BB56F9A0-4EA4-315A-02DE-3BE13F384725}"/>
                </a:ext>
              </a:extLst>
            </p:cNvPr>
            <p:cNvSpPr/>
            <p:nvPr/>
          </p:nvSpPr>
          <p:spPr>
            <a:xfrm>
              <a:off x="9864966" y="1984088"/>
              <a:ext cx="1153457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>
                  <a:latin typeface="+mj-lt"/>
                </a:rPr>
                <a:t>Ignore all this</a:t>
              </a:r>
              <a:endParaRPr lang="en-US" sz="1600" dirty="0">
                <a:latin typeface="+mj-lt"/>
              </a:endParaRPr>
            </a:p>
          </p:txBody>
        </p:sp>
        <p:pic>
          <p:nvPicPr>
            <p:cNvPr id="4137" name="Picture 6">
              <a:extLst>
                <a:ext uri="{FF2B5EF4-FFF2-40B4-BE49-F238E27FC236}">
                  <a16:creationId xmlns:a16="http://schemas.microsoft.com/office/drawing/2014/main" id="{B34B7D9A-95BD-D357-E093-DEFBAD7C07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12479" y="2152829"/>
              <a:ext cx="1973253" cy="19732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138" name="Group 4137">
            <a:extLst>
              <a:ext uri="{FF2B5EF4-FFF2-40B4-BE49-F238E27FC236}">
                <a16:creationId xmlns:a16="http://schemas.microsoft.com/office/drawing/2014/main" id="{7FA724DE-AB69-D350-D1AD-1571683ED37C}"/>
              </a:ext>
            </a:extLst>
          </p:cNvPr>
          <p:cNvGrpSpPr/>
          <p:nvPr/>
        </p:nvGrpSpPr>
        <p:grpSpPr>
          <a:xfrm>
            <a:off x="5280197" y="3349267"/>
            <a:ext cx="3787603" cy="2580084"/>
            <a:chOff x="7174780" y="4277916"/>
            <a:chExt cx="3787603" cy="2580084"/>
          </a:xfrm>
        </p:grpSpPr>
        <p:pic>
          <p:nvPicPr>
            <p:cNvPr id="4139" name="Picture 4138">
              <a:extLst>
                <a:ext uri="{FF2B5EF4-FFF2-40B4-BE49-F238E27FC236}">
                  <a16:creationId xmlns:a16="http://schemas.microsoft.com/office/drawing/2014/main" id="{23858AE4-F7E0-2531-D42E-F0DF206FBB7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17168"/>
            <a:stretch/>
          </p:blipFill>
          <p:spPr>
            <a:xfrm>
              <a:off x="7174780" y="4277916"/>
              <a:ext cx="3787603" cy="2095792"/>
            </a:xfrm>
            <a:prstGeom prst="rect">
              <a:avLst/>
            </a:prstGeom>
          </p:spPr>
        </p:pic>
        <p:cxnSp>
          <p:nvCxnSpPr>
            <p:cNvPr id="4140" name="Straight Arrow Connector 4139">
              <a:extLst>
                <a:ext uri="{FF2B5EF4-FFF2-40B4-BE49-F238E27FC236}">
                  <a16:creationId xmlns:a16="http://schemas.microsoft.com/office/drawing/2014/main" id="{207FD977-C4A2-AF67-A3A9-D8D33E79A676}"/>
                </a:ext>
              </a:extLst>
            </p:cNvPr>
            <p:cNvCxnSpPr/>
            <p:nvPr/>
          </p:nvCxnSpPr>
          <p:spPr>
            <a:xfrm flipV="1">
              <a:off x="9753600" y="6362700"/>
              <a:ext cx="0" cy="21336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41" name="TextBox 4140">
              <a:extLst>
                <a:ext uri="{FF2B5EF4-FFF2-40B4-BE49-F238E27FC236}">
                  <a16:creationId xmlns:a16="http://schemas.microsoft.com/office/drawing/2014/main" id="{E817D560-E09B-7850-AC87-2904686F3F70}"/>
                </a:ext>
              </a:extLst>
            </p:cNvPr>
            <p:cNvSpPr txBox="1"/>
            <p:nvPr/>
          </p:nvSpPr>
          <p:spPr>
            <a:xfrm>
              <a:off x="8805648" y="6488668"/>
              <a:ext cx="21186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Enough evidence?</a:t>
              </a:r>
            </a:p>
          </p:txBody>
        </p:sp>
      </p:grpSp>
      <p:sp>
        <p:nvSpPr>
          <p:cNvPr id="4142" name="TextBox 4141">
            <a:extLst>
              <a:ext uri="{FF2B5EF4-FFF2-40B4-BE49-F238E27FC236}">
                <a16:creationId xmlns:a16="http://schemas.microsoft.com/office/drawing/2014/main" id="{533CFD8B-D103-F909-4F81-78267EF64A80}"/>
              </a:ext>
            </a:extLst>
          </p:cNvPr>
          <p:cNvSpPr txBox="1"/>
          <p:nvPr/>
        </p:nvSpPr>
        <p:spPr>
          <a:xfrm>
            <a:off x="7620" y="3455896"/>
            <a:ext cx="55797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Is there enough evidence (overlapping k-</a:t>
            </a:r>
            <a:r>
              <a:rPr lang="en-US" dirty="0" err="1"/>
              <a:t>mers</a:t>
            </a:r>
            <a:r>
              <a:rPr lang="en-US" dirty="0"/>
              <a:t>) to support the reference genome being “in” the sample.</a:t>
            </a:r>
          </a:p>
        </p:txBody>
      </p:sp>
      <p:sp>
        <p:nvSpPr>
          <p:cNvPr id="4149" name="Rectangle 4148">
            <a:extLst>
              <a:ext uri="{FF2B5EF4-FFF2-40B4-BE49-F238E27FC236}">
                <a16:creationId xmlns:a16="http://schemas.microsoft.com/office/drawing/2014/main" id="{CB55EE1E-A62F-01E4-35C5-76CBC868D68E}"/>
              </a:ext>
            </a:extLst>
          </p:cNvPr>
          <p:cNvSpPr/>
          <p:nvPr/>
        </p:nvSpPr>
        <p:spPr>
          <a:xfrm>
            <a:off x="1524000" y="5867400"/>
            <a:ext cx="29718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386017449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6" grpId="0"/>
      <p:bldP spid="4127" grpId="0"/>
      <p:bldP spid="4128" grpId="0"/>
      <p:bldP spid="4129" grpId="0"/>
      <p:bldP spid="4130" grpId="0"/>
      <p:bldP spid="4131" grpId="0"/>
      <p:bldP spid="4142" grpId="0"/>
      <p:bldP spid="414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AutoShape 3" descr=" 4099">
            <a:extLst>
              <a:ext uri="{FF2B5EF4-FFF2-40B4-BE49-F238E27FC236}">
                <a16:creationId xmlns:a16="http://schemas.microsoft.com/office/drawing/2014/main" id="{8016D77B-058F-E662-3FEC-B5CE02C82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01011"/>
            <a:ext cx="2446415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How does it work?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A242ED1-81CC-A5E3-01EC-7B859F31545A}"/>
              </a:ext>
            </a:extLst>
          </p:cNvPr>
          <p:cNvSpPr/>
          <p:nvPr/>
        </p:nvSpPr>
        <p:spPr>
          <a:xfrm>
            <a:off x="4614603" y="1520983"/>
            <a:ext cx="20323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Reference database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BDE6C99-FD8C-8581-14D5-195F1B386E40}"/>
              </a:ext>
            </a:extLst>
          </p:cNvPr>
          <p:cNvCxnSpPr>
            <a:cxnSpLocks/>
          </p:cNvCxnSpPr>
          <p:nvPr/>
        </p:nvCxnSpPr>
        <p:spPr>
          <a:xfrm>
            <a:off x="4419600" y="2222714"/>
            <a:ext cx="2862003" cy="324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7A766A23-81C3-9D84-DBA5-21054B23359A}"/>
              </a:ext>
            </a:extLst>
          </p:cNvPr>
          <p:cNvSpPr/>
          <p:nvPr/>
        </p:nvSpPr>
        <p:spPr>
          <a:xfrm>
            <a:off x="4419600" y="1946039"/>
            <a:ext cx="15258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+mj-lt"/>
              </a:rPr>
              <a:t>(Microbial) genome 1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A643FDC-4CA9-3EEE-2B5B-2A5AC9D883A7}"/>
              </a:ext>
            </a:extLst>
          </p:cNvPr>
          <p:cNvCxnSpPr>
            <a:cxnSpLocks/>
          </p:cNvCxnSpPr>
          <p:nvPr/>
        </p:nvCxnSpPr>
        <p:spPr>
          <a:xfrm>
            <a:off x="4419600" y="2713092"/>
            <a:ext cx="2700679" cy="0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1C4B8B5D-EFA2-255A-16F6-755C74EC1791}"/>
              </a:ext>
            </a:extLst>
          </p:cNvPr>
          <p:cNvSpPr/>
          <p:nvPr/>
        </p:nvSpPr>
        <p:spPr>
          <a:xfrm>
            <a:off x="4419600" y="2422012"/>
            <a:ext cx="15258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+mj-lt"/>
              </a:rPr>
              <a:t>(Microbial) genome 2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7A51C09-FB0A-F632-C44B-4E549E753708}"/>
              </a:ext>
            </a:extLst>
          </p:cNvPr>
          <p:cNvSpPr/>
          <p:nvPr/>
        </p:nvSpPr>
        <p:spPr>
          <a:xfrm rot="5400000">
            <a:off x="5880994" y="2902939"/>
            <a:ext cx="43954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+mj-lt"/>
              </a:rPr>
              <a:t>. . .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DD54230-5147-E94F-9A0C-4A04D1F20814}"/>
              </a:ext>
            </a:extLst>
          </p:cNvPr>
          <p:cNvGrpSpPr/>
          <p:nvPr/>
        </p:nvGrpSpPr>
        <p:grpSpPr>
          <a:xfrm>
            <a:off x="623499" y="2021953"/>
            <a:ext cx="1935701" cy="1049313"/>
            <a:chOff x="623499" y="2021953"/>
            <a:chExt cx="1935701" cy="104931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C6BD00B-F04F-B34A-535D-4F32A0B13127}"/>
                </a:ext>
              </a:extLst>
            </p:cNvPr>
            <p:cNvSpPr/>
            <p:nvPr/>
          </p:nvSpPr>
          <p:spPr>
            <a:xfrm>
              <a:off x="1212173" y="2358533"/>
              <a:ext cx="68121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+mj-lt"/>
                </a:rPr>
                <a:t>Reads</a:t>
              </a:r>
            </a:p>
          </p:txBody>
        </p: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80C18911-1F42-285A-F2E9-26375CF85148}"/>
                </a:ext>
              </a:extLst>
            </p:cNvPr>
            <p:cNvCxnSpPr/>
            <p:nvPr/>
          </p:nvCxnSpPr>
          <p:spPr>
            <a:xfrm flipV="1">
              <a:off x="1087137" y="2021953"/>
              <a:ext cx="403940" cy="250053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C57E85F-5F3A-FE36-C8B6-2AC640EC584D}"/>
                </a:ext>
              </a:extLst>
            </p:cNvPr>
            <p:cNvCxnSpPr/>
            <p:nvPr/>
          </p:nvCxnSpPr>
          <p:spPr>
            <a:xfrm>
              <a:off x="860811" y="2272006"/>
              <a:ext cx="396484" cy="184919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4593C08-55DF-2BCD-A80A-7FFABAF746EF}"/>
                </a:ext>
              </a:extLst>
            </p:cNvPr>
            <p:cNvCxnSpPr/>
            <p:nvPr/>
          </p:nvCxnSpPr>
          <p:spPr>
            <a:xfrm>
              <a:off x="648722" y="2618633"/>
              <a:ext cx="369711" cy="186215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34C41C0-4D3B-D872-C3A8-2EDD2B3BD5DF}"/>
                </a:ext>
              </a:extLst>
            </p:cNvPr>
            <p:cNvCxnSpPr/>
            <p:nvPr/>
          </p:nvCxnSpPr>
          <p:spPr>
            <a:xfrm>
              <a:off x="781121" y="2456925"/>
              <a:ext cx="317002" cy="188031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852115F-C2E5-A33A-2363-BA7CF81B2421}"/>
                </a:ext>
              </a:extLst>
            </p:cNvPr>
            <p:cNvCxnSpPr/>
            <p:nvPr/>
          </p:nvCxnSpPr>
          <p:spPr>
            <a:xfrm>
              <a:off x="623499" y="2810848"/>
              <a:ext cx="463638" cy="260418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780E0E5-46CE-50EE-CD5D-C10A5A1016DF}"/>
                </a:ext>
              </a:extLst>
            </p:cNvPr>
            <p:cNvCxnSpPr/>
            <p:nvPr/>
          </p:nvCxnSpPr>
          <p:spPr>
            <a:xfrm>
              <a:off x="1337915" y="2681637"/>
              <a:ext cx="297355" cy="130209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E20673-F0F4-D160-81E4-3156D8E00122}"/>
                </a:ext>
              </a:extLst>
            </p:cNvPr>
            <p:cNvCxnSpPr/>
            <p:nvPr/>
          </p:nvCxnSpPr>
          <p:spPr>
            <a:xfrm>
              <a:off x="1635270" y="2633134"/>
              <a:ext cx="289514" cy="178712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AD47918-5852-C889-C67E-4CEA941FDA30}"/>
                </a:ext>
              </a:extLst>
            </p:cNvPr>
            <p:cNvCxnSpPr/>
            <p:nvPr/>
          </p:nvCxnSpPr>
          <p:spPr>
            <a:xfrm flipV="1">
              <a:off x="1363237" y="2180250"/>
              <a:ext cx="272033" cy="171728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2C9BFDF-04DE-3B94-D1ED-A92816186221}"/>
                </a:ext>
              </a:extLst>
            </p:cNvPr>
            <p:cNvCxnSpPr/>
            <p:nvPr/>
          </p:nvCxnSpPr>
          <p:spPr>
            <a:xfrm flipV="1">
              <a:off x="1924784" y="2424406"/>
              <a:ext cx="403940" cy="250053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4981113-1BDE-F877-70E7-5B4600F59AA7}"/>
                </a:ext>
              </a:extLst>
            </p:cNvPr>
            <p:cNvCxnSpPr/>
            <p:nvPr/>
          </p:nvCxnSpPr>
          <p:spPr>
            <a:xfrm flipV="1">
              <a:off x="1722814" y="2161334"/>
              <a:ext cx="403940" cy="250053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DEA2532-C51C-C2D2-0BCA-8412A4EA4C05}"/>
                </a:ext>
              </a:extLst>
            </p:cNvPr>
            <p:cNvCxnSpPr/>
            <p:nvPr/>
          </p:nvCxnSpPr>
          <p:spPr>
            <a:xfrm flipV="1">
              <a:off x="2027276" y="2180250"/>
              <a:ext cx="403940" cy="250053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40A4849-AD28-55FF-3525-463FDB0D8405}"/>
                </a:ext>
              </a:extLst>
            </p:cNvPr>
            <p:cNvCxnSpPr/>
            <p:nvPr/>
          </p:nvCxnSpPr>
          <p:spPr>
            <a:xfrm>
              <a:off x="2039831" y="2724134"/>
              <a:ext cx="519369" cy="86714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3E42B12-A1CC-3F99-A35A-D30D0F31981B}"/>
                </a:ext>
              </a:extLst>
            </p:cNvPr>
            <p:cNvCxnSpPr/>
            <p:nvPr/>
          </p:nvCxnSpPr>
          <p:spPr>
            <a:xfrm>
              <a:off x="1017823" y="2893552"/>
              <a:ext cx="534956" cy="6946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0FF2A67-9EF3-D380-35CF-49155FE4685B}"/>
                </a:ext>
              </a:extLst>
            </p:cNvPr>
            <p:cNvCxnSpPr/>
            <p:nvPr/>
          </p:nvCxnSpPr>
          <p:spPr>
            <a:xfrm>
              <a:off x="1196199" y="3067921"/>
              <a:ext cx="606107" cy="0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AFBFF776-C8F5-CB0E-1EE2-6C8B5741FD5D}"/>
              </a:ext>
            </a:extLst>
          </p:cNvPr>
          <p:cNvSpPr/>
          <p:nvPr/>
        </p:nvSpPr>
        <p:spPr>
          <a:xfrm>
            <a:off x="381000" y="1453288"/>
            <a:ext cx="2629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Raw (meta)genomic reads</a:t>
            </a:r>
          </a:p>
        </p:txBody>
      </p:sp>
      <p:sp>
        <p:nvSpPr>
          <p:cNvPr id="6" name="AutoShape 2" descr=" 4098">
            <a:extLst>
              <a:ext uri="{FF2B5EF4-FFF2-40B4-BE49-F238E27FC236}">
                <a16:creationId xmlns:a16="http://schemas.microsoft.com/office/drawing/2014/main" id="{AB8C11B8-4641-7FBF-BD4D-3A784FE8F1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672860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YACHT</a:t>
            </a:r>
          </a:p>
        </p:txBody>
      </p:sp>
    </p:spTree>
    <p:extLst>
      <p:ext uri="{BB962C8B-B14F-4D97-AF65-F5344CB8AC3E}">
        <p14:creationId xmlns:p14="http://schemas.microsoft.com/office/powerpoint/2010/main" val="3588397970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4" grpId="0"/>
      <p:bldP spid="38" grpId="0"/>
      <p:bldP spid="40" grpId="0"/>
      <p:bldP spid="4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0358FFC2-AE9F-D895-FC22-6991937F0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9527" y="3005327"/>
            <a:ext cx="804673" cy="804673"/>
          </a:xfrm>
          <a:prstGeom prst="rect">
            <a:avLst/>
          </a:prstGeom>
        </p:spPr>
      </p:pic>
      <p:sp>
        <p:nvSpPr>
          <p:cNvPr id="33" name="AutoShape 3" descr=" 4099">
            <a:extLst>
              <a:ext uri="{FF2B5EF4-FFF2-40B4-BE49-F238E27FC236}">
                <a16:creationId xmlns:a16="http://schemas.microsoft.com/office/drawing/2014/main" id="{8016D77B-058F-E662-3FEC-B5CE02C82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01011"/>
            <a:ext cx="2446415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How does it work?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A242ED1-81CC-A5E3-01EC-7B859F31545A}"/>
              </a:ext>
            </a:extLst>
          </p:cNvPr>
          <p:cNvSpPr/>
          <p:nvPr/>
        </p:nvSpPr>
        <p:spPr>
          <a:xfrm>
            <a:off x="4614603" y="1453288"/>
            <a:ext cx="2725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Reference database k-</a:t>
            </a:r>
            <a:r>
              <a:rPr lang="en-US" dirty="0" err="1">
                <a:latin typeface="+mj-lt"/>
              </a:rPr>
              <a:t>mers</a:t>
            </a:r>
            <a:endParaRPr lang="en-US" dirty="0">
              <a:latin typeface="+mj-l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A766A23-81C3-9D84-DBA5-21054B23359A}"/>
              </a:ext>
            </a:extLst>
          </p:cNvPr>
          <p:cNvSpPr/>
          <p:nvPr/>
        </p:nvSpPr>
        <p:spPr>
          <a:xfrm>
            <a:off x="4572000" y="2183706"/>
            <a:ext cx="15258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+mj-lt"/>
              </a:rPr>
              <a:t>(Microbial) genome 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C4B8B5D-EFA2-255A-16F6-755C74EC1791}"/>
              </a:ext>
            </a:extLst>
          </p:cNvPr>
          <p:cNvSpPr/>
          <p:nvPr/>
        </p:nvSpPr>
        <p:spPr>
          <a:xfrm>
            <a:off x="4572000" y="3174306"/>
            <a:ext cx="15258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+mj-lt"/>
              </a:rPr>
              <a:t>(Microbial) genome 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9F2901-39A4-3F99-9B1F-B7CD91717396}"/>
              </a:ext>
            </a:extLst>
          </p:cNvPr>
          <p:cNvSpPr/>
          <p:nvPr/>
        </p:nvSpPr>
        <p:spPr>
          <a:xfrm>
            <a:off x="655969" y="3880695"/>
            <a:ext cx="177147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+mj-lt"/>
              </a:rPr>
              <a:t>Set of </a:t>
            </a:r>
            <a:r>
              <a:rPr lang="en-US" sz="1400" i="1" dirty="0">
                <a:latin typeface="+mj-lt"/>
              </a:rPr>
              <a:t>k</a:t>
            </a:r>
            <a:r>
              <a:rPr lang="en-US" sz="1400" dirty="0">
                <a:latin typeface="+mj-lt"/>
              </a:rPr>
              <a:t>-length strings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805C26A-EF54-911C-4788-7BB1F9C587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3042" y="1933764"/>
            <a:ext cx="804673" cy="80467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5719288-B8A5-9C06-1FBA-08F9824E520D}"/>
              </a:ext>
            </a:extLst>
          </p:cNvPr>
          <p:cNvSpPr/>
          <p:nvPr/>
        </p:nvSpPr>
        <p:spPr>
          <a:xfrm rot="5400000">
            <a:off x="5893269" y="3946579"/>
            <a:ext cx="43954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+mj-lt"/>
              </a:rPr>
              <a:t>. . 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A66DDA-DABA-33FC-42EE-471AE896F6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789" y="1735904"/>
            <a:ext cx="2133601" cy="212915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60AB7A4-40C4-6FC5-EE1C-D00BB7DAC727}"/>
              </a:ext>
            </a:extLst>
          </p:cNvPr>
          <p:cNvSpPr/>
          <p:nvPr/>
        </p:nvSpPr>
        <p:spPr>
          <a:xfrm>
            <a:off x="-1" y="4612646"/>
            <a:ext cx="18651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Convert to k-</a:t>
            </a:r>
            <a:r>
              <a:rPr lang="en-US" dirty="0" err="1">
                <a:latin typeface="+mj-lt"/>
              </a:rPr>
              <a:t>mers</a:t>
            </a:r>
            <a:endParaRPr lang="en-US" baseline="30000" dirty="0">
              <a:latin typeface="+mj-lt"/>
            </a:endParaRPr>
          </a:p>
        </p:txBody>
      </p:sp>
      <p:sp>
        <p:nvSpPr>
          <p:cNvPr id="3" name="AutoShape 2" descr=" 4098">
            <a:extLst>
              <a:ext uri="{FF2B5EF4-FFF2-40B4-BE49-F238E27FC236}">
                <a16:creationId xmlns:a16="http://schemas.microsoft.com/office/drawing/2014/main" id="{55A349FB-7014-A9B2-AB7A-C66C8F197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672860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YACHT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3B8EE6-A343-1027-A4AD-3FD7903371FF}"/>
              </a:ext>
            </a:extLst>
          </p:cNvPr>
          <p:cNvSpPr/>
          <p:nvPr/>
        </p:nvSpPr>
        <p:spPr>
          <a:xfrm>
            <a:off x="381000" y="1453288"/>
            <a:ext cx="27555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Raw (meta)genomic k-</a:t>
            </a:r>
            <a:r>
              <a:rPr lang="en-US" dirty="0" err="1">
                <a:latin typeface="+mj-lt"/>
              </a:rPr>
              <a:t>mers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19394267"/>
      </p:ext>
    </p:extLst>
  </p:cSld>
  <p:clrMapOvr>
    <a:masterClrMapping/>
  </p:clrMapOvr>
  <p:transition spd="med"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0358FFC2-AE9F-D895-FC22-6991937F0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9527" y="3005327"/>
            <a:ext cx="804673" cy="804673"/>
          </a:xfrm>
          <a:prstGeom prst="rect">
            <a:avLst/>
          </a:prstGeom>
        </p:spPr>
      </p:pic>
      <p:sp>
        <p:nvSpPr>
          <p:cNvPr id="33" name="AutoShape 3" descr=" 4099">
            <a:extLst>
              <a:ext uri="{FF2B5EF4-FFF2-40B4-BE49-F238E27FC236}">
                <a16:creationId xmlns:a16="http://schemas.microsoft.com/office/drawing/2014/main" id="{8016D77B-058F-E662-3FEC-B5CE02C82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01011"/>
            <a:ext cx="2446415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How does it work?</a:t>
            </a:r>
          </a:p>
        </p:txBody>
      </p:sp>
      <p:sp>
        <p:nvSpPr>
          <p:cNvPr id="4130" name="Rectangle 4129">
            <a:extLst>
              <a:ext uri="{FF2B5EF4-FFF2-40B4-BE49-F238E27FC236}">
                <a16:creationId xmlns:a16="http://schemas.microsoft.com/office/drawing/2014/main" id="{6BC159A4-0504-17CA-81CF-7A45032FDE5F}"/>
              </a:ext>
            </a:extLst>
          </p:cNvPr>
          <p:cNvSpPr/>
          <p:nvPr/>
        </p:nvSpPr>
        <p:spPr>
          <a:xfrm>
            <a:off x="-1" y="4986402"/>
            <a:ext cx="19453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Subsample/sketch</a:t>
            </a:r>
            <a:endParaRPr lang="en-US" baseline="30000" dirty="0">
              <a:latin typeface="+mj-l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A766A23-81C3-9D84-DBA5-21054B23359A}"/>
              </a:ext>
            </a:extLst>
          </p:cNvPr>
          <p:cNvSpPr/>
          <p:nvPr/>
        </p:nvSpPr>
        <p:spPr>
          <a:xfrm>
            <a:off x="4572000" y="2183706"/>
            <a:ext cx="15258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+mj-lt"/>
              </a:rPr>
              <a:t>(Microbial) genome 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C4B8B5D-EFA2-255A-16F6-755C74EC1791}"/>
              </a:ext>
            </a:extLst>
          </p:cNvPr>
          <p:cNvSpPr/>
          <p:nvPr/>
        </p:nvSpPr>
        <p:spPr>
          <a:xfrm>
            <a:off x="4572000" y="3174306"/>
            <a:ext cx="15258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+mj-lt"/>
              </a:rPr>
              <a:t>(Microbial) genome 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9F2901-39A4-3F99-9B1F-B7CD91717396}"/>
              </a:ext>
            </a:extLst>
          </p:cNvPr>
          <p:cNvSpPr/>
          <p:nvPr/>
        </p:nvSpPr>
        <p:spPr>
          <a:xfrm>
            <a:off x="655969" y="3880695"/>
            <a:ext cx="177147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+mj-lt"/>
              </a:rPr>
              <a:t>Set of </a:t>
            </a:r>
            <a:r>
              <a:rPr lang="en-US" sz="1400" i="1" dirty="0">
                <a:latin typeface="+mj-lt"/>
              </a:rPr>
              <a:t>k</a:t>
            </a:r>
            <a:r>
              <a:rPr lang="en-US" sz="1400" dirty="0">
                <a:latin typeface="+mj-lt"/>
              </a:rPr>
              <a:t>-length strings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377B28-0400-8C59-0690-510D5EA20E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789" y="1735904"/>
            <a:ext cx="2133601" cy="21291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D2F21A8-FADC-684C-CCA1-BED4BBD3B1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789" y="1735904"/>
            <a:ext cx="2133602" cy="21291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544D421-5F73-F95C-8C67-51AA14C625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9527" y="3005327"/>
            <a:ext cx="804673" cy="80467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805C26A-EF54-911C-4788-7BB1F9C587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3042" y="1933764"/>
            <a:ext cx="804673" cy="80467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F66EF97-A9C3-655B-4A89-89C3F5989C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13042" y="1933764"/>
            <a:ext cx="804673" cy="804673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DA642544-4C02-D526-2F44-6CAC7CA2EAB5}"/>
              </a:ext>
            </a:extLst>
          </p:cNvPr>
          <p:cNvSpPr/>
          <p:nvPr/>
        </p:nvSpPr>
        <p:spPr>
          <a:xfrm>
            <a:off x="-1" y="4612646"/>
            <a:ext cx="18651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Convert to k-</a:t>
            </a:r>
            <a:r>
              <a:rPr lang="en-US" dirty="0" err="1">
                <a:latin typeface="+mj-lt"/>
              </a:rPr>
              <a:t>mers</a:t>
            </a:r>
            <a:endParaRPr lang="en-US" baseline="30000" dirty="0">
              <a:latin typeface="+mj-lt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1FEDD53-3F98-2E30-7D21-E9FFAED27D25}"/>
              </a:ext>
            </a:extLst>
          </p:cNvPr>
          <p:cNvSpPr/>
          <p:nvPr/>
        </p:nvSpPr>
        <p:spPr>
          <a:xfrm rot="5400000">
            <a:off x="5893269" y="3946579"/>
            <a:ext cx="43954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+mj-lt"/>
              </a:rPr>
              <a:t>. . . </a:t>
            </a:r>
          </a:p>
        </p:txBody>
      </p:sp>
      <p:sp>
        <p:nvSpPr>
          <p:cNvPr id="2" name="AutoShape 2" descr=" 4098">
            <a:extLst>
              <a:ext uri="{FF2B5EF4-FFF2-40B4-BE49-F238E27FC236}">
                <a16:creationId xmlns:a16="http://schemas.microsoft.com/office/drawing/2014/main" id="{4EF6DC1E-9D31-351F-35B3-91DB53764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672860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YACHT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59952B-994C-36A0-ECBC-6C553F933F01}"/>
              </a:ext>
            </a:extLst>
          </p:cNvPr>
          <p:cNvSpPr/>
          <p:nvPr/>
        </p:nvSpPr>
        <p:spPr>
          <a:xfrm>
            <a:off x="381000" y="1453288"/>
            <a:ext cx="27555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Raw (meta)genomic k-</a:t>
            </a:r>
            <a:r>
              <a:rPr lang="en-US" dirty="0" err="1">
                <a:latin typeface="+mj-lt"/>
              </a:rPr>
              <a:t>mers</a:t>
            </a:r>
            <a:endParaRPr lang="en-US" dirty="0"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CF1408-6325-6825-08BB-68C70B4E5523}"/>
              </a:ext>
            </a:extLst>
          </p:cNvPr>
          <p:cNvSpPr/>
          <p:nvPr/>
        </p:nvSpPr>
        <p:spPr>
          <a:xfrm>
            <a:off x="4614603" y="1453288"/>
            <a:ext cx="2725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Reference database k-</a:t>
            </a:r>
            <a:r>
              <a:rPr lang="en-US" dirty="0" err="1">
                <a:latin typeface="+mj-lt"/>
              </a:rPr>
              <a:t>mers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90516692"/>
      </p:ext>
    </p:extLst>
  </p:cSld>
  <p:clrMapOvr>
    <a:masterClrMapping/>
  </p:clrMapOvr>
  <p:transition spd="med"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AutoShape 3" descr=" 4099">
            <a:extLst>
              <a:ext uri="{FF2B5EF4-FFF2-40B4-BE49-F238E27FC236}">
                <a16:creationId xmlns:a16="http://schemas.microsoft.com/office/drawing/2014/main" id="{8016D77B-058F-E662-3FEC-B5CE02C82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01011"/>
            <a:ext cx="2446415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How does it work?</a:t>
            </a:r>
          </a:p>
        </p:txBody>
      </p:sp>
      <p:sp>
        <p:nvSpPr>
          <p:cNvPr id="4130" name="Rectangle 4129">
            <a:extLst>
              <a:ext uri="{FF2B5EF4-FFF2-40B4-BE49-F238E27FC236}">
                <a16:creationId xmlns:a16="http://schemas.microsoft.com/office/drawing/2014/main" id="{6BC159A4-0504-17CA-81CF-7A45032FDE5F}"/>
              </a:ext>
            </a:extLst>
          </p:cNvPr>
          <p:cNvSpPr/>
          <p:nvPr/>
        </p:nvSpPr>
        <p:spPr>
          <a:xfrm>
            <a:off x="-1" y="4986402"/>
            <a:ext cx="19453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Subsample/sketch</a:t>
            </a:r>
            <a:endParaRPr lang="en-US" baseline="30000" dirty="0">
              <a:latin typeface="+mj-l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A766A23-81C3-9D84-DBA5-21054B23359A}"/>
              </a:ext>
            </a:extLst>
          </p:cNvPr>
          <p:cNvSpPr/>
          <p:nvPr/>
        </p:nvSpPr>
        <p:spPr>
          <a:xfrm>
            <a:off x="4572000" y="2183706"/>
            <a:ext cx="15258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+mj-lt"/>
              </a:rPr>
              <a:t>(Microbial) genome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9F2901-39A4-3F99-9B1F-B7CD91717396}"/>
              </a:ext>
            </a:extLst>
          </p:cNvPr>
          <p:cNvSpPr/>
          <p:nvPr/>
        </p:nvSpPr>
        <p:spPr>
          <a:xfrm>
            <a:off x="655969" y="3880695"/>
            <a:ext cx="177147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+mj-lt"/>
              </a:rPr>
              <a:t>Set of </a:t>
            </a:r>
            <a:r>
              <a:rPr lang="en-US" sz="1400" i="1" dirty="0">
                <a:latin typeface="+mj-lt"/>
              </a:rPr>
              <a:t>k</a:t>
            </a:r>
            <a:r>
              <a:rPr lang="en-US" sz="1400" dirty="0">
                <a:latin typeface="+mj-lt"/>
              </a:rPr>
              <a:t>-length strings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377B28-0400-8C59-0690-510D5EA20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789" y="1735904"/>
            <a:ext cx="2133601" cy="21291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D2F21A8-FADC-684C-CCA1-BED4BBD3B1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789" y="1735904"/>
            <a:ext cx="2133602" cy="212915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805C26A-EF54-911C-4788-7BB1F9C587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3042" y="1933764"/>
            <a:ext cx="804673" cy="80467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F66EF97-A9C3-655B-4A89-89C3F5989C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3042" y="1933764"/>
            <a:ext cx="804673" cy="804673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9FEFE957-8FD9-DB1E-C7FB-E901487799EF}"/>
              </a:ext>
            </a:extLst>
          </p:cNvPr>
          <p:cNvSpPr/>
          <p:nvPr/>
        </p:nvSpPr>
        <p:spPr>
          <a:xfrm>
            <a:off x="-1" y="5360158"/>
            <a:ext cx="50375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Retain those with non-zero overlap with the sample</a:t>
            </a:r>
            <a:endParaRPr lang="en-US" baseline="30000" dirty="0"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A642544-4C02-D526-2F44-6CAC7CA2EAB5}"/>
              </a:ext>
            </a:extLst>
          </p:cNvPr>
          <p:cNvSpPr/>
          <p:nvPr/>
        </p:nvSpPr>
        <p:spPr>
          <a:xfrm>
            <a:off x="-1" y="4612646"/>
            <a:ext cx="18651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Convert to k-</a:t>
            </a:r>
            <a:r>
              <a:rPr lang="en-US" dirty="0" err="1">
                <a:latin typeface="+mj-lt"/>
              </a:rPr>
              <a:t>mers</a:t>
            </a:r>
            <a:endParaRPr lang="en-US" baseline="300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FD1E92-F15F-B781-86B1-C9ED0D2A8FF3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0682" y="1735904"/>
            <a:ext cx="2512220" cy="2198192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5B433A3-7559-BA67-D161-AEA1CD20EE2A}"/>
              </a:ext>
            </a:extLst>
          </p:cNvPr>
          <p:cNvCxnSpPr>
            <a:cxnSpLocks/>
            <a:stCxn id="22" idx="1"/>
            <a:endCxn id="4" idx="3"/>
          </p:cNvCxnSpPr>
          <p:nvPr/>
        </p:nvCxnSpPr>
        <p:spPr>
          <a:xfrm flipH="1">
            <a:off x="2892902" y="2336101"/>
            <a:ext cx="3220140" cy="4988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 descr=" 4098">
            <a:extLst>
              <a:ext uri="{FF2B5EF4-FFF2-40B4-BE49-F238E27FC236}">
                <a16:creationId xmlns:a16="http://schemas.microsoft.com/office/drawing/2014/main" id="{7A744F6D-731C-08D4-6CBD-D132E16E8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672860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YACHT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00CF7C-68E3-0CE9-4511-DF73F943D1E4}"/>
              </a:ext>
            </a:extLst>
          </p:cNvPr>
          <p:cNvSpPr/>
          <p:nvPr/>
        </p:nvSpPr>
        <p:spPr>
          <a:xfrm>
            <a:off x="381000" y="1453288"/>
            <a:ext cx="27555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Raw (meta)genomic k-</a:t>
            </a:r>
            <a:r>
              <a:rPr lang="en-US" dirty="0" err="1">
                <a:latin typeface="+mj-lt"/>
              </a:rPr>
              <a:t>mers</a:t>
            </a:r>
            <a:endParaRPr lang="en-US" dirty="0">
              <a:latin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13F73B-7316-BACF-38AC-52C97F7705C3}"/>
              </a:ext>
            </a:extLst>
          </p:cNvPr>
          <p:cNvSpPr/>
          <p:nvPr/>
        </p:nvSpPr>
        <p:spPr>
          <a:xfrm>
            <a:off x="4614603" y="1453288"/>
            <a:ext cx="2725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Reference database k-</a:t>
            </a:r>
            <a:r>
              <a:rPr lang="en-US" dirty="0" err="1">
                <a:latin typeface="+mj-lt"/>
              </a:rPr>
              <a:t>mers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34753540"/>
      </p:ext>
    </p:extLst>
  </p:cSld>
  <p:clrMapOvr>
    <a:masterClrMapping/>
  </p:clrMapOvr>
  <p:transition spd="med"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AutoShape 3" descr=" 4099">
            <a:extLst>
              <a:ext uri="{FF2B5EF4-FFF2-40B4-BE49-F238E27FC236}">
                <a16:creationId xmlns:a16="http://schemas.microsoft.com/office/drawing/2014/main" id="{8016D77B-058F-E662-3FEC-B5CE02C82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01011"/>
            <a:ext cx="2446415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How does it work?</a:t>
            </a:r>
          </a:p>
        </p:txBody>
      </p:sp>
      <p:sp>
        <p:nvSpPr>
          <p:cNvPr id="4130" name="Rectangle 4129">
            <a:extLst>
              <a:ext uri="{FF2B5EF4-FFF2-40B4-BE49-F238E27FC236}">
                <a16:creationId xmlns:a16="http://schemas.microsoft.com/office/drawing/2014/main" id="{6BC159A4-0504-17CA-81CF-7A45032FDE5F}"/>
              </a:ext>
            </a:extLst>
          </p:cNvPr>
          <p:cNvSpPr/>
          <p:nvPr/>
        </p:nvSpPr>
        <p:spPr>
          <a:xfrm>
            <a:off x="-1" y="4986402"/>
            <a:ext cx="19453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Subsample/sketch</a:t>
            </a:r>
            <a:endParaRPr lang="en-US" baseline="30000" dirty="0">
              <a:latin typeface="+mj-l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A766A23-81C3-9D84-DBA5-21054B23359A}"/>
              </a:ext>
            </a:extLst>
          </p:cNvPr>
          <p:cNvSpPr/>
          <p:nvPr/>
        </p:nvSpPr>
        <p:spPr>
          <a:xfrm>
            <a:off x="4572000" y="2183706"/>
            <a:ext cx="15258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+mj-lt"/>
              </a:rPr>
              <a:t>(Microbial) genome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9F2901-39A4-3F99-9B1F-B7CD91717396}"/>
              </a:ext>
            </a:extLst>
          </p:cNvPr>
          <p:cNvSpPr/>
          <p:nvPr/>
        </p:nvSpPr>
        <p:spPr>
          <a:xfrm>
            <a:off x="655969" y="3880695"/>
            <a:ext cx="177147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+mj-lt"/>
              </a:rPr>
              <a:t>Set of </a:t>
            </a:r>
            <a:r>
              <a:rPr lang="en-US" sz="1400" i="1" dirty="0">
                <a:latin typeface="+mj-lt"/>
              </a:rPr>
              <a:t>k</a:t>
            </a:r>
            <a:r>
              <a:rPr lang="en-US" sz="1400" dirty="0">
                <a:latin typeface="+mj-lt"/>
              </a:rPr>
              <a:t>-length strings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805C26A-EF54-911C-4788-7BB1F9C58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3042" y="1933764"/>
            <a:ext cx="804673" cy="80467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F66EF97-A9C3-655B-4A89-89C3F5989C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3042" y="1933764"/>
            <a:ext cx="804673" cy="804673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9FEFE957-8FD9-DB1E-C7FB-E901487799EF}"/>
              </a:ext>
            </a:extLst>
          </p:cNvPr>
          <p:cNvSpPr/>
          <p:nvPr/>
        </p:nvSpPr>
        <p:spPr>
          <a:xfrm>
            <a:off x="-1" y="5360158"/>
            <a:ext cx="50375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Retain those with non-zero overlap with the sample</a:t>
            </a:r>
            <a:endParaRPr lang="en-US" baseline="30000" dirty="0"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A642544-4C02-D526-2F44-6CAC7CA2EAB5}"/>
              </a:ext>
            </a:extLst>
          </p:cNvPr>
          <p:cNvSpPr/>
          <p:nvPr/>
        </p:nvSpPr>
        <p:spPr>
          <a:xfrm>
            <a:off x="-1" y="4612646"/>
            <a:ext cx="18651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Convert to k-</a:t>
            </a:r>
            <a:r>
              <a:rPr lang="en-US" dirty="0" err="1">
                <a:latin typeface="+mj-lt"/>
              </a:rPr>
              <a:t>mers</a:t>
            </a:r>
            <a:endParaRPr lang="en-US" baseline="30000" dirty="0">
              <a:latin typeface="+mj-lt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5B433A3-7559-BA67-D161-AEA1CD20EE2A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2892902" y="2336101"/>
            <a:ext cx="3220140" cy="4988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1189EEA4-13CF-347E-21B1-DC46F2376D80}"/>
              </a:ext>
            </a:extLst>
          </p:cNvPr>
          <p:cNvSpPr/>
          <p:nvPr/>
        </p:nvSpPr>
        <p:spPr>
          <a:xfrm>
            <a:off x="-1" y="5733914"/>
            <a:ext cx="28032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Get genome-specific </a:t>
            </a:r>
            <a:r>
              <a:rPr lang="en-US" i="1" dirty="0">
                <a:latin typeface="+mj-lt"/>
              </a:rPr>
              <a:t>k</a:t>
            </a:r>
            <a:r>
              <a:rPr lang="en-US" dirty="0">
                <a:latin typeface="+mj-lt"/>
              </a:rPr>
              <a:t>-</a:t>
            </a:r>
            <a:r>
              <a:rPr lang="en-US" dirty="0" err="1">
                <a:latin typeface="+mj-lt"/>
              </a:rPr>
              <a:t>mers</a:t>
            </a:r>
            <a:endParaRPr lang="en-US" baseline="30000" dirty="0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177300B-EED5-0654-F709-FF88C499CEC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0682" y="1735904"/>
            <a:ext cx="2512220" cy="21981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B9D10CA-7628-BD82-D052-8099AAFF8C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682" y="1735904"/>
            <a:ext cx="2512219" cy="2198192"/>
          </a:xfrm>
          <a:prstGeom prst="rect">
            <a:avLst/>
          </a:prstGeom>
        </p:spPr>
      </p:pic>
      <p:sp>
        <p:nvSpPr>
          <p:cNvPr id="3" name="AutoShape 2" descr=" 4098">
            <a:extLst>
              <a:ext uri="{FF2B5EF4-FFF2-40B4-BE49-F238E27FC236}">
                <a16:creationId xmlns:a16="http://schemas.microsoft.com/office/drawing/2014/main" id="{8550D536-B380-F942-74E7-F6EA59CEB6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672860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YACHT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925A71-5F34-C53F-FAE0-469FCD56E64C}"/>
              </a:ext>
            </a:extLst>
          </p:cNvPr>
          <p:cNvSpPr/>
          <p:nvPr/>
        </p:nvSpPr>
        <p:spPr>
          <a:xfrm>
            <a:off x="381000" y="1453288"/>
            <a:ext cx="27555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Raw (meta)genomic k-</a:t>
            </a:r>
            <a:r>
              <a:rPr lang="en-US" dirty="0" err="1">
                <a:latin typeface="+mj-lt"/>
              </a:rPr>
              <a:t>mers</a:t>
            </a:r>
            <a:endParaRPr lang="en-US" dirty="0"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AA0176-4062-5026-2C9E-D30B80CE50EB}"/>
              </a:ext>
            </a:extLst>
          </p:cNvPr>
          <p:cNvSpPr/>
          <p:nvPr/>
        </p:nvSpPr>
        <p:spPr>
          <a:xfrm>
            <a:off x="4614603" y="1453288"/>
            <a:ext cx="2725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Reference database k-</a:t>
            </a:r>
            <a:r>
              <a:rPr lang="en-US" dirty="0" err="1">
                <a:latin typeface="+mj-lt"/>
              </a:rPr>
              <a:t>mers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75472961"/>
      </p:ext>
    </p:extLst>
  </p:cSld>
  <p:clrMapOvr>
    <a:masterClrMapping/>
  </p:clrMapOvr>
  <p:transition spd="med"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AutoShape 3" descr=" 4099">
            <a:extLst>
              <a:ext uri="{FF2B5EF4-FFF2-40B4-BE49-F238E27FC236}">
                <a16:creationId xmlns:a16="http://schemas.microsoft.com/office/drawing/2014/main" id="{8016D77B-058F-E662-3FEC-B5CE02C82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01011"/>
            <a:ext cx="2446415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How does it work?</a:t>
            </a:r>
          </a:p>
        </p:txBody>
      </p:sp>
      <p:sp>
        <p:nvSpPr>
          <p:cNvPr id="4130" name="Rectangle 4129">
            <a:extLst>
              <a:ext uri="{FF2B5EF4-FFF2-40B4-BE49-F238E27FC236}">
                <a16:creationId xmlns:a16="http://schemas.microsoft.com/office/drawing/2014/main" id="{6BC159A4-0504-17CA-81CF-7A45032FDE5F}"/>
              </a:ext>
            </a:extLst>
          </p:cNvPr>
          <p:cNvSpPr/>
          <p:nvPr/>
        </p:nvSpPr>
        <p:spPr>
          <a:xfrm>
            <a:off x="-1" y="4986402"/>
            <a:ext cx="19453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Subsample/sketch</a:t>
            </a:r>
            <a:endParaRPr lang="en-US" baseline="30000" dirty="0">
              <a:latin typeface="+mj-l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A766A23-81C3-9D84-DBA5-21054B23359A}"/>
              </a:ext>
            </a:extLst>
          </p:cNvPr>
          <p:cNvSpPr/>
          <p:nvPr/>
        </p:nvSpPr>
        <p:spPr>
          <a:xfrm>
            <a:off x="4572000" y="2183706"/>
            <a:ext cx="15258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+mj-lt"/>
              </a:rPr>
              <a:t>(Microbial) genome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9F2901-39A4-3F99-9B1F-B7CD91717396}"/>
              </a:ext>
            </a:extLst>
          </p:cNvPr>
          <p:cNvSpPr/>
          <p:nvPr/>
        </p:nvSpPr>
        <p:spPr>
          <a:xfrm>
            <a:off x="655969" y="3880695"/>
            <a:ext cx="177147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+mj-lt"/>
              </a:rPr>
              <a:t>Set of </a:t>
            </a:r>
            <a:r>
              <a:rPr lang="en-US" sz="1400" i="1" dirty="0">
                <a:latin typeface="+mj-lt"/>
              </a:rPr>
              <a:t>k</a:t>
            </a:r>
            <a:r>
              <a:rPr lang="en-US" sz="1400" dirty="0">
                <a:latin typeface="+mj-lt"/>
              </a:rPr>
              <a:t>-length strings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805C26A-EF54-911C-4788-7BB1F9C58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3042" y="1933764"/>
            <a:ext cx="804673" cy="80467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F66EF97-A9C3-655B-4A89-89C3F5989C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3042" y="1933764"/>
            <a:ext cx="804673" cy="804673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9FEFE957-8FD9-DB1E-C7FB-E901487799EF}"/>
              </a:ext>
            </a:extLst>
          </p:cNvPr>
          <p:cNvSpPr/>
          <p:nvPr/>
        </p:nvSpPr>
        <p:spPr>
          <a:xfrm>
            <a:off x="-1" y="5360158"/>
            <a:ext cx="50375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Retain those with non-zero overlap with the sample</a:t>
            </a:r>
            <a:endParaRPr lang="en-US" baseline="30000" dirty="0"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A642544-4C02-D526-2F44-6CAC7CA2EAB5}"/>
              </a:ext>
            </a:extLst>
          </p:cNvPr>
          <p:cNvSpPr/>
          <p:nvPr/>
        </p:nvSpPr>
        <p:spPr>
          <a:xfrm>
            <a:off x="-1" y="4612646"/>
            <a:ext cx="18651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Convert to k-</a:t>
            </a:r>
            <a:r>
              <a:rPr lang="en-US" dirty="0" err="1">
                <a:latin typeface="+mj-lt"/>
              </a:rPr>
              <a:t>mers</a:t>
            </a:r>
            <a:endParaRPr lang="en-US" baseline="30000" dirty="0">
              <a:latin typeface="+mj-lt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5B433A3-7559-BA67-D161-AEA1CD20EE2A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2892902" y="2336101"/>
            <a:ext cx="3220140" cy="4988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1189EEA4-13CF-347E-21B1-DC46F2376D80}"/>
              </a:ext>
            </a:extLst>
          </p:cNvPr>
          <p:cNvSpPr/>
          <p:nvPr/>
        </p:nvSpPr>
        <p:spPr>
          <a:xfrm>
            <a:off x="-1" y="5733914"/>
            <a:ext cx="28032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Get genome-specific </a:t>
            </a:r>
            <a:r>
              <a:rPr lang="en-US" i="1" dirty="0">
                <a:latin typeface="+mj-lt"/>
              </a:rPr>
              <a:t>k</a:t>
            </a:r>
            <a:r>
              <a:rPr lang="en-US" dirty="0">
                <a:latin typeface="+mj-lt"/>
              </a:rPr>
              <a:t>-</a:t>
            </a:r>
            <a:r>
              <a:rPr lang="en-US" dirty="0" err="1">
                <a:latin typeface="+mj-lt"/>
              </a:rPr>
              <a:t>mers</a:t>
            </a:r>
            <a:endParaRPr lang="en-US" baseline="30000" dirty="0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177300B-EED5-0654-F709-FF88C499CEC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0682" y="1735904"/>
            <a:ext cx="2512220" cy="21981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B9D10CA-7628-BD82-D052-8099AAFF8C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682" y="1735904"/>
            <a:ext cx="2512219" cy="219819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E6C3E57-C3DD-5FA5-487C-ADEAC4531EA1}"/>
              </a:ext>
            </a:extLst>
          </p:cNvPr>
          <p:cNvSpPr/>
          <p:nvPr/>
        </p:nvSpPr>
        <p:spPr>
          <a:xfrm>
            <a:off x="-1" y="6103246"/>
            <a:ext cx="82143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Calculate if there are enough to support </a:t>
            </a:r>
            <a:r>
              <a:rPr lang="en-US" dirty="0"/>
              <a:t>the reference genome being “in” the sample</a:t>
            </a:r>
            <a:r>
              <a:rPr lang="en-US" dirty="0">
                <a:latin typeface="+mj-lt"/>
              </a:rPr>
              <a:t> </a:t>
            </a:r>
            <a:endParaRPr lang="en-US" baseline="30000" dirty="0">
              <a:latin typeface="+mj-lt"/>
            </a:endParaRPr>
          </a:p>
        </p:txBody>
      </p:sp>
      <p:sp>
        <p:nvSpPr>
          <p:cNvPr id="4" name="AutoShape 2" descr=" 4098">
            <a:extLst>
              <a:ext uri="{FF2B5EF4-FFF2-40B4-BE49-F238E27FC236}">
                <a16:creationId xmlns:a16="http://schemas.microsoft.com/office/drawing/2014/main" id="{ED08B9B3-A0EF-0623-2569-E6AAE92B3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672860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YACHT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9398A0-0722-DC99-E868-32F2A50566A1}"/>
              </a:ext>
            </a:extLst>
          </p:cNvPr>
          <p:cNvSpPr/>
          <p:nvPr/>
        </p:nvSpPr>
        <p:spPr>
          <a:xfrm>
            <a:off x="381000" y="1453288"/>
            <a:ext cx="27555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Raw (meta)genomic k-</a:t>
            </a:r>
            <a:r>
              <a:rPr lang="en-US" dirty="0" err="1">
                <a:latin typeface="+mj-lt"/>
              </a:rPr>
              <a:t>mers</a:t>
            </a:r>
            <a:endParaRPr lang="en-US" dirty="0">
              <a:latin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ACA15C-272D-8005-751B-B55E9E8FE942}"/>
              </a:ext>
            </a:extLst>
          </p:cNvPr>
          <p:cNvSpPr/>
          <p:nvPr/>
        </p:nvSpPr>
        <p:spPr>
          <a:xfrm>
            <a:off x="4614603" y="1453288"/>
            <a:ext cx="2725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Reference database k-</a:t>
            </a:r>
            <a:r>
              <a:rPr lang="en-US" dirty="0" err="1">
                <a:latin typeface="+mj-lt"/>
              </a:rPr>
              <a:t>mers</a:t>
            </a:r>
            <a:endParaRPr lang="en-US" dirty="0">
              <a:latin typeface="+mj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CA05B2-54BF-288F-397E-0B26DB123A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0636" y="3471529"/>
            <a:ext cx="7094789" cy="273983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695E9B2-7842-F0E1-ABC2-B3A36C33E92B}"/>
              </a:ext>
            </a:extLst>
          </p:cNvPr>
          <p:cNvSpPr/>
          <p:nvPr/>
        </p:nvSpPr>
        <p:spPr>
          <a:xfrm>
            <a:off x="5634625" y="5224129"/>
            <a:ext cx="29718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683791021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AutoShape 3" descr=" 4099">
            <a:extLst>
              <a:ext uri="{FF2B5EF4-FFF2-40B4-BE49-F238E27FC236}">
                <a16:creationId xmlns:a16="http://schemas.microsoft.com/office/drawing/2014/main" id="{8016D77B-058F-E662-3FEC-B5CE02C82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01011"/>
            <a:ext cx="2446415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How does it work?</a:t>
            </a:r>
          </a:p>
        </p:txBody>
      </p:sp>
      <p:sp>
        <p:nvSpPr>
          <p:cNvPr id="4" name="AutoShape 2" descr=" 4098">
            <a:extLst>
              <a:ext uri="{FF2B5EF4-FFF2-40B4-BE49-F238E27FC236}">
                <a16:creationId xmlns:a16="http://schemas.microsoft.com/office/drawing/2014/main" id="{ED08B9B3-A0EF-0623-2569-E6AAE92B3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672860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YACHT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ACA15C-272D-8005-751B-B55E9E8FE942}"/>
              </a:ext>
            </a:extLst>
          </p:cNvPr>
          <p:cNvSpPr/>
          <p:nvPr/>
        </p:nvSpPr>
        <p:spPr>
          <a:xfrm>
            <a:off x="2518765" y="867673"/>
            <a:ext cx="16303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Hypothesis test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3FB160E-272B-A4F4-EE94-0EBCEA8E03A2}"/>
              </a:ext>
            </a:extLst>
          </p:cNvPr>
          <p:cNvSpPr/>
          <p:nvPr/>
        </p:nvSpPr>
        <p:spPr>
          <a:xfrm>
            <a:off x="458427" y="2536638"/>
            <a:ext cx="9893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Genome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81C5359-78DF-1017-E968-DA08ECF04926}"/>
              </a:ext>
            </a:extLst>
          </p:cNvPr>
          <p:cNvSpPr/>
          <p:nvPr/>
        </p:nvSpPr>
        <p:spPr>
          <a:xfrm>
            <a:off x="458426" y="3169347"/>
            <a:ext cx="8372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K-</a:t>
            </a:r>
            <a:r>
              <a:rPr lang="en-US" dirty="0" err="1">
                <a:latin typeface="+mj-lt"/>
              </a:rPr>
              <a:t>mers</a:t>
            </a:r>
            <a:endParaRPr lang="en-US" dirty="0">
              <a:latin typeface="+mj-lt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D81B05F-1E3A-AF64-FF2E-99790031725F}"/>
              </a:ext>
            </a:extLst>
          </p:cNvPr>
          <p:cNvCxnSpPr>
            <a:cxnSpLocks/>
          </p:cNvCxnSpPr>
          <p:nvPr/>
        </p:nvCxnSpPr>
        <p:spPr>
          <a:xfrm>
            <a:off x="1905000" y="2743200"/>
            <a:ext cx="3773456" cy="10149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26199DA-2C2E-6101-3F5C-5BA3D8EAB117}"/>
              </a:ext>
            </a:extLst>
          </p:cNvPr>
          <p:cNvCxnSpPr/>
          <p:nvPr/>
        </p:nvCxnSpPr>
        <p:spPr>
          <a:xfrm>
            <a:off x="1905000" y="3016413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EF2D442-7E0D-66BA-A915-F022111966C9}"/>
              </a:ext>
            </a:extLst>
          </p:cNvPr>
          <p:cNvCxnSpPr/>
          <p:nvPr/>
        </p:nvCxnSpPr>
        <p:spPr>
          <a:xfrm>
            <a:off x="2065020" y="3170802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28724F0-3FE2-4B10-6791-985036AEF733}"/>
              </a:ext>
            </a:extLst>
          </p:cNvPr>
          <p:cNvCxnSpPr/>
          <p:nvPr/>
        </p:nvCxnSpPr>
        <p:spPr>
          <a:xfrm>
            <a:off x="2207539" y="3325191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5FA74B8-3AFA-6B6B-C7BF-B826832F69F9}"/>
              </a:ext>
            </a:extLst>
          </p:cNvPr>
          <p:cNvCxnSpPr/>
          <p:nvPr/>
        </p:nvCxnSpPr>
        <p:spPr>
          <a:xfrm>
            <a:off x="2362978" y="3479580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F3B2587-D229-A2C1-937C-682F32D43C73}"/>
              </a:ext>
            </a:extLst>
          </p:cNvPr>
          <p:cNvCxnSpPr/>
          <p:nvPr/>
        </p:nvCxnSpPr>
        <p:spPr>
          <a:xfrm>
            <a:off x="2566730" y="3633967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42B1426-B922-5510-112E-AFA9F284E9FF}"/>
              </a:ext>
            </a:extLst>
          </p:cNvPr>
          <p:cNvCxnSpPr/>
          <p:nvPr/>
        </p:nvCxnSpPr>
        <p:spPr>
          <a:xfrm>
            <a:off x="2782856" y="3030335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F7AFE37-E6D1-3C38-90DA-E3EDFA4DB304}"/>
              </a:ext>
            </a:extLst>
          </p:cNvPr>
          <p:cNvCxnSpPr/>
          <p:nvPr/>
        </p:nvCxnSpPr>
        <p:spPr>
          <a:xfrm>
            <a:off x="2942876" y="3184724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F315CC72-1CDE-C0C9-E3A0-F086DE639FD6}"/>
              </a:ext>
            </a:extLst>
          </p:cNvPr>
          <p:cNvCxnSpPr/>
          <p:nvPr/>
        </p:nvCxnSpPr>
        <p:spPr>
          <a:xfrm>
            <a:off x="3085395" y="3339113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7387113-31C3-39D3-CE4F-F50370A58D60}"/>
              </a:ext>
            </a:extLst>
          </p:cNvPr>
          <p:cNvCxnSpPr/>
          <p:nvPr/>
        </p:nvCxnSpPr>
        <p:spPr>
          <a:xfrm>
            <a:off x="3240834" y="3493502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EDBC65F-77C4-E1A8-4F27-1087F9459571}"/>
              </a:ext>
            </a:extLst>
          </p:cNvPr>
          <p:cNvCxnSpPr/>
          <p:nvPr/>
        </p:nvCxnSpPr>
        <p:spPr>
          <a:xfrm>
            <a:off x="3444586" y="3647889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3529E00-1BE9-2914-8339-197D221B4889}"/>
              </a:ext>
            </a:extLst>
          </p:cNvPr>
          <p:cNvCxnSpPr/>
          <p:nvPr/>
        </p:nvCxnSpPr>
        <p:spPr>
          <a:xfrm>
            <a:off x="3567370" y="3045235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626A7F22-0E77-39BA-19CF-F21CF8C880A2}"/>
              </a:ext>
            </a:extLst>
          </p:cNvPr>
          <p:cNvCxnSpPr/>
          <p:nvPr/>
        </p:nvCxnSpPr>
        <p:spPr>
          <a:xfrm>
            <a:off x="3727390" y="3199624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6" name="Straight Connector 4095">
            <a:extLst>
              <a:ext uri="{FF2B5EF4-FFF2-40B4-BE49-F238E27FC236}">
                <a16:creationId xmlns:a16="http://schemas.microsoft.com/office/drawing/2014/main" id="{15A645A1-47A7-EA75-2CEB-CAAECBB465A9}"/>
              </a:ext>
            </a:extLst>
          </p:cNvPr>
          <p:cNvCxnSpPr/>
          <p:nvPr/>
        </p:nvCxnSpPr>
        <p:spPr>
          <a:xfrm>
            <a:off x="3869909" y="3354013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7" name="Straight Connector 4096">
            <a:extLst>
              <a:ext uri="{FF2B5EF4-FFF2-40B4-BE49-F238E27FC236}">
                <a16:creationId xmlns:a16="http://schemas.microsoft.com/office/drawing/2014/main" id="{DAE4D7C7-4BF0-376E-F3ED-E6C00E22C30B}"/>
              </a:ext>
            </a:extLst>
          </p:cNvPr>
          <p:cNvCxnSpPr/>
          <p:nvPr/>
        </p:nvCxnSpPr>
        <p:spPr>
          <a:xfrm>
            <a:off x="4025348" y="3508402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8" name="Straight Connector 4097">
            <a:extLst>
              <a:ext uri="{FF2B5EF4-FFF2-40B4-BE49-F238E27FC236}">
                <a16:creationId xmlns:a16="http://schemas.microsoft.com/office/drawing/2014/main" id="{0ACB7B97-F940-5918-74C8-46649FD2B764}"/>
              </a:ext>
            </a:extLst>
          </p:cNvPr>
          <p:cNvCxnSpPr/>
          <p:nvPr/>
        </p:nvCxnSpPr>
        <p:spPr>
          <a:xfrm>
            <a:off x="4229100" y="3662789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9" name="Straight Connector 4098">
            <a:extLst>
              <a:ext uri="{FF2B5EF4-FFF2-40B4-BE49-F238E27FC236}">
                <a16:creationId xmlns:a16="http://schemas.microsoft.com/office/drawing/2014/main" id="{84397BF6-BEC1-5AC0-EADF-2B30E6E69FC4}"/>
              </a:ext>
            </a:extLst>
          </p:cNvPr>
          <p:cNvCxnSpPr/>
          <p:nvPr/>
        </p:nvCxnSpPr>
        <p:spPr>
          <a:xfrm>
            <a:off x="4405570" y="3045235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0" name="Straight Connector 4099">
            <a:extLst>
              <a:ext uri="{FF2B5EF4-FFF2-40B4-BE49-F238E27FC236}">
                <a16:creationId xmlns:a16="http://schemas.microsoft.com/office/drawing/2014/main" id="{D50315BC-83BB-4875-5423-B494BEA47344}"/>
              </a:ext>
            </a:extLst>
          </p:cNvPr>
          <p:cNvCxnSpPr/>
          <p:nvPr/>
        </p:nvCxnSpPr>
        <p:spPr>
          <a:xfrm>
            <a:off x="4565590" y="3199624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1" name="Straight Connector 4100">
            <a:extLst>
              <a:ext uri="{FF2B5EF4-FFF2-40B4-BE49-F238E27FC236}">
                <a16:creationId xmlns:a16="http://schemas.microsoft.com/office/drawing/2014/main" id="{EDC2A87B-9AD7-D097-0265-D88898BA8CDC}"/>
              </a:ext>
            </a:extLst>
          </p:cNvPr>
          <p:cNvCxnSpPr/>
          <p:nvPr/>
        </p:nvCxnSpPr>
        <p:spPr>
          <a:xfrm>
            <a:off x="4708109" y="3354013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2" name="Straight Connector 4101">
            <a:extLst>
              <a:ext uri="{FF2B5EF4-FFF2-40B4-BE49-F238E27FC236}">
                <a16:creationId xmlns:a16="http://schemas.microsoft.com/office/drawing/2014/main" id="{CE3FC73F-00F6-3686-518C-018A3DF22668}"/>
              </a:ext>
            </a:extLst>
          </p:cNvPr>
          <p:cNvCxnSpPr/>
          <p:nvPr/>
        </p:nvCxnSpPr>
        <p:spPr>
          <a:xfrm>
            <a:off x="4863548" y="3508402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3" name="Straight Connector 4102">
            <a:extLst>
              <a:ext uri="{FF2B5EF4-FFF2-40B4-BE49-F238E27FC236}">
                <a16:creationId xmlns:a16="http://schemas.microsoft.com/office/drawing/2014/main" id="{8F88D99F-E0EC-0E26-ADC0-799314D9EAD8}"/>
              </a:ext>
            </a:extLst>
          </p:cNvPr>
          <p:cNvCxnSpPr/>
          <p:nvPr/>
        </p:nvCxnSpPr>
        <p:spPr>
          <a:xfrm>
            <a:off x="5067300" y="3662789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4" name="Oval 4103">
            <a:extLst>
              <a:ext uri="{FF2B5EF4-FFF2-40B4-BE49-F238E27FC236}">
                <a16:creationId xmlns:a16="http://schemas.microsoft.com/office/drawing/2014/main" id="{A0C53EB1-FD42-C73E-B6E8-5760C627C20D}"/>
              </a:ext>
            </a:extLst>
          </p:cNvPr>
          <p:cNvSpPr/>
          <p:nvPr/>
        </p:nvSpPr>
        <p:spPr>
          <a:xfrm>
            <a:off x="6135656" y="2209800"/>
            <a:ext cx="2549917" cy="23621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05" name="Straight Connector 4104">
            <a:extLst>
              <a:ext uri="{FF2B5EF4-FFF2-40B4-BE49-F238E27FC236}">
                <a16:creationId xmlns:a16="http://schemas.microsoft.com/office/drawing/2014/main" id="{0DE4E926-DF91-0469-2D72-63D6C4857A7C}"/>
              </a:ext>
            </a:extLst>
          </p:cNvPr>
          <p:cNvCxnSpPr/>
          <p:nvPr/>
        </p:nvCxnSpPr>
        <p:spPr>
          <a:xfrm>
            <a:off x="6553200" y="2667000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6" name="Straight Connector 4105">
            <a:extLst>
              <a:ext uri="{FF2B5EF4-FFF2-40B4-BE49-F238E27FC236}">
                <a16:creationId xmlns:a16="http://schemas.microsoft.com/office/drawing/2014/main" id="{31F61BC1-B3A2-235A-43D2-7521B101BECC}"/>
              </a:ext>
            </a:extLst>
          </p:cNvPr>
          <p:cNvCxnSpPr/>
          <p:nvPr/>
        </p:nvCxnSpPr>
        <p:spPr>
          <a:xfrm>
            <a:off x="6713220" y="2821389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7" name="Straight Connector 4106">
            <a:extLst>
              <a:ext uri="{FF2B5EF4-FFF2-40B4-BE49-F238E27FC236}">
                <a16:creationId xmlns:a16="http://schemas.microsoft.com/office/drawing/2014/main" id="{D1B70E16-E7E0-A80F-8873-B80A2BDAC180}"/>
              </a:ext>
            </a:extLst>
          </p:cNvPr>
          <p:cNvCxnSpPr/>
          <p:nvPr/>
        </p:nvCxnSpPr>
        <p:spPr>
          <a:xfrm>
            <a:off x="6855739" y="2975778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8" name="Straight Connector 4107">
            <a:extLst>
              <a:ext uri="{FF2B5EF4-FFF2-40B4-BE49-F238E27FC236}">
                <a16:creationId xmlns:a16="http://schemas.microsoft.com/office/drawing/2014/main" id="{D0DE527D-7519-A298-73C8-43CF382567AB}"/>
              </a:ext>
            </a:extLst>
          </p:cNvPr>
          <p:cNvCxnSpPr/>
          <p:nvPr/>
        </p:nvCxnSpPr>
        <p:spPr>
          <a:xfrm>
            <a:off x="7011178" y="3130167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9" name="Straight Connector 4108">
            <a:extLst>
              <a:ext uri="{FF2B5EF4-FFF2-40B4-BE49-F238E27FC236}">
                <a16:creationId xmlns:a16="http://schemas.microsoft.com/office/drawing/2014/main" id="{4FA2C846-3217-7603-ADFD-1EE393B8CB7E}"/>
              </a:ext>
            </a:extLst>
          </p:cNvPr>
          <p:cNvCxnSpPr/>
          <p:nvPr/>
        </p:nvCxnSpPr>
        <p:spPr>
          <a:xfrm>
            <a:off x="7214930" y="3284554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0" name="Straight Connector 4109">
            <a:extLst>
              <a:ext uri="{FF2B5EF4-FFF2-40B4-BE49-F238E27FC236}">
                <a16:creationId xmlns:a16="http://schemas.microsoft.com/office/drawing/2014/main" id="{7D91F7AD-942D-4FE6-D4BA-98CD43944458}"/>
              </a:ext>
            </a:extLst>
          </p:cNvPr>
          <p:cNvCxnSpPr/>
          <p:nvPr/>
        </p:nvCxnSpPr>
        <p:spPr>
          <a:xfrm>
            <a:off x="7431056" y="2680922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1" name="Straight Connector 4110">
            <a:extLst>
              <a:ext uri="{FF2B5EF4-FFF2-40B4-BE49-F238E27FC236}">
                <a16:creationId xmlns:a16="http://schemas.microsoft.com/office/drawing/2014/main" id="{86B0205A-4673-A77C-03F2-9C9658545B0C}"/>
              </a:ext>
            </a:extLst>
          </p:cNvPr>
          <p:cNvCxnSpPr/>
          <p:nvPr/>
        </p:nvCxnSpPr>
        <p:spPr>
          <a:xfrm>
            <a:off x="7591076" y="2835311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2" name="Straight Connector 4111">
            <a:extLst>
              <a:ext uri="{FF2B5EF4-FFF2-40B4-BE49-F238E27FC236}">
                <a16:creationId xmlns:a16="http://schemas.microsoft.com/office/drawing/2014/main" id="{7A8B4A88-DB81-E3ED-AAC5-5220135B10BF}"/>
              </a:ext>
            </a:extLst>
          </p:cNvPr>
          <p:cNvCxnSpPr/>
          <p:nvPr/>
        </p:nvCxnSpPr>
        <p:spPr>
          <a:xfrm>
            <a:off x="7733595" y="2989700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3" name="Straight Connector 4112">
            <a:extLst>
              <a:ext uri="{FF2B5EF4-FFF2-40B4-BE49-F238E27FC236}">
                <a16:creationId xmlns:a16="http://schemas.microsoft.com/office/drawing/2014/main" id="{3CAB1B60-7794-2A43-73E3-BB7984261456}"/>
              </a:ext>
            </a:extLst>
          </p:cNvPr>
          <p:cNvCxnSpPr/>
          <p:nvPr/>
        </p:nvCxnSpPr>
        <p:spPr>
          <a:xfrm>
            <a:off x="7889034" y="3144089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4" name="Straight Connector 4113">
            <a:extLst>
              <a:ext uri="{FF2B5EF4-FFF2-40B4-BE49-F238E27FC236}">
                <a16:creationId xmlns:a16="http://schemas.microsoft.com/office/drawing/2014/main" id="{4B37E1EA-D362-71F5-BA22-7E1461AA9ED4}"/>
              </a:ext>
            </a:extLst>
          </p:cNvPr>
          <p:cNvCxnSpPr/>
          <p:nvPr/>
        </p:nvCxnSpPr>
        <p:spPr>
          <a:xfrm>
            <a:off x="8092786" y="3298476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5" name="Straight Connector 4114">
            <a:extLst>
              <a:ext uri="{FF2B5EF4-FFF2-40B4-BE49-F238E27FC236}">
                <a16:creationId xmlns:a16="http://schemas.microsoft.com/office/drawing/2014/main" id="{D153F8FB-D667-665D-7A56-FC532F5A7FC0}"/>
              </a:ext>
            </a:extLst>
          </p:cNvPr>
          <p:cNvCxnSpPr/>
          <p:nvPr/>
        </p:nvCxnSpPr>
        <p:spPr>
          <a:xfrm>
            <a:off x="6231258" y="3400178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6" name="Straight Connector 4115">
            <a:extLst>
              <a:ext uri="{FF2B5EF4-FFF2-40B4-BE49-F238E27FC236}">
                <a16:creationId xmlns:a16="http://schemas.microsoft.com/office/drawing/2014/main" id="{9AD2AFFA-90B4-D2B4-C4D8-546EBC7D5ADE}"/>
              </a:ext>
            </a:extLst>
          </p:cNvPr>
          <p:cNvCxnSpPr/>
          <p:nvPr/>
        </p:nvCxnSpPr>
        <p:spPr>
          <a:xfrm>
            <a:off x="6391278" y="3554567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7" name="Straight Connector 4116">
            <a:extLst>
              <a:ext uri="{FF2B5EF4-FFF2-40B4-BE49-F238E27FC236}">
                <a16:creationId xmlns:a16="http://schemas.microsoft.com/office/drawing/2014/main" id="{7F4C71B8-F249-3A2C-73D2-970062FD0E7C}"/>
              </a:ext>
            </a:extLst>
          </p:cNvPr>
          <p:cNvCxnSpPr/>
          <p:nvPr/>
        </p:nvCxnSpPr>
        <p:spPr>
          <a:xfrm>
            <a:off x="6533797" y="3708956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8" name="Straight Connector 4117">
            <a:extLst>
              <a:ext uri="{FF2B5EF4-FFF2-40B4-BE49-F238E27FC236}">
                <a16:creationId xmlns:a16="http://schemas.microsoft.com/office/drawing/2014/main" id="{93139E86-3975-F6B5-5287-78E47BA33293}"/>
              </a:ext>
            </a:extLst>
          </p:cNvPr>
          <p:cNvCxnSpPr/>
          <p:nvPr/>
        </p:nvCxnSpPr>
        <p:spPr>
          <a:xfrm>
            <a:off x="6689236" y="3863345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9" name="Straight Connector 4118">
            <a:extLst>
              <a:ext uri="{FF2B5EF4-FFF2-40B4-BE49-F238E27FC236}">
                <a16:creationId xmlns:a16="http://schemas.microsoft.com/office/drawing/2014/main" id="{783A0A0E-D5F2-D233-B94D-FDCDECC2BEB8}"/>
              </a:ext>
            </a:extLst>
          </p:cNvPr>
          <p:cNvCxnSpPr/>
          <p:nvPr/>
        </p:nvCxnSpPr>
        <p:spPr>
          <a:xfrm>
            <a:off x="6892988" y="4017732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0" name="Straight Connector 4119">
            <a:extLst>
              <a:ext uri="{FF2B5EF4-FFF2-40B4-BE49-F238E27FC236}">
                <a16:creationId xmlns:a16="http://schemas.microsoft.com/office/drawing/2014/main" id="{02E18ED5-3126-04FE-004D-56CC5E86B9D6}"/>
              </a:ext>
            </a:extLst>
          </p:cNvPr>
          <p:cNvCxnSpPr/>
          <p:nvPr/>
        </p:nvCxnSpPr>
        <p:spPr>
          <a:xfrm>
            <a:off x="7109114" y="3414100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1" name="Straight Connector 4120">
            <a:extLst>
              <a:ext uri="{FF2B5EF4-FFF2-40B4-BE49-F238E27FC236}">
                <a16:creationId xmlns:a16="http://schemas.microsoft.com/office/drawing/2014/main" id="{DA52D798-6242-073F-A99D-0E3144B039B9}"/>
              </a:ext>
            </a:extLst>
          </p:cNvPr>
          <p:cNvCxnSpPr/>
          <p:nvPr/>
        </p:nvCxnSpPr>
        <p:spPr>
          <a:xfrm>
            <a:off x="7269134" y="3568489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2" name="Straight Connector 4121">
            <a:extLst>
              <a:ext uri="{FF2B5EF4-FFF2-40B4-BE49-F238E27FC236}">
                <a16:creationId xmlns:a16="http://schemas.microsoft.com/office/drawing/2014/main" id="{341C343D-FCF5-B951-029F-11950EA0929F}"/>
              </a:ext>
            </a:extLst>
          </p:cNvPr>
          <p:cNvCxnSpPr/>
          <p:nvPr/>
        </p:nvCxnSpPr>
        <p:spPr>
          <a:xfrm>
            <a:off x="7411653" y="3722878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3" name="Straight Connector 4122">
            <a:extLst>
              <a:ext uri="{FF2B5EF4-FFF2-40B4-BE49-F238E27FC236}">
                <a16:creationId xmlns:a16="http://schemas.microsoft.com/office/drawing/2014/main" id="{499697DB-A679-CECA-1100-B76D7E53C0D1}"/>
              </a:ext>
            </a:extLst>
          </p:cNvPr>
          <p:cNvCxnSpPr/>
          <p:nvPr/>
        </p:nvCxnSpPr>
        <p:spPr>
          <a:xfrm>
            <a:off x="7567092" y="3877267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4" name="Straight Connector 4123">
            <a:extLst>
              <a:ext uri="{FF2B5EF4-FFF2-40B4-BE49-F238E27FC236}">
                <a16:creationId xmlns:a16="http://schemas.microsoft.com/office/drawing/2014/main" id="{5B24743A-C161-7601-1076-3DFC8879F669}"/>
              </a:ext>
            </a:extLst>
          </p:cNvPr>
          <p:cNvCxnSpPr/>
          <p:nvPr/>
        </p:nvCxnSpPr>
        <p:spPr>
          <a:xfrm>
            <a:off x="7770844" y="4031654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25" name="Rectangle 4124">
            <a:extLst>
              <a:ext uri="{FF2B5EF4-FFF2-40B4-BE49-F238E27FC236}">
                <a16:creationId xmlns:a16="http://schemas.microsoft.com/office/drawing/2014/main" id="{30595FD7-2483-FA2D-7168-9CFEF5F455A1}"/>
              </a:ext>
            </a:extLst>
          </p:cNvPr>
          <p:cNvSpPr/>
          <p:nvPr/>
        </p:nvSpPr>
        <p:spPr>
          <a:xfrm>
            <a:off x="6892398" y="4553521"/>
            <a:ext cx="10342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Sample </a:t>
            </a:r>
            <a:r>
              <a:rPr lang="en-US" i="1" dirty="0">
                <a:latin typeface="+mj-lt"/>
              </a:rPr>
              <a:t>S</a:t>
            </a:r>
          </a:p>
        </p:txBody>
      </p:sp>
      <p:sp>
        <p:nvSpPr>
          <p:cNvPr id="4126" name="Rectangle 4125">
            <a:extLst>
              <a:ext uri="{FF2B5EF4-FFF2-40B4-BE49-F238E27FC236}">
                <a16:creationId xmlns:a16="http://schemas.microsoft.com/office/drawing/2014/main" id="{208BD8F2-8664-C084-6BFE-F348029A943B}"/>
              </a:ext>
            </a:extLst>
          </p:cNvPr>
          <p:cNvSpPr/>
          <p:nvPr/>
        </p:nvSpPr>
        <p:spPr>
          <a:xfrm>
            <a:off x="14405" y="1404649"/>
            <a:ext cx="54760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Null hypothesis H</a:t>
            </a:r>
            <a:r>
              <a:rPr lang="en-US" baseline="-25000" dirty="0">
                <a:latin typeface="+mj-lt"/>
              </a:rPr>
              <a:t>0</a:t>
            </a:r>
            <a:r>
              <a:rPr lang="en-US" dirty="0">
                <a:latin typeface="+mj-lt"/>
              </a:rPr>
              <a:t>: the genome is present in the sample</a:t>
            </a:r>
          </a:p>
        </p:txBody>
      </p:sp>
    </p:spTree>
    <p:extLst>
      <p:ext uri="{BB962C8B-B14F-4D97-AF65-F5344CB8AC3E}">
        <p14:creationId xmlns:p14="http://schemas.microsoft.com/office/powerpoint/2010/main" val="1031361683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4104" grpId="0" animBg="1"/>
      <p:bldP spid="4125" grpId="0"/>
      <p:bldP spid="412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AutoShape 3" descr=" 4099">
            <a:extLst>
              <a:ext uri="{FF2B5EF4-FFF2-40B4-BE49-F238E27FC236}">
                <a16:creationId xmlns:a16="http://schemas.microsoft.com/office/drawing/2014/main" id="{8016D77B-058F-E662-3FEC-B5CE02C82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01011"/>
            <a:ext cx="2446415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How does it work?</a:t>
            </a:r>
          </a:p>
        </p:txBody>
      </p:sp>
      <p:sp>
        <p:nvSpPr>
          <p:cNvPr id="4" name="AutoShape 2" descr=" 4098">
            <a:extLst>
              <a:ext uri="{FF2B5EF4-FFF2-40B4-BE49-F238E27FC236}">
                <a16:creationId xmlns:a16="http://schemas.microsoft.com/office/drawing/2014/main" id="{ED08B9B3-A0EF-0623-2569-E6AAE92B3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672860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YACHT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ACA15C-272D-8005-751B-B55E9E8FE942}"/>
              </a:ext>
            </a:extLst>
          </p:cNvPr>
          <p:cNvSpPr/>
          <p:nvPr/>
        </p:nvSpPr>
        <p:spPr>
          <a:xfrm>
            <a:off x="2518765" y="867673"/>
            <a:ext cx="16303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Hypothesis test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FA62249-7D03-7A77-D1A3-FE01E35DF5F0}"/>
              </a:ext>
            </a:extLst>
          </p:cNvPr>
          <p:cNvCxnSpPr>
            <a:cxnSpLocks/>
          </p:cNvCxnSpPr>
          <p:nvPr/>
        </p:nvCxnSpPr>
        <p:spPr>
          <a:xfrm>
            <a:off x="1905000" y="2743200"/>
            <a:ext cx="3773456" cy="10149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C92E0A5-0D3E-F330-29D3-29CD755CBFA1}"/>
              </a:ext>
            </a:extLst>
          </p:cNvPr>
          <p:cNvCxnSpPr/>
          <p:nvPr/>
        </p:nvCxnSpPr>
        <p:spPr>
          <a:xfrm>
            <a:off x="1905000" y="3016413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599A281-4275-EF30-29B7-A4A0B7CEC2F9}"/>
              </a:ext>
            </a:extLst>
          </p:cNvPr>
          <p:cNvCxnSpPr/>
          <p:nvPr/>
        </p:nvCxnSpPr>
        <p:spPr>
          <a:xfrm>
            <a:off x="2065020" y="3170802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9AF1192-CEA7-4F41-847B-205EE16B71AF}"/>
              </a:ext>
            </a:extLst>
          </p:cNvPr>
          <p:cNvCxnSpPr/>
          <p:nvPr/>
        </p:nvCxnSpPr>
        <p:spPr>
          <a:xfrm>
            <a:off x="2207539" y="3325191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D2D8F77-0D23-81B9-4DF6-A20CCA4879F8}"/>
              </a:ext>
            </a:extLst>
          </p:cNvPr>
          <p:cNvCxnSpPr/>
          <p:nvPr/>
        </p:nvCxnSpPr>
        <p:spPr>
          <a:xfrm>
            <a:off x="2362978" y="3479580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03F8BA4-B4C9-53E6-170E-77535C23D28F}"/>
              </a:ext>
            </a:extLst>
          </p:cNvPr>
          <p:cNvCxnSpPr/>
          <p:nvPr/>
        </p:nvCxnSpPr>
        <p:spPr>
          <a:xfrm>
            <a:off x="2566730" y="3633967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5385E65-C8C0-F1C2-D9C9-5CC4A7C1A5EC}"/>
              </a:ext>
            </a:extLst>
          </p:cNvPr>
          <p:cNvCxnSpPr/>
          <p:nvPr/>
        </p:nvCxnSpPr>
        <p:spPr>
          <a:xfrm>
            <a:off x="2782856" y="3030335"/>
            <a:ext cx="534956" cy="6946"/>
          </a:xfrm>
          <a:prstGeom prst="line">
            <a:avLst/>
          </a:prstGeom>
          <a:ln w="57150" cmpd="sng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6B30F96-F81A-0FEB-B06E-A0E254583846}"/>
              </a:ext>
            </a:extLst>
          </p:cNvPr>
          <p:cNvCxnSpPr/>
          <p:nvPr/>
        </p:nvCxnSpPr>
        <p:spPr>
          <a:xfrm>
            <a:off x="2942876" y="3184724"/>
            <a:ext cx="534956" cy="6946"/>
          </a:xfrm>
          <a:prstGeom prst="line">
            <a:avLst/>
          </a:prstGeom>
          <a:ln w="57150" cmpd="sng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48C737E-BFCD-B747-078E-F5B43DFE5F66}"/>
              </a:ext>
            </a:extLst>
          </p:cNvPr>
          <p:cNvCxnSpPr/>
          <p:nvPr/>
        </p:nvCxnSpPr>
        <p:spPr>
          <a:xfrm>
            <a:off x="3085395" y="3339113"/>
            <a:ext cx="534956" cy="6946"/>
          </a:xfrm>
          <a:prstGeom prst="line">
            <a:avLst/>
          </a:prstGeom>
          <a:ln w="57150" cmpd="sng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2014318-EA21-0EDA-D282-30C0D3C1F604}"/>
              </a:ext>
            </a:extLst>
          </p:cNvPr>
          <p:cNvCxnSpPr/>
          <p:nvPr/>
        </p:nvCxnSpPr>
        <p:spPr>
          <a:xfrm>
            <a:off x="3240834" y="3493502"/>
            <a:ext cx="534956" cy="6946"/>
          </a:xfrm>
          <a:prstGeom prst="line">
            <a:avLst/>
          </a:prstGeom>
          <a:ln w="57150" cmpd="sng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F1FEF99-200D-7A68-CFE2-28BC589D7D11}"/>
              </a:ext>
            </a:extLst>
          </p:cNvPr>
          <p:cNvCxnSpPr/>
          <p:nvPr/>
        </p:nvCxnSpPr>
        <p:spPr>
          <a:xfrm>
            <a:off x="3444586" y="3647889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7A48EF0-66F5-233F-08EC-B47371C309FD}"/>
              </a:ext>
            </a:extLst>
          </p:cNvPr>
          <p:cNvCxnSpPr/>
          <p:nvPr/>
        </p:nvCxnSpPr>
        <p:spPr>
          <a:xfrm>
            <a:off x="3567370" y="3045235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53BD7CA-D3FE-D98B-0D85-71AB18C566F8}"/>
              </a:ext>
            </a:extLst>
          </p:cNvPr>
          <p:cNvCxnSpPr/>
          <p:nvPr/>
        </p:nvCxnSpPr>
        <p:spPr>
          <a:xfrm>
            <a:off x="3727390" y="3199624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90D7587-F9EC-B366-BA98-C72341796EFB}"/>
              </a:ext>
            </a:extLst>
          </p:cNvPr>
          <p:cNvCxnSpPr/>
          <p:nvPr/>
        </p:nvCxnSpPr>
        <p:spPr>
          <a:xfrm>
            <a:off x="3869909" y="3354013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930C70F-17E9-EED4-14E1-AF58314C8060}"/>
              </a:ext>
            </a:extLst>
          </p:cNvPr>
          <p:cNvCxnSpPr/>
          <p:nvPr/>
        </p:nvCxnSpPr>
        <p:spPr>
          <a:xfrm>
            <a:off x="4025348" y="3508402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3A83DFE-0683-E7B1-DA19-7F5740070BD2}"/>
              </a:ext>
            </a:extLst>
          </p:cNvPr>
          <p:cNvCxnSpPr/>
          <p:nvPr/>
        </p:nvCxnSpPr>
        <p:spPr>
          <a:xfrm>
            <a:off x="4229100" y="3662789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C0254A2-434A-C6F2-E15B-F4CF9974E082}"/>
              </a:ext>
            </a:extLst>
          </p:cNvPr>
          <p:cNvCxnSpPr/>
          <p:nvPr/>
        </p:nvCxnSpPr>
        <p:spPr>
          <a:xfrm>
            <a:off x="4405570" y="3045235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BBB6727-D689-E28F-E143-23146F188839}"/>
              </a:ext>
            </a:extLst>
          </p:cNvPr>
          <p:cNvCxnSpPr/>
          <p:nvPr/>
        </p:nvCxnSpPr>
        <p:spPr>
          <a:xfrm>
            <a:off x="4565590" y="3199624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569645B-6185-3684-69B8-F949CFD7A205}"/>
              </a:ext>
            </a:extLst>
          </p:cNvPr>
          <p:cNvCxnSpPr/>
          <p:nvPr/>
        </p:nvCxnSpPr>
        <p:spPr>
          <a:xfrm>
            <a:off x="4708109" y="3354013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F653199-C4EE-60F2-1A34-B6F77CAC4B57}"/>
              </a:ext>
            </a:extLst>
          </p:cNvPr>
          <p:cNvCxnSpPr/>
          <p:nvPr/>
        </p:nvCxnSpPr>
        <p:spPr>
          <a:xfrm>
            <a:off x="4863548" y="3508402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883F668-D68E-A55F-925E-FB2083E074D0}"/>
              </a:ext>
            </a:extLst>
          </p:cNvPr>
          <p:cNvCxnSpPr/>
          <p:nvPr/>
        </p:nvCxnSpPr>
        <p:spPr>
          <a:xfrm>
            <a:off x="5067300" y="3662789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E3FB160E-272B-A4F4-EE94-0EBCEA8E03A2}"/>
              </a:ext>
            </a:extLst>
          </p:cNvPr>
          <p:cNvSpPr/>
          <p:nvPr/>
        </p:nvSpPr>
        <p:spPr>
          <a:xfrm>
            <a:off x="53283" y="2536638"/>
            <a:ext cx="20041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Mutated genome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81C5359-78DF-1017-E968-DA08ECF04926}"/>
              </a:ext>
            </a:extLst>
          </p:cNvPr>
          <p:cNvSpPr/>
          <p:nvPr/>
        </p:nvSpPr>
        <p:spPr>
          <a:xfrm>
            <a:off x="53283" y="3169347"/>
            <a:ext cx="16826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Mutated k-</a:t>
            </a:r>
            <a:r>
              <a:rPr lang="en-US" dirty="0" err="1">
                <a:latin typeface="+mj-lt"/>
              </a:rPr>
              <a:t>mers</a:t>
            </a:r>
            <a:endParaRPr lang="en-US" dirty="0">
              <a:latin typeface="+mj-lt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C81A822-D1D3-BEB8-AC01-B269A9295164}"/>
              </a:ext>
            </a:extLst>
          </p:cNvPr>
          <p:cNvSpPr/>
          <p:nvPr/>
        </p:nvSpPr>
        <p:spPr>
          <a:xfrm>
            <a:off x="6135656" y="2209800"/>
            <a:ext cx="2549917" cy="23621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439357-E032-37DC-6DDE-5F3E3409BBB7}"/>
              </a:ext>
            </a:extLst>
          </p:cNvPr>
          <p:cNvCxnSpPr/>
          <p:nvPr/>
        </p:nvCxnSpPr>
        <p:spPr>
          <a:xfrm>
            <a:off x="6553200" y="2667000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5495B10-276D-25BC-ADB6-30ABCFF14423}"/>
              </a:ext>
            </a:extLst>
          </p:cNvPr>
          <p:cNvCxnSpPr/>
          <p:nvPr/>
        </p:nvCxnSpPr>
        <p:spPr>
          <a:xfrm>
            <a:off x="6713220" y="2821389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E45E4E-6C3F-43CC-2998-81A2772A6DA3}"/>
              </a:ext>
            </a:extLst>
          </p:cNvPr>
          <p:cNvCxnSpPr/>
          <p:nvPr/>
        </p:nvCxnSpPr>
        <p:spPr>
          <a:xfrm>
            <a:off x="6855739" y="2975778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020B4B9-B7D7-A897-DC25-E00D337610FB}"/>
              </a:ext>
            </a:extLst>
          </p:cNvPr>
          <p:cNvCxnSpPr/>
          <p:nvPr/>
        </p:nvCxnSpPr>
        <p:spPr>
          <a:xfrm>
            <a:off x="7011178" y="3130167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AA55B38-1636-2043-FDA7-E39ADF8980B7}"/>
              </a:ext>
            </a:extLst>
          </p:cNvPr>
          <p:cNvCxnSpPr/>
          <p:nvPr/>
        </p:nvCxnSpPr>
        <p:spPr>
          <a:xfrm>
            <a:off x="7214930" y="3284554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1D64AFE-28AC-12A6-7142-AFE5278D811E}"/>
              </a:ext>
            </a:extLst>
          </p:cNvPr>
          <p:cNvCxnSpPr/>
          <p:nvPr/>
        </p:nvCxnSpPr>
        <p:spPr>
          <a:xfrm>
            <a:off x="7431056" y="2680922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0B02003-D694-32C2-1667-122EAFAAE642}"/>
              </a:ext>
            </a:extLst>
          </p:cNvPr>
          <p:cNvCxnSpPr/>
          <p:nvPr/>
        </p:nvCxnSpPr>
        <p:spPr>
          <a:xfrm>
            <a:off x="7591076" y="2835311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FAAD1F4-431C-E2AF-AFD7-C323045FE6C9}"/>
              </a:ext>
            </a:extLst>
          </p:cNvPr>
          <p:cNvCxnSpPr/>
          <p:nvPr/>
        </p:nvCxnSpPr>
        <p:spPr>
          <a:xfrm>
            <a:off x="7733595" y="2989700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2BB2FD0-6BF4-4C75-7222-5FF83C312CFE}"/>
              </a:ext>
            </a:extLst>
          </p:cNvPr>
          <p:cNvCxnSpPr/>
          <p:nvPr/>
        </p:nvCxnSpPr>
        <p:spPr>
          <a:xfrm>
            <a:off x="7889034" y="3144089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1FA05F3-BB70-39AE-B666-93376CDAC897}"/>
              </a:ext>
            </a:extLst>
          </p:cNvPr>
          <p:cNvCxnSpPr/>
          <p:nvPr/>
        </p:nvCxnSpPr>
        <p:spPr>
          <a:xfrm>
            <a:off x="8092786" y="3298476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8B62C88-7F75-1D99-14DD-86CF40483342}"/>
              </a:ext>
            </a:extLst>
          </p:cNvPr>
          <p:cNvCxnSpPr/>
          <p:nvPr/>
        </p:nvCxnSpPr>
        <p:spPr>
          <a:xfrm>
            <a:off x="6231258" y="3400178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74584D9-A91D-6FA3-8A3F-7BA623B4B76E}"/>
              </a:ext>
            </a:extLst>
          </p:cNvPr>
          <p:cNvCxnSpPr/>
          <p:nvPr/>
        </p:nvCxnSpPr>
        <p:spPr>
          <a:xfrm>
            <a:off x="6391278" y="3554567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7370D2C-FE4C-0D40-D255-07558EA3B344}"/>
              </a:ext>
            </a:extLst>
          </p:cNvPr>
          <p:cNvCxnSpPr/>
          <p:nvPr/>
        </p:nvCxnSpPr>
        <p:spPr>
          <a:xfrm>
            <a:off x="6533797" y="3708956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248867A-EC4D-4424-FE06-B48EFBF2A84D}"/>
              </a:ext>
            </a:extLst>
          </p:cNvPr>
          <p:cNvCxnSpPr/>
          <p:nvPr/>
        </p:nvCxnSpPr>
        <p:spPr>
          <a:xfrm>
            <a:off x="6689236" y="3863345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1933C4D-1E5C-953C-5BC4-25AC0FE0BD09}"/>
              </a:ext>
            </a:extLst>
          </p:cNvPr>
          <p:cNvCxnSpPr/>
          <p:nvPr/>
        </p:nvCxnSpPr>
        <p:spPr>
          <a:xfrm>
            <a:off x="6892988" y="4017732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217CB95-292A-E291-79D0-E390E89E23FF}"/>
              </a:ext>
            </a:extLst>
          </p:cNvPr>
          <p:cNvCxnSpPr/>
          <p:nvPr/>
        </p:nvCxnSpPr>
        <p:spPr>
          <a:xfrm>
            <a:off x="7109114" y="3414100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5AEDB42-CA4C-8727-B69D-F374EB7B2DE4}"/>
              </a:ext>
            </a:extLst>
          </p:cNvPr>
          <p:cNvCxnSpPr/>
          <p:nvPr/>
        </p:nvCxnSpPr>
        <p:spPr>
          <a:xfrm>
            <a:off x="7269134" y="3568489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459B57D-E00A-17D5-D405-6694A7E434A5}"/>
              </a:ext>
            </a:extLst>
          </p:cNvPr>
          <p:cNvCxnSpPr/>
          <p:nvPr/>
        </p:nvCxnSpPr>
        <p:spPr>
          <a:xfrm>
            <a:off x="7411653" y="3722878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101AE5B-EC70-E421-98CC-94A8D6D37625}"/>
              </a:ext>
            </a:extLst>
          </p:cNvPr>
          <p:cNvCxnSpPr/>
          <p:nvPr/>
        </p:nvCxnSpPr>
        <p:spPr>
          <a:xfrm>
            <a:off x="7567092" y="3877267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A4252A3-AE9A-1877-4599-19F5DCCB80F3}"/>
              </a:ext>
            </a:extLst>
          </p:cNvPr>
          <p:cNvCxnSpPr/>
          <p:nvPr/>
        </p:nvCxnSpPr>
        <p:spPr>
          <a:xfrm>
            <a:off x="7770844" y="4031654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F7BD4C17-0D33-8750-E180-FCCC3AABD372}"/>
              </a:ext>
            </a:extLst>
          </p:cNvPr>
          <p:cNvSpPr/>
          <p:nvPr/>
        </p:nvSpPr>
        <p:spPr>
          <a:xfrm>
            <a:off x="6892398" y="4553521"/>
            <a:ext cx="10342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Sample </a:t>
            </a:r>
            <a:r>
              <a:rPr lang="en-US" i="1" dirty="0">
                <a:latin typeface="+mj-lt"/>
              </a:rPr>
              <a:t>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47767DE-09D4-842A-42FA-99E311C86D47}"/>
              </a:ext>
            </a:extLst>
          </p:cNvPr>
          <p:cNvSpPr/>
          <p:nvPr/>
        </p:nvSpPr>
        <p:spPr>
          <a:xfrm>
            <a:off x="14405" y="1404649"/>
            <a:ext cx="54760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Null hypothesis H</a:t>
            </a:r>
            <a:r>
              <a:rPr lang="en-US" baseline="-25000" dirty="0">
                <a:latin typeface="+mj-lt"/>
              </a:rPr>
              <a:t>0</a:t>
            </a:r>
            <a:r>
              <a:rPr lang="en-US" dirty="0">
                <a:latin typeface="+mj-lt"/>
              </a:rPr>
              <a:t>: the genome is present in the sample</a:t>
            </a:r>
          </a:p>
        </p:txBody>
      </p:sp>
      <p:sp>
        <p:nvSpPr>
          <p:cNvPr id="53" name="Down Arrow 52">
            <a:extLst>
              <a:ext uri="{FF2B5EF4-FFF2-40B4-BE49-F238E27FC236}">
                <a16:creationId xmlns:a16="http://schemas.microsoft.com/office/drawing/2014/main" id="{44AC255D-3459-C556-66A0-AEE50E70E9AE}"/>
              </a:ext>
            </a:extLst>
          </p:cNvPr>
          <p:cNvSpPr/>
          <p:nvPr/>
        </p:nvSpPr>
        <p:spPr>
          <a:xfrm>
            <a:off x="3208021" y="2133600"/>
            <a:ext cx="45719" cy="45720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A0FC2D2-280F-A8D0-A135-0CA0D17F3761}"/>
              </a:ext>
            </a:extLst>
          </p:cNvPr>
          <p:cNvCxnSpPr>
            <a:cxnSpLocks/>
          </p:cNvCxnSpPr>
          <p:nvPr/>
        </p:nvCxnSpPr>
        <p:spPr>
          <a:xfrm>
            <a:off x="3185160" y="2743200"/>
            <a:ext cx="91440" cy="0"/>
          </a:xfrm>
          <a:prstGeom prst="line">
            <a:avLst/>
          </a:prstGeom>
          <a:ln w="57150" cmpd="sng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4864103"/>
      </p:ext>
    </p:extLst>
  </p:cSld>
  <p:clrMapOvr>
    <a:masterClrMapping/>
  </p:clrMapOvr>
  <p:transition spd="med"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D242C8-46E5-9762-7BA7-561494F43346}"/>
              </a:ext>
            </a:extLst>
          </p:cNvPr>
          <p:cNvSpPr/>
          <p:nvPr/>
        </p:nvSpPr>
        <p:spPr>
          <a:xfrm>
            <a:off x="53283" y="3169347"/>
            <a:ext cx="17403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Mutated k-</a:t>
            </a:r>
            <a:r>
              <a:rPr lang="en-US" dirty="0" err="1">
                <a:latin typeface="+mj-lt"/>
              </a:rPr>
              <a:t>mers</a:t>
            </a:r>
            <a:r>
              <a:rPr lang="en-US" dirty="0">
                <a:latin typeface="+mj-lt"/>
              </a:rPr>
              <a:t>,</a:t>
            </a:r>
          </a:p>
          <a:p>
            <a:r>
              <a:rPr lang="en-US" dirty="0">
                <a:latin typeface="+mj-lt"/>
              </a:rPr>
              <a:t>sketched:</a:t>
            </a:r>
          </a:p>
        </p:txBody>
      </p:sp>
      <p:sp>
        <p:nvSpPr>
          <p:cNvPr id="33" name="AutoShape 3" descr=" 4099">
            <a:extLst>
              <a:ext uri="{FF2B5EF4-FFF2-40B4-BE49-F238E27FC236}">
                <a16:creationId xmlns:a16="http://schemas.microsoft.com/office/drawing/2014/main" id="{8016D77B-058F-E662-3FEC-B5CE02C82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01011"/>
            <a:ext cx="2446415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How does it work?</a:t>
            </a:r>
          </a:p>
        </p:txBody>
      </p:sp>
      <p:sp>
        <p:nvSpPr>
          <p:cNvPr id="4" name="AutoShape 2" descr=" 4098">
            <a:extLst>
              <a:ext uri="{FF2B5EF4-FFF2-40B4-BE49-F238E27FC236}">
                <a16:creationId xmlns:a16="http://schemas.microsoft.com/office/drawing/2014/main" id="{ED08B9B3-A0EF-0623-2569-E6AAE92B3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672860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YACHT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ACA15C-272D-8005-751B-B55E9E8FE942}"/>
              </a:ext>
            </a:extLst>
          </p:cNvPr>
          <p:cNvSpPr/>
          <p:nvPr/>
        </p:nvSpPr>
        <p:spPr>
          <a:xfrm>
            <a:off x="2518765" y="867673"/>
            <a:ext cx="16303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Hypothesis test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FA62249-7D03-7A77-D1A3-FE01E35DF5F0}"/>
              </a:ext>
            </a:extLst>
          </p:cNvPr>
          <p:cNvCxnSpPr>
            <a:cxnSpLocks/>
          </p:cNvCxnSpPr>
          <p:nvPr/>
        </p:nvCxnSpPr>
        <p:spPr>
          <a:xfrm>
            <a:off x="1905000" y="2743200"/>
            <a:ext cx="3773456" cy="10149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68207763-C6A7-224F-C687-7D76334A19B6}"/>
              </a:ext>
            </a:extLst>
          </p:cNvPr>
          <p:cNvSpPr/>
          <p:nvPr/>
        </p:nvSpPr>
        <p:spPr>
          <a:xfrm>
            <a:off x="53283" y="2536638"/>
            <a:ext cx="20041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Mutated genome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B2E777F-6DD3-A09B-9777-7506E9F7F902}"/>
              </a:ext>
            </a:extLst>
          </p:cNvPr>
          <p:cNvCxnSpPr/>
          <p:nvPr/>
        </p:nvCxnSpPr>
        <p:spPr>
          <a:xfrm>
            <a:off x="1905000" y="3016413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E259201-E127-DE3E-FF56-8BC1C6B56202}"/>
              </a:ext>
            </a:extLst>
          </p:cNvPr>
          <p:cNvCxnSpPr/>
          <p:nvPr/>
        </p:nvCxnSpPr>
        <p:spPr>
          <a:xfrm>
            <a:off x="2782856" y="3030335"/>
            <a:ext cx="534956" cy="6946"/>
          </a:xfrm>
          <a:prstGeom prst="line">
            <a:avLst/>
          </a:prstGeom>
          <a:ln w="57150" cmpd="sng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1C32615-2B46-CAC7-8DD2-31F3AA518063}"/>
              </a:ext>
            </a:extLst>
          </p:cNvPr>
          <p:cNvCxnSpPr/>
          <p:nvPr/>
        </p:nvCxnSpPr>
        <p:spPr>
          <a:xfrm>
            <a:off x="3869909" y="3354013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8972F55-471E-B74C-A986-87678EF1B8AA}"/>
              </a:ext>
            </a:extLst>
          </p:cNvPr>
          <p:cNvCxnSpPr/>
          <p:nvPr/>
        </p:nvCxnSpPr>
        <p:spPr>
          <a:xfrm>
            <a:off x="5067300" y="3662789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Graphic 52">
            <a:extLst>
              <a:ext uri="{FF2B5EF4-FFF2-40B4-BE49-F238E27FC236}">
                <a16:creationId xmlns:a16="http://schemas.microsoft.com/office/drawing/2014/main" id="{45C1425F-FB27-5BBB-B18A-CD0D23E6EC34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9873"/>
          <a:stretch/>
        </p:blipFill>
        <p:spPr>
          <a:xfrm>
            <a:off x="1940165" y="4415726"/>
            <a:ext cx="1068177" cy="326897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D5062030-F4BE-5749-2F33-5F058E9DCC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5158" y="3543622"/>
            <a:ext cx="246418" cy="170597"/>
          </a:xfrm>
          <a:prstGeom prst="rect">
            <a:avLst/>
          </a:prstGeom>
        </p:spPr>
      </p:pic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9B7BC3E-1582-8F33-D8E1-70E067B43485}"/>
              </a:ext>
            </a:extLst>
          </p:cNvPr>
          <p:cNvCxnSpPr/>
          <p:nvPr/>
        </p:nvCxnSpPr>
        <p:spPr>
          <a:xfrm flipV="1">
            <a:off x="2493754" y="4742623"/>
            <a:ext cx="0" cy="4471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3317F899-060B-2CA4-51E4-C683048FF8BF}"/>
              </a:ext>
            </a:extLst>
          </p:cNvPr>
          <p:cNvSpPr/>
          <p:nvPr/>
        </p:nvSpPr>
        <p:spPr>
          <a:xfrm>
            <a:off x="1820206" y="5091564"/>
            <a:ext cx="1740348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+mj-lt"/>
              </a:rPr>
              <a:t>K-</a:t>
            </a:r>
            <a:r>
              <a:rPr lang="en-US" sz="1600" dirty="0" err="1">
                <a:latin typeface="+mj-lt"/>
              </a:rPr>
              <a:t>mers</a:t>
            </a:r>
            <a:r>
              <a:rPr lang="en-US" sz="1600" dirty="0">
                <a:latin typeface="+mj-lt"/>
              </a:rPr>
              <a:t> shared with sample </a:t>
            </a:r>
            <a:r>
              <a:rPr lang="en-US" sz="1600" i="1" dirty="0">
                <a:solidFill>
                  <a:srgbClr val="0070C0"/>
                </a:solidFill>
                <a:latin typeface="+mj-lt"/>
              </a:rPr>
              <a:t>S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E82FC080-5820-3F85-3504-4DBB2621DD64}"/>
              </a:ext>
            </a:extLst>
          </p:cNvPr>
          <p:cNvSpPr/>
          <p:nvPr/>
        </p:nvSpPr>
        <p:spPr>
          <a:xfrm>
            <a:off x="6135656" y="2209800"/>
            <a:ext cx="2549917" cy="23621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485F9318-9405-E341-D55C-0261A87377EB}"/>
              </a:ext>
            </a:extLst>
          </p:cNvPr>
          <p:cNvCxnSpPr/>
          <p:nvPr/>
        </p:nvCxnSpPr>
        <p:spPr>
          <a:xfrm>
            <a:off x="7214930" y="3284554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BB728958-93C8-0B18-25B2-9600438748C4}"/>
              </a:ext>
            </a:extLst>
          </p:cNvPr>
          <p:cNvCxnSpPr/>
          <p:nvPr/>
        </p:nvCxnSpPr>
        <p:spPr>
          <a:xfrm>
            <a:off x="7591076" y="2835311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D1D5991-6606-6EF9-04CE-1B975F3ABBD0}"/>
              </a:ext>
            </a:extLst>
          </p:cNvPr>
          <p:cNvCxnSpPr/>
          <p:nvPr/>
        </p:nvCxnSpPr>
        <p:spPr>
          <a:xfrm>
            <a:off x="6231258" y="3400178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D045927-0FC9-B86D-B3BB-9C9C035860C4}"/>
              </a:ext>
            </a:extLst>
          </p:cNvPr>
          <p:cNvCxnSpPr/>
          <p:nvPr/>
        </p:nvCxnSpPr>
        <p:spPr>
          <a:xfrm>
            <a:off x="7770844" y="4031654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EBFBBDD1-E5C8-EEB3-C5A3-1E688CC2EC78}"/>
              </a:ext>
            </a:extLst>
          </p:cNvPr>
          <p:cNvSpPr/>
          <p:nvPr/>
        </p:nvSpPr>
        <p:spPr>
          <a:xfrm>
            <a:off x="6892398" y="4553521"/>
            <a:ext cx="114326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Sample </a:t>
            </a:r>
            <a:r>
              <a:rPr lang="en-US" i="1" dirty="0">
                <a:latin typeface="+mj-lt"/>
              </a:rPr>
              <a:t>S</a:t>
            </a:r>
            <a:r>
              <a:rPr lang="en-US" dirty="0">
                <a:latin typeface="+mj-lt"/>
              </a:rPr>
              <a:t>, </a:t>
            </a:r>
          </a:p>
          <a:p>
            <a:r>
              <a:rPr lang="en-US" dirty="0">
                <a:latin typeface="+mj-lt"/>
              </a:rPr>
              <a:t>sketched</a:t>
            </a:r>
            <a:endParaRPr lang="en-US" i="1" dirty="0">
              <a:latin typeface="+mj-lt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01B30E11-E820-4627-66AA-59CAAF5DD53C}"/>
              </a:ext>
            </a:extLst>
          </p:cNvPr>
          <p:cNvSpPr/>
          <p:nvPr/>
        </p:nvSpPr>
        <p:spPr>
          <a:xfrm>
            <a:off x="14405" y="1404649"/>
            <a:ext cx="54760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Null hypothesis H</a:t>
            </a:r>
            <a:r>
              <a:rPr lang="en-US" baseline="-25000" dirty="0">
                <a:latin typeface="+mj-lt"/>
              </a:rPr>
              <a:t>0</a:t>
            </a:r>
            <a:r>
              <a:rPr lang="en-US" dirty="0">
                <a:latin typeface="+mj-lt"/>
              </a:rPr>
              <a:t>: the genome is present in the sample</a:t>
            </a:r>
          </a:p>
        </p:txBody>
      </p:sp>
      <p:sp>
        <p:nvSpPr>
          <p:cNvPr id="85" name="Down Arrow 84">
            <a:extLst>
              <a:ext uri="{FF2B5EF4-FFF2-40B4-BE49-F238E27FC236}">
                <a16:creationId xmlns:a16="http://schemas.microsoft.com/office/drawing/2014/main" id="{EF3951CA-DFF7-96A2-F328-7021EA0C25C0}"/>
              </a:ext>
            </a:extLst>
          </p:cNvPr>
          <p:cNvSpPr/>
          <p:nvPr/>
        </p:nvSpPr>
        <p:spPr>
          <a:xfrm>
            <a:off x="3208021" y="2133600"/>
            <a:ext cx="45719" cy="45720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A651E8DF-3B31-4E43-9DE7-CA9DA3055C96}"/>
              </a:ext>
            </a:extLst>
          </p:cNvPr>
          <p:cNvCxnSpPr>
            <a:cxnSpLocks/>
          </p:cNvCxnSpPr>
          <p:nvPr/>
        </p:nvCxnSpPr>
        <p:spPr>
          <a:xfrm>
            <a:off x="3185160" y="2743200"/>
            <a:ext cx="91440" cy="0"/>
          </a:xfrm>
          <a:prstGeom prst="line">
            <a:avLst/>
          </a:prstGeom>
          <a:ln w="57150" cmpd="sng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4526619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D242C8-46E5-9762-7BA7-561494F43346}"/>
              </a:ext>
            </a:extLst>
          </p:cNvPr>
          <p:cNvSpPr/>
          <p:nvPr/>
        </p:nvSpPr>
        <p:spPr>
          <a:xfrm>
            <a:off x="53283" y="3169347"/>
            <a:ext cx="17403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Mutated k-</a:t>
            </a:r>
            <a:r>
              <a:rPr lang="en-US" dirty="0" err="1">
                <a:latin typeface="+mj-lt"/>
              </a:rPr>
              <a:t>mers</a:t>
            </a:r>
            <a:r>
              <a:rPr lang="en-US" dirty="0">
                <a:latin typeface="+mj-lt"/>
              </a:rPr>
              <a:t>,</a:t>
            </a:r>
          </a:p>
          <a:p>
            <a:r>
              <a:rPr lang="en-US" dirty="0">
                <a:latin typeface="+mj-lt"/>
              </a:rPr>
              <a:t>sketched:</a:t>
            </a:r>
          </a:p>
        </p:txBody>
      </p:sp>
      <p:sp>
        <p:nvSpPr>
          <p:cNvPr id="33" name="AutoShape 3" descr=" 4099">
            <a:extLst>
              <a:ext uri="{FF2B5EF4-FFF2-40B4-BE49-F238E27FC236}">
                <a16:creationId xmlns:a16="http://schemas.microsoft.com/office/drawing/2014/main" id="{8016D77B-058F-E662-3FEC-B5CE02C82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01011"/>
            <a:ext cx="2446415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How does it work?</a:t>
            </a:r>
          </a:p>
        </p:txBody>
      </p:sp>
      <p:sp>
        <p:nvSpPr>
          <p:cNvPr id="4" name="AutoShape 2" descr=" 4098">
            <a:extLst>
              <a:ext uri="{FF2B5EF4-FFF2-40B4-BE49-F238E27FC236}">
                <a16:creationId xmlns:a16="http://schemas.microsoft.com/office/drawing/2014/main" id="{ED08B9B3-A0EF-0623-2569-E6AAE92B3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672860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YACHT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ACA15C-272D-8005-751B-B55E9E8FE942}"/>
              </a:ext>
            </a:extLst>
          </p:cNvPr>
          <p:cNvSpPr/>
          <p:nvPr/>
        </p:nvSpPr>
        <p:spPr>
          <a:xfrm>
            <a:off x="2518765" y="867673"/>
            <a:ext cx="16303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Hypothesis test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FA62249-7D03-7A77-D1A3-FE01E35DF5F0}"/>
              </a:ext>
            </a:extLst>
          </p:cNvPr>
          <p:cNvCxnSpPr>
            <a:cxnSpLocks/>
          </p:cNvCxnSpPr>
          <p:nvPr/>
        </p:nvCxnSpPr>
        <p:spPr>
          <a:xfrm>
            <a:off x="1905000" y="2743200"/>
            <a:ext cx="3773456" cy="10149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68207763-C6A7-224F-C687-7D76334A19B6}"/>
              </a:ext>
            </a:extLst>
          </p:cNvPr>
          <p:cNvSpPr/>
          <p:nvPr/>
        </p:nvSpPr>
        <p:spPr>
          <a:xfrm>
            <a:off x="53283" y="2536638"/>
            <a:ext cx="20041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Mutated genome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B2E777F-6DD3-A09B-9777-7506E9F7F902}"/>
              </a:ext>
            </a:extLst>
          </p:cNvPr>
          <p:cNvCxnSpPr/>
          <p:nvPr/>
        </p:nvCxnSpPr>
        <p:spPr>
          <a:xfrm>
            <a:off x="1905000" y="3016413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E259201-E127-DE3E-FF56-8BC1C6B56202}"/>
              </a:ext>
            </a:extLst>
          </p:cNvPr>
          <p:cNvCxnSpPr/>
          <p:nvPr/>
        </p:nvCxnSpPr>
        <p:spPr>
          <a:xfrm>
            <a:off x="2782856" y="3030335"/>
            <a:ext cx="534956" cy="0"/>
          </a:xfrm>
          <a:prstGeom prst="line">
            <a:avLst/>
          </a:prstGeom>
          <a:ln w="57150" cmpd="sng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1C32615-2B46-CAC7-8DD2-31F3AA518063}"/>
              </a:ext>
            </a:extLst>
          </p:cNvPr>
          <p:cNvCxnSpPr/>
          <p:nvPr/>
        </p:nvCxnSpPr>
        <p:spPr>
          <a:xfrm>
            <a:off x="3869909" y="3354013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8972F55-471E-B74C-A986-87678EF1B8AA}"/>
              </a:ext>
            </a:extLst>
          </p:cNvPr>
          <p:cNvCxnSpPr/>
          <p:nvPr/>
        </p:nvCxnSpPr>
        <p:spPr>
          <a:xfrm>
            <a:off x="5067300" y="3662789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Graphic 52">
            <a:extLst>
              <a:ext uri="{FF2B5EF4-FFF2-40B4-BE49-F238E27FC236}">
                <a16:creationId xmlns:a16="http://schemas.microsoft.com/office/drawing/2014/main" id="{45C1425F-FB27-5BBB-B18A-CD0D23E6EC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940165" y="4415726"/>
            <a:ext cx="3545578" cy="326897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D5062030-F4BE-5749-2F33-5F058E9DCC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5158" y="3543622"/>
            <a:ext cx="246418" cy="170597"/>
          </a:xfrm>
          <a:prstGeom prst="rect">
            <a:avLst/>
          </a:prstGeom>
        </p:spPr>
      </p:pic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9B7BC3E-1582-8F33-D8E1-70E067B43485}"/>
              </a:ext>
            </a:extLst>
          </p:cNvPr>
          <p:cNvCxnSpPr/>
          <p:nvPr/>
        </p:nvCxnSpPr>
        <p:spPr>
          <a:xfrm flipV="1">
            <a:off x="2493754" y="4742623"/>
            <a:ext cx="0" cy="4471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3317F899-060B-2CA4-51E4-C683048FF8BF}"/>
              </a:ext>
            </a:extLst>
          </p:cNvPr>
          <p:cNvSpPr/>
          <p:nvPr/>
        </p:nvSpPr>
        <p:spPr>
          <a:xfrm>
            <a:off x="1820206" y="5091564"/>
            <a:ext cx="1740348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+mj-lt"/>
              </a:rPr>
              <a:t>K-</a:t>
            </a:r>
            <a:r>
              <a:rPr lang="en-US" sz="1600" dirty="0" err="1">
                <a:latin typeface="+mj-lt"/>
              </a:rPr>
              <a:t>mers</a:t>
            </a:r>
            <a:r>
              <a:rPr lang="en-US" sz="1600" dirty="0">
                <a:latin typeface="+mj-lt"/>
              </a:rPr>
              <a:t> shared with sample </a:t>
            </a:r>
            <a:r>
              <a:rPr lang="en-US" sz="1600" i="1" dirty="0">
                <a:solidFill>
                  <a:srgbClr val="0070C0"/>
                </a:solidFill>
                <a:latin typeface="+mj-lt"/>
              </a:rPr>
              <a:t>S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49B871DE-7AE8-9109-EC65-BEF27E24C4EA}"/>
              </a:ext>
            </a:extLst>
          </p:cNvPr>
          <p:cNvCxnSpPr/>
          <p:nvPr/>
        </p:nvCxnSpPr>
        <p:spPr>
          <a:xfrm flipV="1">
            <a:off x="4551154" y="4732622"/>
            <a:ext cx="0" cy="4471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F43897A2-597E-04FD-A199-CFC36FE9E588}"/>
              </a:ext>
            </a:extLst>
          </p:cNvPr>
          <p:cNvSpPr/>
          <p:nvPr/>
        </p:nvSpPr>
        <p:spPr>
          <a:xfrm>
            <a:off x="3505200" y="5091564"/>
            <a:ext cx="3185105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+mj-lt"/>
              </a:rPr>
              <a:t>Prob. k-</a:t>
            </a:r>
            <a:r>
              <a:rPr lang="en-US" sz="1600" dirty="0" err="1">
                <a:latin typeface="+mj-lt"/>
              </a:rPr>
              <a:t>mer</a:t>
            </a:r>
            <a:r>
              <a:rPr lang="en-US" sz="1600" dirty="0">
                <a:latin typeface="+mj-lt"/>
              </a:rPr>
              <a:t> unmutated</a:t>
            </a:r>
          </a:p>
          <a:p>
            <a:r>
              <a:rPr lang="en-US" sz="1600" dirty="0">
                <a:latin typeface="+mj-lt"/>
              </a:rPr>
              <a:t>(ANI = non-mut. prob = a)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E82FC080-5820-3F85-3504-4DBB2621DD64}"/>
              </a:ext>
            </a:extLst>
          </p:cNvPr>
          <p:cNvSpPr/>
          <p:nvPr/>
        </p:nvSpPr>
        <p:spPr>
          <a:xfrm>
            <a:off x="6135656" y="2209800"/>
            <a:ext cx="2549917" cy="23621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485F9318-9405-E341-D55C-0261A87377EB}"/>
              </a:ext>
            </a:extLst>
          </p:cNvPr>
          <p:cNvCxnSpPr/>
          <p:nvPr/>
        </p:nvCxnSpPr>
        <p:spPr>
          <a:xfrm>
            <a:off x="7214930" y="3284554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BB728958-93C8-0B18-25B2-9600438748C4}"/>
              </a:ext>
            </a:extLst>
          </p:cNvPr>
          <p:cNvCxnSpPr/>
          <p:nvPr/>
        </p:nvCxnSpPr>
        <p:spPr>
          <a:xfrm>
            <a:off x="7591076" y="2835311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D1D5991-6606-6EF9-04CE-1B975F3ABBD0}"/>
              </a:ext>
            </a:extLst>
          </p:cNvPr>
          <p:cNvCxnSpPr/>
          <p:nvPr/>
        </p:nvCxnSpPr>
        <p:spPr>
          <a:xfrm>
            <a:off x="6231258" y="3400178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D045927-0FC9-B86D-B3BB-9C9C035860C4}"/>
              </a:ext>
            </a:extLst>
          </p:cNvPr>
          <p:cNvCxnSpPr/>
          <p:nvPr/>
        </p:nvCxnSpPr>
        <p:spPr>
          <a:xfrm>
            <a:off x="7770844" y="4031654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EBFBBDD1-E5C8-EEB3-C5A3-1E688CC2EC78}"/>
              </a:ext>
            </a:extLst>
          </p:cNvPr>
          <p:cNvSpPr/>
          <p:nvPr/>
        </p:nvSpPr>
        <p:spPr>
          <a:xfrm>
            <a:off x="6892398" y="4553521"/>
            <a:ext cx="114326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Sample </a:t>
            </a:r>
            <a:r>
              <a:rPr lang="en-US" i="1" dirty="0">
                <a:latin typeface="+mj-lt"/>
              </a:rPr>
              <a:t>S</a:t>
            </a:r>
            <a:r>
              <a:rPr lang="en-US" dirty="0">
                <a:latin typeface="+mj-lt"/>
              </a:rPr>
              <a:t>, </a:t>
            </a:r>
          </a:p>
          <a:p>
            <a:r>
              <a:rPr lang="en-US" dirty="0">
                <a:latin typeface="+mj-lt"/>
              </a:rPr>
              <a:t>sketched</a:t>
            </a:r>
            <a:endParaRPr lang="en-US" i="1" dirty="0">
              <a:latin typeface="+mj-lt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01B30E11-E820-4627-66AA-59CAAF5DD53C}"/>
              </a:ext>
            </a:extLst>
          </p:cNvPr>
          <p:cNvSpPr/>
          <p:nvPr/>
        </p:nvSpPr>
        <p:spPr>
          <a:xfrm>
            <a:off x="14405" y="1404649"/>
            <a:ext cx="54760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Null hypothesis H</a:t>
            </a:r>
            <a:r>
              <a:rPr lang="en-US" baseline="-25000" dirty="0">
                <a:latin typeface="+mj-lt"/>
              </a:rPr>
              <a:t>0</a:t>
            </a:r>
            <a:r>
              <a:rPr lang="en-US" dirty="0">
                <a:latin typeface="+mj-lt"/>
              </a:rPr>
              <a:t>: the genome is present in the sample</a:t>
            </a:r>
          </a:p>
        </p:txBody>
      </p:sp>
      <p:sp>
        <p:nvSpPr>
          <p:cNvPr id="85" name="Down Arrow 84">
            <a:extLst>
              <a:ext uri="{FF2B5EF4-FFF2-40B4-BE49-F238E27FC236}">
                <a16:creationId xmlns:a16="http://schemas.microsoft.com/office/drawing/2014/main" id="{EF3951CA-DFF7-96A2-F328-7021EA0C25C0}"/>
              </a:ext>
            </a:extLst>
          </p:cNvPr>
          <p:cNvSpPr/>
          <p:nvPr/>
        </p:nvSpPr>
        <p:spPr>
          <a:xfrm>
            <a:off x="3208021" y="2133600"/>
            <a:ext cx="45719" cy="45720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A651E8DF-3B31-4E43-9DE7-CA9DA3055C96}"/>
              </a:ext>
            </a:extLst>
          </p:cNvPr>
          <p:cNvCxnSpPr>
            <a:cxnSpLocks/>
          </p:cNvCxnSpPr>
          <p:nvPr/>
        </p:nvCxnSpPr>
        <p:spPr>
          <a:xfrm>
            <a:off x="3185160" y="2743200"/>
            <a:ext cx="91440" cy="0"/>
          </a:xfrm>
          <a:prstGeom prst="line">
            <a:avLst/>
          </a:prstGeom>
          <a:ln w="57150" cmpd="sng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1166914"/>
      </p:ext>
    </p:extLst>
  </p:cSld>
  <p:clrMapOvr>
    <a:masterClrMapping/>
  </p:clrMapOvr>
  <p:transition spd="med"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D242C8-46E5-9762-7BA7-561494F43346}"/>
              </a:ext>
            </a:extLst>
          </p:cNvPr>
          <p:cNvSpPr/>
          <p:nvPr/>
        </p:nvSpPr>
        <p:spPr>
          <a:xfrm>
            <a:off x="53283" y="3169347"/>
            <a:ext cx="17403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Mutated k-</a:t>
            </a:r>
            <a:r>
              <a:rPr lang="en-US" dirty="0" err="1">
                <a:latin typeface="+mj-lt"/>
              </a:rPr>
              <a:t>mers</a:t>
            </a:r>
            <a:r>
              <a:rPr lang="en-US" dirty="0">
                <a:latin typeface="+mj-lt"/>
              </a:rPr>
              <a:t>,</a:t>
            </a:r>
          </a:p>
          <a:p>
            <a:r>
              <a:rPr lang="en-US" dirty="0">
                <a:latin typeface="+mj-lt"/>
              </a:rPr>
              <a:t>sketched:</a:t>
            </a:r>
          </a:p>
        </p:txBody>
      </p:sp>
      <p:sp>
        <p:nvSpPr>
          <p:cNvPr id="33" name="AutoShape 3" descr=" 4099">
            <a:extLst>
              <a:ext uri="{FF2B5EF4-FFF2-40B4-BE49-F238E27FC236}">
                <a16:creationId xmlns:a16="http://schemas.microsoft.com/office/drawing/2014/main" id="{8016D77B-058F-E662-3FEC-B5CE02C82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01011"/>
            <a:ext cx="2446415" cy="475488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How does it work?</a:t>
            </a:r>
          </a:p>
        </p:txBody>
      </p:sp>
      <p:sp>
        <p:nvSpPr>
          <p:cNvPr id="4" name="AutoShape 2" descr=" 4098">
            <a:extLst>
              <a:ext uri="{FF2B5EF4-FFF2-40B4-BE49-F238E27FC236}">
                <a16:creationId xmlns:a16="http://schemas.microsoft.com/office/drawing/2014/main" id="{ED08B9B3-A0EF-0623-2569-E6AAE92B3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672860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YACHT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ACA15C-272D-8005-751B-B55E9E8FE942}"/>
              </a:ext>
            </a:extLst>
          </p:cNvPr>
          <p:cNvSpPr/>
          <p:nvPr/>
        </p:nvSpPr>
        <p:spPr>
          <a:xfrm>
            <a:off x="2518765" y="867673"/>
            <a:ext cx="16303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Hypothesis test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E2E7DF-F802-FCC8-9BE3-1DC47694B4FF}"/>
              </a:ext>
            </a:extLst>
          </p:cNvPr>
          <p:cNvSpPr/>
          <p:nvPr/>
        </p:nvSpPr>
        <p:spPr>
          <a:xfrm>
            <a:off x="14405" y="1404649"/>
            <a:ext cx="54760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Null hypothesis H</a:t>
            </a:r>
            <a:r>
              <a:rPr lang="en-US" baseline="-25000" dirty="0">
                <a:latin typeface="+mj-lt"/>
              </a:rPr>
              <a:t>0</a:t>
            </a:r>
            <a:r>
              <a:rPr lang="en-US" dirty="0">
                <a:latin typeface="+mj-lt"/>
              </a:rPr>
              <a:t>: the genome is present in the sample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FA62249-7D03-7A77-D1A3-FE01E35DF5F0}"/>
              </a:ext>
            </a:extLst>
          </p:cNvPr>
          <p:cNvCxnSpPr>
            <a:cxnSpLocks/>
          </p:cNvCxnSpPr>
          <p:nvPr/>
        </p:nvCxnSpPr>
        <p:spPr>
          <a:xfrm>
            <a:off x="1905000" y="2743200"/>
            <a:ext cx="3773456" cy="10149"/>
          </a:xfrm>
          <a:prstGeom prst="line">
            <a:avLst/>
          </a:prstGeom>
          <a:ln w="5715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own Arrow 1">
            <a:extLst>
              <a:ext uri="{FF2B5EF4-FFF2-40B4-BE49-F238E27FC236}">
                <a16:creationId xmlns:a16="http://schemas.microsoft.com/office/drawing/2014/main" id="{0A84A92C-4486-4986-21A8-2777E7F1A3D6}"/>
              </a:ext>
            </a:extLst>
          </p:cNvPr>
          <p:cNvSpPr/>
          <p:nvPr/>
        </p:nvSpPr>
        <p:spPr>
          <a:xfrm>
            <a:off x="3208021" y="2133600"/>
            <a:ext cx="45719" cy="45720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207763-C6A7-224F-C687-7D76334A19B6}"/>
              </a:ext>
            </a:extLst>
          </p:cNvPr>
          <p:cNvSpPr/>
          <p:nvPr/>
        </p:nvSpPr>
        <p:spPr>
          <a:xfrm>
            <a:off x="53283" y="2536638"/>
            <a:ext cx="20041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Mutated genome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B2E777F-6DD3-A09B-9777-7506E9F7F902}"/>
              </a:ext>
            </a:extLst>
          </p:cNvPr>
          <p:cNvCxnSpPr/>
          <p:nvPr/>
        </p:nvCxnSpPr>
        <p:spPr>
          <a:xfrm>
            <a:off x="1905000" y="3016413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E259201-E127-DE3E-FF56-8BC1C6B56202}"/>
              </a:ext>
            </a:extLst>
          </p:cNvPr>
          <p:cNvCxnSpPr/>
          <p:nvPr/>
        </p:nvCxnSpPr>
        <p:spPr>
          <a:xfrm>
            <a:off x="2782856" y="3030335"/>
            <a:ext cx="534956" cy="0"/>
          </a:xfrm>
          <a:prstGeom prst="line">
            <a:avLst/>
          </a:prstGeom>
          <a:ln w="57150" cmpd="sng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1C32615-2B46-CAC7-8DD2-31F3AA518063}"/>
              </a:ext>
            </a:extLst>
          </p:cNvPr>
          <p:cNvCxnSpPr/>
          <p:nvPr/>
        </p:nvCxnSpPr>
        <p:spPr>
          <a:xfrm>
            <a:off x="3869909" y="3354013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8972F55-471E-B74C-A986-87678EF1B8AA}"/>
              </a:ext>
            </a:extLst>
          </p:cNvPr>
          <p:cNvCxnSpPr/>
          <p:nvPr/>
        </p:nvCxnSpPr>
        <p:spPr>
          <a:xfrm>
            <a:off x="5067300" y="3662789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Graphic 55">
            <a:extLst>
              <a:ext uri="{FF2B5EF4-FFF2-40B4-BE49-F238E27FC236}">
                <a16:creationId xmlns:a16="http://schemas.microsoft.com/office/drawing/2014/main" id="{D5062030-F4BE-5749-2F33-5F058E9DCC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5158" y="3543622"/>
            <a:ext cx="246418" cy="170597"/>
          </a:xfrm>
          <a:prstGeom prst="rect">
            <a:avLst/>
          </a:prstGeom>
        </p:spPr>
      </p:pic>
      <p:sp>
        <p:nvSpPr>
          <p:cNvPr id="62" name="Oval 61">
            <a:extLst>
              <a:ext uri="{FF2B5EF4-FFF2-40B4-BE49-F238E27FC236}">
                <a16:creationId xmlns:a16="http://schemas.microsoft.com/office/drawing/2014/main" id="{E82FC080-5820-3F85-3504-4DBB2621DD64}"/>
              </a:ext>
            </a:extLst>
          </p:cNvPr>
          <p:cNvSpPr/>
          <p:nvPr/>
        </p:nvSpPr>
        <p:spPr>
          <a:xfrm>
            <a:off x="6135656" y="2209800"/>
            <a:ext cx="2549917" cy="23621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485F9318-9405-E341-D55C-0261A87377EB}"/>
              </a:ext>
            </a:extLst>
          </p:cNvPr>
          <p:cNvCxnSpPr/>
          <p:nvPr/>
        </p:nvCxnSpPr>
        <p:spPr>
          <a:xfrm>
            <a:off x="7214930" y="3284554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BB728958-93C8-0B18-25B2-9600438748C4}"/>
              </a:ext>
            </a:extLst>
          </p:cNvPr>
          <p:cNvCxnSpPr/>
          <p:nvPr/>
        </p:nvCxnSpPr>
        <p:spPr>
          <a:xfrm>
            <a:off x="7591076" y="2835311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D1D5991-6606-6EF9-04CE-1B975F3ABBD0}"/>
              </a:ext>
            </a:extLst>
          </p:cNvPr>
          <p:cNvCxnSpPr/>
          <p:nvPr/>
        </p:nvCxnSpPr>
        <p:spPr>
          <a:xfrm>
            <a:off x="6231258" y="3400178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D045927-0FC9-B86D-B3BB-9C9C035860C4}"/>
              </a:ext>
            </a:extLst>
          </p:cNvPr>
          <p:cNvCxnSpPr/>
          <p:nvPr/>
        </p:nvCxnSpPr>
        <p:spPr>
          <a:xfrm>
            <a:off x="7770844" y="4031654"/>
            <a:ext cx="534956" cy="6946"/>
          </a:xfrm>
          <a:prstGeom prst="line">
            <a:avLst/>
          </a:prstGeom>
          <a:ln w="5715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EBFBBDD1-E5C8-EEB3-C5A3-1E688CC2EC78}"/>
              </a:ext>
            </a:extLst>
          </p:cNvPr>
          <p:cNvSpPr/>
          <p:nvPr/>
        </p:nvSpPr>
        <p:spPr>
          <a:xfrm>
            <a:off x="6892398" y="4553521"/>
            <a:ext cx="114326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Sample </a:t>
            </a:r>
            <a:r>
              <a:rPr lang="en-US" i="1" dirty="0">
                <a:latin typeface="+mj-lt"/>
              </a:rPr>
              <a:t>S</a:t>
            </a:r>
            <a:r>
              <a:rPr lang="en-US" dirty="0">
                <a:latin typeface="+mj-lt"/>
              </a:rPr>
              <a:t>, </a:t>
            </a:r>
          </a:p>
          <a:p>
            <a:r>
              <a:rPr lang="en-US" dirty="0">
                <a:latin typeface="+mj-lt"/>
              </a:rPr>
              <a:t>sketched</a:t>
            </a:r>
            <a:endParaRPr lang="en-US" i="1" dirty="0">
              <a:latin typeface="+mj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06A1ED-5646-E4DE-69FA-830C5A70E4FA}"/>
              </a:ext>
            </a:extLst>
          </p:cNvPr>
          <p:cNvSpPr/>
          <p:nvPr/>
        </p:nvSpPr>
        <p:spPr>
          <a:xfrm>
            <a:off x="26505" y="4356127"/>
            <a:ext cx="7354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So for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FFD149A-B359-5DC8-226C-30E2AD1D33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8688" y="4423224"/>
            <a:ext cx="1989638" cy="23513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08F731F-0840-5372-CFDF-CC22C0567B34}"/>
              </a:ext>
            </a:extLst>
          </p:cNvPr>
          <p:cNvSpPr/>
          <p:nvPr/>
        </p:nvSpPr>
        <p:spPr>
          <a:xfrm>
            <a:off x="2817846" y="4356127"/>
            <a:ext cx="5349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and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3BBBEDC7-101C-7D07-8D16-E9B90C2D4D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52800" y="4449975"/>
            <a:ext cx="227045" cy="18163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ED7E820-F9D2-26DF-DA33-3055041D8021}"/>
              </a:ext>
            </a:extLst>
          </p:cNvPr>
          <p:cNvSpPr/>
          <p:nvPr/>
        </p:nvSpPr>
        <p:spPr>
          <a:xfrm>
            <a:off x="3581399" y="4356127"/>
            <a:ext cx="19497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largest such that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0FFB4DB7-D0A9-C030-F968-EEC5A01702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26955" y="4836539"/>
            <a:ext cx="1770414" cy="279539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6210D72-D26E-5D2F-A4E0-55E3F2CC7D67}"/>
              </a:ext>
            </a:extLst>
          </p:cNvPr>
          <p:cNvCxnSpPr/>
          <p:nvPr/>
        </p:nvCxnSpPr>
        <p:spPr>
          <a:xfrm flipH="1">
            <a:off x="3194337" y="4953000"/>
            <a:ext cx="5394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873A4CBC-0B19-790B-7DAB-9F9780F8AF8A}"/>
              </a:ext>
            </a:extLst>
          </p:cNvPr>
          <p:cNvSpPr/>
          <p:nvPr/>
        </p:nvSpPr>
        <p:spPr>
          <a:xfrm>
            <a:off x="3733800" y="4800600"/>
            <a:ext cx="2204542" cy="33855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+mj-lt"/>
              </a:rPr>
              <a:t>significance (1-FN rate)</a:t>
            </a:r>
            <a:endParaRPr lang="en-US" sz="1600" i="1" dirty="0">
              <a:solidFill>
                <a:srgbClr val="0070C0"/>
              </a:solidFill>
              <a:latin typeface="+mj-lt"/>
            </a:endParaRP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C68CA729-7318-5B3F-0AA2-9E4FB08777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29466" y="6068923"/>
            <a:ext cx="1661900" cy="255677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0D09511B-F570-C9BA-4B9B-6BB71405A6BA}"/>
              </a:ext>
            </a:extLst>
          </p:cNvPr>
          <p:cNvSpPr/>
          <p:nvPr/>
        </p:nvSpPr>
        <p:spPr>
          <a:xfrm>
            <a:off x="1828800" y="6012095"/>
            <a:ext cx="3505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Genome in sample (accept H</a:t>
            </a:r>
            <a:r>
              <a:rPr lang="en-US" baseline="-25000" dirty="0">
                <a:latin typeface="+mj-lt"/>
              </a:rPr>
              <a:t>0</a:t>
            </a:r>
            <a:r>
              <a:rPr lang="en-US" dirty="0">
                <a:latin typeface="+mj-lt"/>
              </a:rPr>
              <a:t>)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808C5CA2-FFD0-59A0-D3FC-E7A36BABF6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18813" y="6469296"/>
            <a:ext cx="1661900" cy="255677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F36C125D-B3BD-67CA-FDB6-633007CBF208}"/>
              </a:ext>
            </a:extLst>
          </p:cNvPr>
          <p:cNvSpPr/>
          <p:nvPr/>
        </p:nvSpPr>
        <p:spPr>
          <a:xfrm>
            <a:off x="1828800" y="6412468"/>
            <a:ext cx="3505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Genome </a:t>
            </a:r>
            <a:r>
              <a:rPr lang="en-US" i="1" dirty="0">
                <a:latin typeface="+mj-lt"/>
              </a:rPr>
              <a:t>not</a:t>
            </a:r>
            <a:r>
              <a:rPr lang="en-US" dirty="0">
                <a:latin typeface="+mj-lt"/>
              </a:rPr>
              <a:t> in sample (reject H</a:t>
            </a:r>
            <a:r>
              <a:rPr lang="en-US" baseline="-25000" dirty="0">
                <a:latin typeface="+mj-lt"/>
              </a:rPr>
              <a:t>0</a:t>
            </a:r>
            <a:r>
              <a:rPr lang="en-US" dirty="0">
                <a:latin typeface="+mj-lt"/>
              </a:rPr>
              <a:t>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312D6B2-CC89-7120-4B20-3C2C71501B99}"/>
              </a:ext>
            </a:extLst>
          </p:cNvPr>
          <p:cNvSpPr/>
          <p:nvPr/>
        </p:nvSpPr>
        <p:spPr>
          <a:xfrm>
            <a:off x="2779744" y="5181600"/>
            <a:ext cx="3773456" cy="615553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+mj-lt"/>
              </a:rPr>
              <a:t>Fewest k-</a:t>
            </a:r>
            <a:r>
              <a:rPr lang="en-US" sz="1600" dirty="0" err="1">
                <a:latin typeface="+mj-lt"/>
              </a:rPr>
              <a:t>mers</a:t>
            </a:r>
            <a:r>
              <a:rPr lang="en-US" sz="1600" dirty="0">
                <a:latin typeface="+mj-lt"/>
              </a:rPr>
              <a:t> we would see (</a:t>
            </a:r>
            <a:r>
              <a:rPr lang="en-US" sz="1600" dirty="0" err="1">
                <a:latin typeface="+mj-lt"/>
              </a:rPr>
              <a:t>w.p.</a:t>
            </a:r>
            <a:r>
              <a:rPr lang="en-US" sz="1600" dirty="0">
                <a:latin typeface="+mj-lt"/>
              </a:rPr>
              <a:t>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sym typeface="Symbol" pitchFamily="2" charset="2"/>
              </a:rPr>
              <a:t></a:t>
            </a:r>
            <a:r>
              <a:rPr lang="en-US" sz="1600" dirty="0">
                <a:latin typeface="+mj-lt"/>
              </a:rPr>
              <a:t>) if the mutated genome was present</a:t>
            </a:r>
            <a:endParaRPr lang="en-US" sz="1600" i="1" dirty="0">
              <a:solidFill>
                <a:srgbClr val="0070C0"/>
              </a:solidFill>
              <a:latin typeface="+mj-lt"/>
            </a:endParaRPr>
          </a:p>
        </p:txBody>
      </p:sp>
      <p:cxnSp>
        <p:nvCxnSpPr>
          <p:cNvPr id="32" name="Curved Connector 31">
            <a:extLst>
              <a:ext uri="{FF2B5EF4-FFF2-40B4-BE49-F238E27FC236}">
                <a16:creationId xmlns:a16="http://schemas.microsoft.com/office/drawing/2014/main" id="{771EF5C8-7D14-73C4-388A-63C78FE9FA96}"/>
              </a:ext>
            </a:extLst>
          </p:cNvPr>
          <p:cNvCxnSpPr>
            <a:cxnSpLocks/>
            <a:stCxn id="30" idx="1"/>
          </p:cNvCxnSpPr>
          <p:nvPr/>
        </p:nvCxnSpPr>
        <p:spPr>
          <a:xfrm rot="10800000">
            <a:off x="2324906" y="5116079"/>
            <a:ext cx="454838" cy="373299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CAD873DF-51FB-E95E-05CF-990872E9C5DE}"/>
              </a:ext>
            </a:extLst>
          </p:cNvPr>
          <p:cNvSpPr/>
          <p:nvPr/>
        </p:nvSpPr>
        <p:spPr>
          <a:xfrm>
            <a:off x="53283" y="5560996"/>
            <a:ext cx="19497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Then: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9F5BA83-EF61-D66D-9C6F-D8FEA6B3E3DE}"/>
              </a:ext>
            </a:extLst>
          </p:cNvPr>
          <p:cNvCxnSpPr>
            <a:cxnSpLocks/>
          </p:cNvCxnSpPr>
          <p:nvPr/>
        </p:nvCxnSpPr>
        <p:spPr>
          <a:xfrm>
            <a:off x="3185160" y="2743200"/>
            <a:ext cx="91440" cy="0"/>
          </a:xfrm>
          <a:prstGeom prst="line">
            <a:avLst/>
          </a:prstGeom>
          <a:ln w="57150" cmpd="sng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6828997"/>
      </p:ext>
    </p:extLst>
  </p:cSld>
  <p:clrMapOvr>
    <a:masterClrMapping/>
  </p:clrMapOvr>
  <p:transition spd="med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6" grpId="0"/>
      <p:bldP spid="28" grpId="0"/>
      <p:bldP spid="30" grpId="0"/>
      <p:bldP spid="3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2" descr=" 4098">
            <a:extLst>
              <a:ext uri="{FF2B5EF4-FFF2-40B4-BE49-F238E27FC236}">
                <a16:creationId xmlns:a16="http://schemas.microsoft.com/office/drawing/2014/main" id="{A90B3411-4FE8-AFD6-D7FB-D758FCCCA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595294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Experiments</a:t>
            </a:r>
          </a:p>
        </p:txBody>
      </p:sp>
      <p:sp>
        <p:nvSpPr>
          <p:cNvPr id="3" name="AutoShape 3" descr=" 4099">
            <a:extLst>
              <a:ext uri="{FF2B5EF4-FFF2-40B4-BE49-F238E27FC236}">
                <a16:creationId xmlns:a16="http://schemas.microsoft.com/office/drawing/2014/main" id="{17D4D3F0-3E19-C097-34BD-2D89DED41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0" y="762000"/>
            <a:ext cx="3493680" cy="430949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800" dirty="0">
                <a:solidFill>
                  <a:srgbClr val="000000"/>
                </a:solidFill>
              </a:rPr>
              <a:t>Knobs you can twiddle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3AB26F-5F44-F92E-381D-6B395E7ECB17}"/>
              </a:ext>
            </a:extLst>
          </p:cNvPr>
          <p:cNvSpPr txBox="1"/>
          <p:nvPr/>
        </p:nvSpPr>
        <p:spPr>
          <a:xfrm>
            <a:off x="152400" y="1586468"/>
            <a:ext cx="685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ANI threshold: what ANI constitutes “same genome”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20AB9BE-59F0-170E-543E-0AA83D2461FF}"/>
              </a:ext>
            </a:extLst>
          </p:cNvPr>
          <p:cNvSpPr txBox="1"/>
          <p:nvPr/>
        </p:nvSpPr>
        <p:spPr>
          <a:xfrm>
            <a:off x="152400" y="1942068"/>
            <a:ext cx="6576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Significance: how sure you want negatives to be </a:t>
            </a:r>
            <a:r>
              <a:rPr lang="en-US" i="1" dirty="0"/>
              <a:t>true</a:t>
            </a:r>
            <a:r>
              <a:rPr lang="en-US" dirty="0"/>
              <a:t> negatives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440801-9697-1AF7-FDDE-DD19B3DE8AB7}"/>
              </a:ext>
            </a:extLst>
          </p:cNvPr>
          <p:cNvSpPr txBox="1"/>
          <p:nvPr/>
        </p:nvSpPr>
        <p:spPr>
          <a:xfrm>
            <a:off x="152400" y="2297668"/>
            <a:ext cx="868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Min coverage: The percentage of a genome's k-</a:t>
            </a:r>
            <a:r>
              <a:rPr lang="en-US" dirty="0" err="1"/>
              <a:t>mers</a:t>
            </a:r>
            <a:r>
              <a:rPr lang="en-US" dirty="0"/>
              <a:t> required to confirm its presence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1EF88F-7984-15FC-5764-7682BDD40C4F}"/>
              </a:ext>
            </a:extLst>
          </p:cNvPr>
          <p:cNvSpPr txBox="1"/>
          <p:nvPr/>
        </p:nvSpPr>
        <p:spPr>
          <a:xfrm>
            <a:off x="190500" y="1230868"/>
            <a:ext cx="1257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K-</a:t>
            </a:r>
            <a:r>
              <a:rPr lang="en-US" dirty="0" err="1"/>
              <a:t>mer</a:t>
            </a:r>
            <a:r>
              <a:rPr lang="en-US" dirty="0"/>
              <a:t> size</a:t>
            </a:r>
          </a:p>
        </p:txBody>
      </p:sp>
      <p:cxnSp>
        <p:nvCxnSpPr>
          <p:cNvPr id="6" name="Curved Connector 5">
            <a:extLst>
              <a:ext uri="{FF2B5EF4-FFF2-40B4-BE49-F238E27FC236}">
                <a16:creationId xmlns:a16="http://schemas.microsoft.com/office/drawing/2014/main" id="{EE74F03C-FC30-BBED-F472-31FDA3BDABB6}"/>
              </a:ext>
            </a:extLst>
          </p:cNvPr>
          <p:cNvCxnSpPr>
            <a:cxnSpLocks/>
            <a:stCxn id="13" idx="1"/>
            <a:endCxn id="7" idx="1"/>
          </p:cNvCxnSpPr>
          <p:nvPr/>
        </p:nvCxnSpPr>
        <p:spPr>
          <a:xfrm rot="10800000" flipH="1" flipV="1">
            <a:off x="152400" y="1771134"/>
            <a:ext cx="762000" cy="1537732"/>
          </a:xfrm>
          <a:prstGeom prst="curvedConnector3">
            <a:avLst>
              <a:gd name="adj1" fmla="val -13043"/>
            </a:avLst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2B431B1-A109-33E3-7D38-7906BD7072B5}"/>
              </a:ext>
            </a:extLst>
          </p:cNvPr>
          <p:cNvSpPr txBox="1"/>
          <p:nvPr/>
        </p:nvSpPr>
        <p:spPr>
          <a:xfrm>
            <a:off x="914400" y="3124200"/>
            <a:ext cx="40286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Most important parameters</a:t>
            </a:r>
          </a:p>
        </p:txBody>
      </p:sp>
      <p:cxnSp>
        <p:nvCxnSpPr>
          <p:cNvPr id="58" name="Curved Connector 57">
            <a:extLst>
              <a:ext uri="{FF2B5EF4-FFF2-40B4-BE49-F238E27FC236}">
                <a16:creationId xmlns:a16="http://schemas.microsoft.com/office/drawing/2014/main" id="{30B52D5D-82FB-095A-E428-6A50612AE272}"/>
              </a:ext>
            </a:extLst>
          </p:cNvPr>
          <p:cNvCxnSpPr>
            <a:cxnSpLocks/>
            <a:stCxn id="2" idx="1"/>
            <a:endCxn id="7" idx="1"/>
          </p:cNvCxnSpPr>
          <p:nvPr/>
        </p:nvCxnSpPr>
        <p:spPr>
          <a:xfrm rot="10800000" flipH="1" flipV="1">
            <a:off x="152400" y="2482334"/>
            <a:ext cx="762000" cy="826532"/>
          </a:xfrm>
          <a:prstGeom prst="curvedConnector3">
            <a:avLst>
              <a:gd name="adj1" fmla="val -10435"/>
            </a:avLst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2198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61" grpId="0"/>
      <p:bldP spid="2" grpId="0"/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2" descr=" 4098">
            <a:extLst>
              <a:ext uri="{FF2B5EF4-FFF2-40B4-BE49-F238E27FC236}">
                <a16:creationId xmlns:a16="http://schemas.microsoft.com/office/drawing/2014/main" id="{A90B3411-4FE8-AFD6-D7FB-D758FCCCA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595294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Experiments</a:t>
            </a:r>
          </a:p>
        </p:txBody>
      </p:sp>
      <p:sp>
        <p:nvSpPr>
          <p:cNvPr id="3" name="AutoShape 3" descr=" 4099">
            <a:extLst>
              <a:ext uri="{FF2B5EF4-FFF2-40B4-BE49-F238E27FC236}">
                <a16:creationId xmlns:a16="http://schemas.microsoft.com/office/drawing/2014/main" id="{17D4D3F0-3E19-C097-34BD-2D89DED41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0" y="762000"/>
            <a:ext cx="3188879" cy="430949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800" dirty="0">
                <a:solidFill>
                  <a:srgbClr val="000000"/>
                </a:solidFill>
              </a:rPr>
              <a:t>On spike-in real data</a:t>
            </a:r>
          </a:p>
        </p:txBody>
      </p:sp>
      <p:pic>
        <p:nvPicPr>
          <p:cNvPr id="12" name="Picture 11" descr="A screen shot of a graph&#10;&#10;Description automatically generated with low confidence">
            <a:extLst>
              <a:ext uri="{FF2B5EF4-FFF2-40B4-BE49-F238E27FC236}">
                <a16:creationId xmlns:a16="http://schemas.microsoft.com/office/drawing/2014/main" id="{1AC261F2-5B26-A5DE-C12E-EF8DAE5FE6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03" r="4948"/>
          <a:stretch/>
        </p:blipFill>
        <p:spPr>
          <a:xfrm>
            <a:off x="0" y="2651760"/>
            <a:ext cx="4844183" cy="359664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D3AB26F-5F44-F92E-381D-6B395E7ECB17}"/>
              </a:ext>
            </a:extLst>
          </p:cNvPr>
          <p:cNvSpPr txBox="1"/>
          <p:nvPr/>
        </p:nvSpPr>
        <p:spPr>
          <a:xfrm>
            <a:off x="152400" y="1658025"/>
            <a:ext cx="1643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High powered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68582EF-09A9-47E0-408A-B352491F538B}"/>
              </a:ext>
            </a:extLst>
          </p:cNvPr>
          <p:cNvCxnSpPr>
            <a:cxnSpLocks/>
          </p:cNvCxnSpPr>
          <p:nvPr/>
        </p:nvCxnSpPr>
        <p:spPr>
          <a:xfrm>
            <a:off x="6499860" y="3067349"/>
            <a:ext cx="2590800" cy="0"/>
          </a:xfrm>
          <a:prstGeom prst="line">
            <a:avLst/>
          </a:prstGeom>
          <a:ln w="57150" cmpd="sng">
            <a:solidFill>
              <a:srgbClr val="3A3A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0B59F839-05C1-11E0-6924-FDD84016A4E0}"/>
              </a:ext>
            </a:extLst>
          </p:cNvPr>
          <p:cNvGrpSpPr/>
          <p:nvPr/>
        </p:nvGrpSpPr>
        <p:grpSpPr>
          <a:xfrm>
            <a:off x="6499860" y="3242609"/>
            <a:ext cx="2438400" cy="205740"/>
            <a:chOff x="6499860" y="3852209"/>
            <a:chExt cx="2438400" cy="20574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22F2823-D68E-0534-FF74-AE5DDDA1A2A2}"/>
                </a:ext>
              </a:extLst>
            </p:cNvPr>
            <p:cNvCxnSpPr>
              <a:cxnSpLocks/>
            </p:cNvCxnSpPr>
            <p:nvPr/>
          </p:nvCxnSpPr>
          <p:spPr>
            <a:xfrm>
              <a:off x="7033260" y="4057949"/>
              <a:ext cx="457200" cy="0"/>
            </a:xfrm>
            <a:prstGeom prst="line">
              <a:avLst/>
            </a:prstGeom>
            <a:ln w="57150" cmpd="sng">
              <a:solidFill>
                <a:srgbClr val="3A3A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982E2F2-1F2C-2006-F462-231EE50FA644}"/>
                </a:ext>
              </a:extLst>
            </p:cNvPr>
            <p:cNvCxnSpPr>
              <a:cxnSpLocks/>
            </p:cNvCxnSpPr>
            <p:nvPr/>
          </p:nvCxnSpPr>
          <p:spPr>
            <a:xfrm>
              <a:off x="7719060" y="3852209"/>
              <a:ext cx="457200" cy="0"/>
            </a:xfrm>
            <a:prstGeom prst="line">
              <a:avLst/>
            </a:prstGeom>
            <a:ln w="57150" cmpd="sng">
              <a:solidFill>
                <a:srgbClr val="3A3A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092AEBE-810C-3E45-AE5C-4C40196438E7}"/>
                </a:ext>
              </a:extLst>
            </p:cNvPr>
            <p:cNvCxnSpPr>
              <a:cxnSpLocks/>
            </p:cNvCxnSpPr>
            <p:nvPr/>
          </p:nvCxnSpPr>
          <p:spPr>
            <a:xfrm>
              <a:off x="8100060" y="3956923"/>
              <a:ext cx="457200" cy="0"/>
            </a:xfrm>
            <a:prstGeom prst="line">
              <a:avLst/>
            </a:prstGeom>
            <a:ln w="57150" cmpd="sng">
              <a:solidFill>
                <a:srgbClr val="3A3A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1287E05-3F96-0D0C-BB00-5CDC0CF354FD}"/>
                </a:ext>
              </a:extLst>
            </p:cNvPr>
            <p:cNvGrpSpPr/>
            <p:nvPr/>
          </p:nvGrpSpPr>
          <p:grpSpPr>
            <a:xfrm>
              <a:off x="8481060" y="4057949"/>
              <a:ext cx="457200" cy="0"/>
              <a:chOff x="6629400" y="3886200"/>
              <a:chExt cx="457200" cy="0"/>
            </a:xfrm>
          </p:grpSpPr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92E90A7C-A983-204B-5742-2DB278AF14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29400" y="3886200"/>
                <a:ext cx="457200" cy="0"/>
              </a:xfrm>
              <a:prstGeom prst="line">
                <a:avLst/>
              </a:prstGeom>
              <a:ln w="57150" cmpd="sng">
                <a:solidFill>
                  <a:srgbClr val="3A3A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0BA9DB91-70B6-DBAE-E255-53CF3A751B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81800" y="3886200"/>
                <a:ext cx="76200" cy="0"/>
              </a:xfrm>
              <a:prstGeom prst="line">
                <a:avLst/>
              </a:prstGeom>
              <a:ln w="57150" cmpd="sng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3CFFA43-4D8D-2345-528C-8E7CA27AFB3B}"/>
                </a:ext>
              </a:extLst>
            </p:cNvPr>
            <p:cNvGrpSpPr/>
            <p:nvPr/>
          </p:nvGrpSpPr>
          <p:grpSpPr>
            <a:xfrm>
              <a:off x="6499860" y="3905549"/>
              <a:ext cx="457200" cy="0"/>
              <a:chOff x="4800600" y="3733800"/>
              <a:chExt cx="457200" cy="0"/>
            </a:xfrm>
          </p:grpSpPr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593E0950-1025-AD7B-E2CE-A4D6BFD0F5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00600" y="3733800"/>
                <a:ext cx="457200" cy="0"/>
              </a:xfrm>
              <a:prstGeom prst="line">
                <a:avLst/>
              </a:prstGeom>
              <a:ln w="57150" cmpd="sng">
                <a:solidFill>
                  <a:srgbClr val="3A3A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C1B7EFF5-EA87-6A1D-CB97-DDB6C9485C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29200" y="3733800"/>
                <a:ext cx="76200" cy="0"/>
              </a:xfrm>
              <a:prstGeom prst="line">
                <a:avLst/>
              </a:prstGeom>
              <a:ln w="57150" cmpd="sng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4" name="Right Brace 23">
            <a:extLst>
              <a:ext uri="{FF2B5EF4-FFF2-40B4-BE49-F238E27FC236}">
                <a16:creationId xmlns:a16="http://schemas.microsoft.com/office/drawing/2014/main" id="{5E3FDDA2-C3F7-B2D7-96FC-25C3081A1DE1}"/>
              </a:ext>
            </a:extLst>
          </p:cNvPr>
          <p:cNvSpPr/>
          <p:nvPr/>
        </p:nvSpPr>
        <p:spPr>
          <a:xfrm rot="10800000">
            <a:off x="6314047" y="3109762"/>
            <a:ext cx="185813" cy="414786"/>
          </a:xfrm>
          <a:prstGeom prst="rightBrace">
            <a:avLst/>
          </a:prstGeom>
          <a:ln w="19050">
            <a:solidFill>
              <a:srgbClr val="558E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D8E221-891C-9EFF-AF3E-2649817BACAB}"/>
              </a:ext>
            </a:extLst>
          </p:cNvPr>
          <p:cNvSpPr txBox="1"/>
          <p:nvPr/>
        </p:nvSpPr>
        <p:spPr>
          <a:xfrm>
            <a:off x="4734349" y="3054936"/>
            <a:ext cx="18417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Reads at known </a:t>
            </a:r>
          </a:p>
          <a:p>
            <a:r>
              <a:rPr lang="en-US" sz="1600" dirty="0"/>
              <a:t>coverage and ANI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BEB432C-A5C2-9041-2F38-6C37AB665DB6}"/>
              </a:ext>
            </a:extLst>
          </p:cNvPr>
          <p:cNvGrpSpPr/>
          <p:nvPr/>
        </p:nvGrpSpPr>
        <p:grpSpPr>
          <a:xfrm>
            <a:off x="6599733" y="4230426"/>
            <a:ext cx="2087067" cy="1135324"/>
            <a:chOff x="1004499" y="2014705"/>
            <a:chExt cx="2087067" cy="1135324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BEE7F41-002E-580E-2B65-47BE6DDB6939}"/>
                </a:ext>
              </a:extLst>
            </p:cNvPr>
            <p:cNvSpPr/>
            <p:nvPr/>
          </p:nvSpPr>
          <p:spPr>
            <a:xfrm>
              <a:off x="1593173" y="2351285"/>
              <a:ext cx="130465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+mj-lt"/>
                </a:rPr>
                <a:t>Metagenome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546741B-7ADC-90E3-09A9-A336D77F5461}"/>
                </a:ext>
              </a:extLst>
            </p:cNvPr>
            <p:cNvCxnSpPr/>
            <p:nvPr/>
          </p:nvCxnSpPr>
          <p:spPr>
            <a:xfrm flipV="1">
              <a:off x="1468137" y="2014705"/>
              <a:ext cx="403940" cy="250053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5E0FA79-A8F8-D8D0-71BA-D751CFADBD54}"/>
                </a:ext>
              </a:extLst>
            </p:cNvPr>
            <p:cNvCxnSpPr/>
            <p:nvPr/>
          </p:nvCxnSpPr>
          <p:spPr>
            <a:xfrm>
              <a:off x="1241811" y="2264758"/>
              <a:ext cx="396484" cy="184919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BD89001-5F48-9C30-46C1-F09B1CB17929}"/>
                </a:ext>
              </a:extLst>
            </p:cNvPr>
            <p:cNvCxnSpPr/>
            <p:nvPr/>
          </p:nvCxnSpPr>
          <p:spPr>
            <a:xfrm>
              <a:off x="1029722" y="2611385"/>
              <a:ext cx="369711" cy="186215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7997408-F220-C58E-9926-23ED1F524E9E}"/>
                </a:ext>
              </a:extLst>
            </p:cNvPr>
            <p:cNvCxnSpPr/>
            <p:nvPr/>
          </p:nvCxnSpPr>
          <p:spPr>
            <a:xfrm>
              <a:off x="1162121" y="2449677"/>
              <a:ext cx="317002" cy="188031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905F2CB-139F-EE29-1486-2F1B1F43B9C5}"/>
                </a:ext>
              </a:extLst>
            </p:cNvPr>
            <p:cNvCxnSpPr/>
            <p:nvPr/>
          </p:nvCxnSpPr>
          <p:spPr>
            <a:xfrm>
              <a:off x="1004499" y="2803600"/>
              <a:ext cx="463638" cy="260418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5AF34B-8A4A-9808-9F81-918968BE0583}"/>
                </a:ext>
              </a:extLst>
            </p:cNvPr>
            <p:cNvCxnSpPr/>
            <p:nvPr/>
          </p:nvCxnSpPr>
          <p:spPr>
            <a:xfrm>
              <a:off x="1718915" y="2674389"/>
              <a:ext cx="297355" cy="130209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41232CC-B42C-ED1F-1EF5-05CDB77CE53E}"/>
                </a:ext>
              </a:extLst>
            </p:cNvPr>
            <p:cNvCxnSpPr/>
            <p:nvPr/>
          </p:nvCxnSpPr>
          <p:spPr>
            <a:xfrm>
              <a:off x="2016270" y="2625886"/>
              <a:ext cx="289514" cy="178712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761905E-A5C4-1434-0FA6-9D7E4E7B25C3}"/>
                </a:ext>
              </a:extLst>
            </p:cNvPr>
            <p:cNvCxnSpPr/>
            <p:nvPr/>
          </p:nvCxnSpPr>
          <p:spPr>
            <a:xfrm flipV="1">
              <a:off x="1744237" y="2173002"/>
              <a:ext cx="272033" cy="171728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5DF9020-EC16-E7EC-89F0-1461BEAEC0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2314" y="2423055"/>
              <a:ext cx="219252" cy="251334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1EA841F-2DAB-D79E-DF5A-406DAA8228DB}"/>
                </a:ext>
              </a:extLst>
            </p:cNvPr>
            <p:cNvCxnSpPr/>
            <p:nvPr/>
          </p:nvCxnSpPr>
          <p:spPr>
            <a:xfrm flipV="1">
              <a:off x="2103814" y="2154086"/>
              <a:ext cx="403940" cy="250053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98F32EF-E8EF-C708-799E-6AC3B02870E1}"/>
                </a:ext>
              </a:extLst>
            </p:cNvPr>
            <p:cNvCxnSpPr/>
            <p:nvPr/>
          </p:nvCxnSpPr>
          <p:spPr>
            <a:xfrm flipV="1">
              <a:off x="2408276" y="2173002"/>
              <a:ext cx="403940" cy="250053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02AE127-5C5A-EAD3-F65A-15C682854776}"/>
                </a:ext>
              </a:extLst>
            </p:cNvPr>
            <p:cNvCxnSpPr/>
            <p:nvPr/>
          </p:nvCxnSpPr>
          <p:spPr>
            <a:xfrm>
              <a:off x="2420831" y="2716886"/>
              <a:ext cx="519369" cy="86714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4C53089-B432-18B0-2A82-B28F743BB4C4}"/>
                </a:ext>
              </a:extLst>
            </p:cNvPr>
            <p:cNvCxnSpPr/>
            <p:nvPr/>
          </p:nvCxnSpPr>
          <p:spPr>
            <a:xfrm>
              <a:off x="1398823" y="2886304"/>
              <a:ext cx="534956" cy="6946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7DFE0C9-158C-4B26-6213-9BDF0539DE5A}"/>
                </a:ext>
              </a:extLst>
            </p:cNvPr>
            <p:cNvCxnSpPr/>
            <p:nvPr/>
          </p:nvCxnSpPr>
          <p:spPr>
            <a:xfrm>
              <a:off x="1577199" y="3060673"/>
              <a:ext cx="606107" cy="0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1400B49-4689-6CD8-25F5-D7624C0135B5}"/>
                </a:ext>
              </a:extLst>
            </p:cNvPr>
            <p:cNvCxnSpPr/>
            <p:nvPr/>
          </p:nvCxnSpPr>
          <p:spPr>
            <a:xfrm>
              <a:off x="2336620" y="2971317"/>
              <a:ext cx="289514" cy="178712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923B84F-0546-5C6B-715B-1BAB247935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40169" y="2127019"/>
              <a:ext cx="219252" cy="251334"/>
            </a:xfrm>
            <a:prstGeom prst="line">
              <a:avLst/>
            </a:prstGeom>
            <a:ln w="57150" cmpd="sng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3475A31-0E4B-0B5E-AB7D-89F48ED4B706}"/>
              </a:ext>
            </a:extLst>
          </p:cNvPr>
          <p:cNvGrpSpPr/>
          <p:nvPr/>
        </p:nvGrpSpPr>
        <p:grpSpPr>
          <a:xfrm>
            <a:off x="6674751" y="4422684"/>
            <a:ext cx="1766741" cy="686287"/>
            <a:chOff x="6674751" y="5032284"/>
            <a:chExt cx="1766741" cy="686287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64C8AA3-29D3-30FC-53B6-0F870AA0AC4E}"/>
                </a:ext>
              </a:extLst>
            </p:cNvPr>
            <p:cNvGrpSpPr/>
            <p:nvPr/>
          </p:nvGrpSpPr>
          <p:grpSpPr>
            <a:xfrm rot="1502608">
              <a:off x="6674751" y="5157854"/>
              <a:ext cx="534956" cy="198847"/>
              <a:chOff x="4800600" y="3733800"/>
              <a:chExt cx="457200" cy="0"/>
            </a:xfrm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3CF30E6F-9FE2-863B-0E0F-2D89B94D1F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00600" y="3733800"/>
                <a:ext cx="457200" cy="0"/>
              </a:xfrm>
              <a:prstGeom prst="line">
                <a:avLst/>
              </a:prstGeom>
              <a:ln w="57150" cmpd="sng">
                <a:solidFill>
                  <a:srgbClr val="3A3A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44AEF23D-9172-E6B2-2F0C-AE92156AB7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29200" y="3733800"/>
                <a:ext cx="76200" cy="0"/>
              </a:xfrm>
              <a:prstGeom prst="line">
                <a:avLst/>
              </a:prstGeom>
              <a:ln w="57150" cmpd="sng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C76C33D8-19E2-E849-310D-1482EF1066AD}"/>
                </a:ext>
              </a:extLst>
            </p:cNvPr>
            <p:cNvCxnSpPr>
              <a:cxnSpLocks/>
            </p:cNvCxnSpPr>
            <p:nvPr/>
          </p:nvCxnSpPr>
          <p:spPr>
            <a:xfrm>
              <a:off x="7004929" y="5718571"/>
              <a:ext cx="457200" cy="0"/>
            </a:xfrm>
            <a:prstGeom prst="line">
              <a:avLst/>
            </a:prstGeom>
            <a:ln w="57150" cmpd="sng">
              <a:solidFill>
                <a:srgbClr val="3A3A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D2BB6581-CA32-5899-110F-63F08290DF65}"/>
                </a:ext>
              </a:extLst>
            </p:cNvPr>
            <p:cNvGrpSpPr/>
            <p:nvPr/>
          </p:nvGrpSpPr>
          <p:grpSpPr>
            <a:xfrm rot="19686800" flipV="1">
              <a:off x="7908845" y="5032284"/>
              <a:ext cx="532647" cy="91756"/>
              <a:chOff x="6629400" y="3886200"/>
              <a:chExt cx="457200" cy="0"/>
            </a:xfrm>
          </p:grpSpPr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F1E0FAB8-1632-A1E4-1C1C-9E7233EE99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29400" y="3886200"/>
                <a:ext cx="457200" cy="0"/>
              </a:xfrm>
              <a:prstGeom prst="line">
                <a:avLst/>
              </a:prstGeom>
              <a:ln w="57150" cmpd="sng">
                <a:solidFill>
                  <a:srgbClr val="3A3A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0271B5AB-B57C-F577-EEC8-2905C16AA2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81800" y="3886200"/>
                <a:ext cx="76200" cy="0"/>
              </a:xfrm>
              <a:prstGeom prst="line">
                <a:avLst/>
              </a:prstGeom>
              <a:ln w="57150" cmpd="sng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8DD84E0-F083-0BB0-E63F-20E1CE386979}"/>
              </a:ext>
            </a:extLst>
          </p:cNvPr>
          <p:cNvCxnSpPr/>
          <p:nvPr/>
        </p:nvCxnSpPr>
        <p:spPr>
          <a:xfrm>
            <a:off x="7699048" y="3581400"/>
            <a:ext cx="0" cy="5334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0F0F783D-AA2A-BDE1-3329-4788741CA178}"/>
              </a:ext>
            </a:extLst>
          </p:cNvPr>
          <p:cNvSpPr txBox="1"/>
          <p:nvPr/>
        </p:nvSpPr>
        <p:spPr>
          <a:xfrm>
            <a:off x="7820449" y="3618611"/>
            <a:ext cx="9044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Spike 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0A18F4-2898-C8EF-62EA-BD3ED68B6A10}"/>
              </a:ext>
            </a:extLst>
          </p:cNvPr>
          <p:cNvSpPr txBox="1"/>
          <p:nvPr/>
        </p:nvSpPr>
        <p:spPr>
          <a:xfrm>
            <a:off x="6705600" y="5638800"/>
            <a:ext cx="18909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Repeat 29k times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EA74AC-99F8-F6E0-FC04-ACA1EB6A026E}"/>
              </a:ext>
            </a:extLst>
          </p:cNvPr>
          <p:cNvSpPr txBox="1"/>
          <p:nvPr/>
        </p:nvSpPr>
        <p:spPr>
          <a:xfrm>
            <a:off x="1434888" y="3455045"/>
            <a:ext cx="10802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2.94% FP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0BBFB79-624F-CA80-08B7-39205DDBD69B}"/>
              </a:ext>
            </a:extLst>
          </p:cNvPr>
          <p:cNvSpPr txBox="1"/>
          <p:nvPr/>
        </p:nvSpPr>
        <p:spPr>
          <a:xfrm>
            <a:off x="4631791" y="4964668"/>
            <a:ext cx="10802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0.2% FN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155E1A9-8B47-944F-54BB-8680B25EF8AE}"/>
              </a:ext>
            </a:extLst>
          </p:cNvPr>
          <p:cNvCxnSpPr>
            <a:cxnSpLocks/>
          </p:cNvCxnSpPr>
          <p:nvPr/>
        </p:nvCxnSpPr>
        <p:spPr>
          <a:xfrm flipV="1">
            <a:off x="2488139" y="3242609"/>
            <a:ext cx="255061" cy="37600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F9F8480-EFAA-0F91-285D-577935070889}"/>
              </a:ext>
            </a:extLst>
          </p:cNvPr>
          <p:cNvCxnSpPr>
            <a:cxnSpLocks/>
            <a:stCxn id="48" idx="1"/>
          </p:cNvCxnSpPr>
          <p:nvPr/>
        </p:nvCxnSpPr>
        <p:spPr>
          <a:xfrm flipH="1">
            <a:off x="4292712" y="5149334"/>
            <a:ext cx="339079" cy="33687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920AB9BE-59F0-170E-543E-0AA83D2461FF}"/>
              </a:ext>
            </a:extLst>
          </p:cNvPr>
          <p:cNvSpPr txBox="1"/>
          <p:nvPr/>
        </p:nvSpPr>
        <p:spPr>
          <a:xfrm>
            <a:off x="152400" y="1264584"/>
            <a:ext cx="6576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Real metagenome, artificially mutated real genome reads inserted</a:t>
            </a:r>
          </a:p>
        </p:txBody>
      </p:sp>
    </p:spTree>
    <p:extLst>
      <p:ext uri="{BB962C8B-B14F-4D97-AF65-F5344CB8AC3E}">
        <p14:creationId xmlns:p14="http://schemas.microsoft.com/office/powerpoint/2010/main" val="4162462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4" grpId="0" animBg="1"/>
      <p:bldP spid="25" grpId="0"/>
      <p:bldP spid="57" grpId="0"/>
      <p:bldP spid="9" grpId="0"/>
      <p:bldP spid="11" grpId="0"/>
      <p:bldP spid="48" grpId="0"/>
      <p:bldP spid="6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2" descr=" 4098">
            <a:extLst>
              <a:ext uri="{FF2B5EF4-FFF2-40B4-BE49-F238E27FC236}">
                <a16:creationId xmlns:a16="http://schemas.microsoft.com/office/drawing/2014/main" id="{A90B3411-4FE8-AFD6-D7FB-D758FCCCA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595294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Experiments</a:t>
            </a:r>
          </a:p>
        </p:txBody>
      </p:sp>
      <p:sp>
        <p:nvSpPr>
          <p:cNvPr id="8" name="AutoShape 3" descr=" 4099">
            <a:extLst>
              <a:ext uri="{FF2B5EF4-FFF2-40B4-BE49-F238E27FC236}">
                <a16:creationId xmlns:a16="http://schemas.microsoft.com/office/drawing/2014/main" id="{F872688F-0A87-44FD-805A-C9FB5CB57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0" y="762000"/>
            <a:ext cx="3188879" cy="430949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800" dirty="0">
                <a:solidFill>
                  <a:srgbClr val="000000"/>
                </a:solidFill>
              </a:rPr>
              <a:t>On spike-in real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ED4C72-8D09-36BE-2736-08453CA72519}"/>
              </a:ext>
            </a:extLst>
          </p:cNvPr>
          <p:cNvSpPr txBox="1"/>
          <p:nvPr/>
        </p:nvSpPr>
        <p:spPr>
          <a:xfrm>
            <a:off x="152400" y="1658025"/>
            <a:ext cx="1643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High powered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D9FAA9-6E65-36E4-32DF-92ED05EA06FC}"/>
              </a:ext>
            </a:extLst>
          </p:cNvPr>
          <p:cNvSpPr txBox="1"/>
          <p:nvPr/>
        </p:nvSpPr>
        <p:spPr>
          <a:xfrm>
            <a:off x="152400" y="1264584"/>
            <a:ext cx="6576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Real metagenome, artificially mutated real genome reads inserted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FFD7D9-4C51-BE0A-42E5-EEA9C4808716}"/>
              </a:ext>
            </a:extLst>
          </p:cNvPr>
          <p:cNvSpPr txBox="1"/>
          <p:nvPr/>
        </p:nvSpPr>
        <p:spPr>
          <a:xfrm>
            <a:off x="152399" y="2056564"/>
            <a:ext cx="30479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Behaves as expected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CB3CD3D-4CB5-38DC-7B69-22D958E2D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4" b="334"/>
          <a:stretch/>
        </p:blipFill>
        <p:spPr bwMode="auto">
          <a:xfrm>
            <a:off x="566530" y="2667000"/>
            <a:ext cx="3700671" cy="3437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3E7D7ED4-EC72-1422-9767-DCAAACA5BC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3" t="4498" r="1104" b="51751"/>
          <a:stretch/>
        </p:blipFill>
        <p:spPr bwMode="auto">
          <a:xfrm>
            <a:off x="4876800" y="2667000"/>
            <a:ext cx="3657600" cy="3469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4A217A8-AA6F-054E-59F2-39B846D05D28}"/>
              </a:ext>
            </a:extLst>
          </p:cNvPr>
          <p:cNvSpPr txBox="1"/>
          <p:nvPr/>
        </p:nvSpPr>
        <p:spPr>
          <a:xfrm>
            <a:off x="1181928" y="6136422"/>
            <a:ext cx="198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Minimum coverage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348489-E739-9540-F91B-CA842467AD44}"/>
              </a:ext>
            </a:extLst>
          </p:cNvPr>
          <p:cNvSpPr txBox="1"/>
          <p:nvPr/>
        </p:nvSpPr>
        <p:spPr>
          <a:xfrm rot="16200000">
            <a:off x="-776126" y="4258052"/>
            <a:ext cx="23159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False Negative Rate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0410B0-DF09-17B4-F256-EBA2946BA0E6}"/>
              </a:ext>
            </a:extLst>
          </p:cNvPr>
          <p:cNvSpPr txBox="1"/>
          <p:nvPr/>
        </p:nvSpPr>
        <p:spPr>
          <a:xfrm>
            <a:off x="5562600" y="6180328"/>
            <a:ext cx="198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Minimum coverage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E775CF-4AAC-B061-4BBA-8C1C2590A528}"/>
              </a:ext>
            </a:extLst>
          </p:cNvPr>
          <p:cNvSpPr txBox="1"/>
          <p:nvPr/>
        </p:nvSpPr>
        <p:spPr>
          <a:xfrm rot="16200000">
            <a:off x="3534143" y="4258053"/>
            <a:ext cx="23159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False Positive Rate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04877A-9D7E-AFD0-2E19-0FF0BF4EC502}"/>
              </a:ext>
            </a:extLst>
          </p:cNvPr>
          <p:cNvSpPr/>
          <p:nvPr/>
        </p:nvSpPr>
        <p:spPr>
          <a:xfrm>
            <a:off x="2340265" y="5494528"/>
            <a:ext cx="457200" cy="6858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5D6983-1C9C-8DA3-D4A1-556A380CDF33}"/>
              </a:ext>
            </a:extLst>
          </p:cNvPr>
          <p:cNvSpPr/>
          <p:nvPr/>
        </p:nvSpPr>
        <p:spPr>
          <a:xfrm>
            <a:off x="6629400" y="5570728"/>
            <a:ext cx="457200" cy="6858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05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 animBg="1"/>
      <p:bldP spid="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2" descr=" 4098">
            <a:extLst>
              <a:ext uri="{FF2B5EF4-FFF2-40B4-BE49-F238E27FC236}">
                <a16:creationId xmlns:a16="http://schemas.microsoft.com/office/drawing/2014/main" id="{A90B3411-4FE8-AFD6-D7FB-D758FCCCA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595294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Experiments</a:t>
            </a:r>
          </a:p>
        </p:txBody>
      </p:sp>
      <p:sp>
        <p:nvSpPr>
          <p:cNvPr id="8" name="AutoShape 3" descr=" 4099">
            <a:extLst>
              <a:ext uri="{FF2B5EF4-FFF2-40B4-BE49-F238E27FC236}">
                <a16:creationId xmlns:a16="http://schemas.microsoft.com/office/drawing/2014/main" id="{F872688F-0A87-44FD-805A-C9FB5CB57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1" y="762000"/>
            <a:ext cx="2198280" cy="430949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800" dirty="0">
                <a:solidFill>
                  <a:srgbClr val="000000"/>
                </a:solidFill>
              </a:rPr>
              <a:t>On CAMI 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D9FAA9-6E65-36E4-32DF-92ED05EA06FC}"/>
              </a:ext>
            </a:extLst>
          </p:cNvPr>
          <p:cNvSpPr txBox="1"/>
          <p:nvPr/>
        </p:nvSpPr>
        <p:spPr>
          <a:xfrm>
            <a:off x="152400" y="1264584"/>
            <a:ext cx="6576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Critical assessment of metagenomic interpretation, benchmark data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65AB245-7453-42C5-D5E0-145E7317E2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7" r="50010" b="61550"/>
          <a:stretch/>
        </p:blipFill>
        <p:spPr bwMode="auto">
          <a:xfrm>
            <a:off x="1676400" y="1981201"/>
            <a:ext cx="6347459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8490873-5958-06C1-CC1D-E2E19F959E32}"/>
              </a:ext>
            </a:extLst>
          </p:cNvPr>
          <p:cNvSpPr/>
          <p:nvPr/>
        </p:nvSpPr>
        <p:spPr>
          <a:xfrm>
            <a:off x="1327739" y="1862238"/>
            <a:ext cx="501061" cy="4409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3C9B5DD4-2C7F-50D8-EBF7-D0C0B10EEACC}"/>
              </a:ext>
            </a:extLst>
          </p:cNvPr>
          <p:cNvSpPr/>
          <p:nvPr/>
        </p:nvSpPr>
        <p:spPr>
          <a:xfrm>
            <a:off x="4124739" y="2922104"/>
            <a:ext cx="1152939" cy="2345635"/>
          </a:xfrm>
          <a:custGeom>
            <a:avLst/>
            <a:gdLst>
              <a:gd name="connsiteX0" fmla="*/ 0 w 1152939"/>
              <a:gd name="connsiteY0" fmla="*/ 0 h 2345635"/>
              <a:gd name="connsiteX1" fmla="*/ 755374 w 1152939"/>
              <a:gd name="connsiteY1" fmla="*/ 1143000 h 2345635"/>
              <a:gd name="connsiteX2" fmla="*/ 964096 w 1152939"/>
              <a:gd name="connsiteY2" fmla="*/ 1490870 h 2345635"/>
              <a:gd name="connsiteX3" fmla="*/ 1133061 w 1152939"/>
              <a:gd name="connsiteY3" fmla="*/ 2087218 h 2345635"/>
              <a:gd name="connsiteX4" fmla="*/ 1143000 w 1152939"/>
              <a:gd name="connsiteY4" fmla="*/ 2345635 h 2345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2939" h="2345635">
                <a:moveTo>
                  <a:pt x="0" y="0"/>
                </a:moveTo>
                <a:lnTo>
                  <a:pt x="755374" y="1143000"/>
                </a:lnTo>
                <a:cubicBezTo>
                  <a:pt x="916057" y="1391478"/>
                  <a:pt x="901148" y="1333500"/>
                  <a:pt x="964096" y="1490870"/>
                </a:cubicBezTo>
                <a:cubicBezTo>
                  <a:pt x="1027044" y="1648240"/>
                  <a:pt x="1103244" y="1944757"/>
                  <a:pt x="1133061" y="2087218"/>
                </a:cubicBezTo>
                <a:cubicBezTo>
                  <a:pt x="1162878" y="2229679"/>
                  <a:pt x="1152939" y="2287657"/>
                  <a:pt x="1143000" y="2345635"/>
                </a:cubicBezTo>
              </a:path>
            </a:pathLst>
          </a:custGeom>
          <a:noFill/>
          <a:ln>
            <a:solidFill>
              <a:schemeClr val="accent1">
                <a:shade val="15000"/>
                <a:alpha val="1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D121F3-E23D-BFAF-67B6-46DA67604148}"/>
              </a:ext>
            </a:extLst>
          </p:cNvPr>
          <p:cNvSpPr txBox="1"/>
          <p:nvPr/>
        </p:nvSpPr>
        <p:spPr>
          <a:xfrm>
            <a:off x="240121" y="3784836"/>
            <a:ext cx="1664879" cy="71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Completeness/ </a:t>
            </a:r>
          </a:p>
          <a:p>
            <a:r>
              <a:rPr lang="en-US" dirty="0"/>
              <a:t>recall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11067C-A1F3-AB4A-8437-4CCD2C2EFD57}"/>
              </a:ext>
            </a:extLst>
          </p:cNvPr>
          <p:cNvSpPr txBox="1"/>
          <p:nvPr/>
        </p:nvSpPr>
        <p:spPr>
          <a:xfrm>
            <a:off x="2971800" y="5791200"/>
            <a:ext cx="16879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Purity/precision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297330-5BEF-F416-B3F0-859D625CBCAD}"/>
              </a:ext>
            </a:extLst>
          </p:cNvPr>
          <p:cNvSpPr txBox="1"/>
          <p:nvPr/>
        </p:nvSpPr>
        <p:spPr>
          <a:xfrm>
            <a:off x="11520" y="6381641"/>
            <a:ext cx="91324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Meyer, F., Fritz, A., Deng, Z. L., </a:t>
            </a:r>
            <a:r>
              <a:rPr lang="en-US" sz="14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Koslicki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D., </a:t>
            </a:r>
            <a:r>
              <a:rPr lang="en-US" sz="14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Lesker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T. R., Gurevich, A., ... &amp; McHardy, A. C. (2022). Critical assessment of metagenome interpretation: the second round of challenges. </a:t>
            </a:r>
            <a:r>
              <a:rPr lang="en-US" sz="1400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Nature methods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 </a:t>
            </a:r>
            <a:r>
              <a:rPr lang="en-US" sz="1400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19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(4), 429-440.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17008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BFA1E0E7-0DEA-7F0F-DDB5-E14C577952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27" b="61587"/>
          <a:stretch/>
        </p:blipFill>
        <p:spPr bwMode="auto">
          <a:xfrm>
            <a:off x="1600200" y="1980532"/>
            <a:ext cx="6344146" cy="3810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utoShape 2" descr=" 4098">
            <a:extLst>
              <a:ext uri="{FF2B5EF4-FFF2-40B4-BE49-F238E27FC236}">
                <a16:creationId xmlns:a16="http://schemas.microsoft.com/office/drawing/2014/main" id="{A90B3411-4FE8-AFD6-D7FB-D758FCCCA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595294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Experiments</a:t>
            </a:r>
          </a:p>
        </p:txBody>
      </p:sp>
      <p:sp>
        <p:nvSpPr>
          <p:cNvPr id="8" name="AutoShape 3" descr=" 4099">
            <a:extLst>
              <a:ext uri="{FF2B5EF4-FFF2-40B4-BE49-F238E27FC236}">
                <a16:creationId xmlns:a16="http://schemas.microsoft.com/office/drawing/2014/main" id="{F872688F-0A87-44FD-805A-C9FB5CB57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1" y="762000"/>
            <a:ext cx="2198280" cy="430949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800" dirty="0">
                <a:solidFill>
                  <a:srgbClr val="000000"/>
                </a:solidFill>
              </a:rPr>
              <a:t>On CAMI data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490873-5958-06C1-CC1D-E2E19F959E32}"/>
              </a:ext>
            </a:extLst>
          </p:cNvPr>
          <p:cNvSpPr/>
          <p:nvPr/>
        </p:nvSpPr>
        <p:spPr>
          <a:xfrm>
            <a:off x="1327739" y="1862238"/>
            <a:ext cx="501061" cy="4409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2F715657-62F6-2D11-C4EB-2234673EA62C}"/>
              </a:ext>
            </a:extLst>
          </p:cNvPr>
          <p:cNvSpPr/>
          <p:nvPr/>
        </p:nvSpPr>
        <p:spPr>
          <a:xfrm>
            <a:off x="4283765" y="3071191"/>
            <a:ext cx="1013792" cy="2186609"/>
          </a:xfrm>
          <a:custGeom>
            <a:avLst/>
            <a:gdLst>
              <a:gd name="connsiteX0" fmla="*/ 0 w 1013792"/>
              <a:gd name="connsiteY0" fmla="*/ 0 h 2186609"/>
              <a:gd name="connsiteX1" fmla="*/ 546652 w 1013792"/>
              <a:gd name="connsiteY1" fmla="*/ 89452 h 2186609"/>
              <a:gd name="connsiteX2" fmla="*/ 675861 w 1013792"/>
              <a:gd name="connsiteY2" fmla="*/ 188844 h 2186609"/>
              <a:gd name="connsiteX3" fmla="*/ 795131 w 1013792"/>
              <a:gd name="connsiteY3" fmla="*/ 1630018 h 2186609"/>
              <a:gd name="connsiteX4" fmla="*/ 1013792 w 1013792"/>
              <a:gd name="connsiteY4" fmla="*/ 2186609 h 2186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3792" h="2186609">
                <a:moveTo>
                  <a:pt x="0" y="0"/>
                </a:moveTo>
                <a:cubicBezTo>
                  <a:pt x="217004" y="28989"/>
                  <a:pt x="434009" y="57978"/>
                  <a:pt x="546652" y="89452"/>
                </a:cubicBezTo>
                <a:cubicBezTo>
                  <a:pt x="659295" y="120926"/>
                  <a:pt x="634448" y="-67917"/>
                  <a:pt x="675861" y="188844"/>
                </a:cubicBezTo>
                <a:cubicBezTo>
                  <a:pt x="717274" y="445605"/>
                  <a:pt x="738809" y="1297057"/>
                  <a:pt x="795131" y="1630018"/>
                </a:cubicBezTo>
                <a:cubicBezTo>
                  <a:pt x="851453" y="1962979"/>
                  <a:pt x="1003853" y="2082248"/>
                  <a:pt x="1013792" y="2186609"/>
                </a:cubicBezTo>
              </a:path>
            </a:pathLst>
          </a:custGeom>
          <a:noFill/>
          <a:ln>
            <a:solidFill>
              <a:schemeClr val="tx1">
                <a:alpha val="1404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944D86-90FA-A67A-F604-BB23C0CC0EBF}"/>
              </a:ext>
            </a:extLst>
          </p:cNvPr>
          <p:cNvSpPr txBox="1"/>
          <p:nvPr/>
        </p:nvSpPr>
        <p:spPr>
          <a:xfrm>
            <a:off x="152400" y="1264584"/>
            <a:ext cx="6576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Critical assessment of metagenomic interpretation, benchmark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3C8BB1-AEE5-7D2E-9C9E-BB7D70B7D965}"/>
              </a:ext>
            </a:extLst>
          </p:cNvPr>
          <p:cNvSpPr txBox="1"/>
          <p:nvPr/>
        </p:nvSpPr>
        <p:spPr>
          <a:xfrm>
            <a:off x="240121" y="3784836"/>
            <a:ext cx="1664879" cy="71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Completeness/ </a:t>
            </a:r>
          </a:p>
          <a:p>
            <a:r>
              <a:rPr lang="en-US" dirty="0"/>
              <a:t>recall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5B9739-A54B-CD5C-F7F0-3B2D00C359DD}"/>
              </a:ext>
            </a:extLst>
          </p:cNvPr>
          <p:cNvSpPr txBox="1"/>
          <p:nvPr/>
        </p:nvSpPr>
        <p:spPr>
          <a:xfrm>
            <a:off x="2971800" y="5791200"/>
            <a:ext cx="16879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Purity/precision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E73981-4CE3-5C12-A602-6022B4FD5AA8}"/>
              </a:ext>
            </a:extLst>
          </p:cNvPr>
          <p:cNvSpPr txBox="1"/>
          <p:nvPr/>
        </p:nvSpPr>
        <p:spPr>
          <a:xfrm>
            <a:off x="11520" y="6381641"/>
            <a:ext cx="91324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Meyer, F., Fritz, A., Deng, Z. L., </a:t>
            </a:r>
            <a:r>
              <a:rPr lang="en-US" sz="14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Koslicki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D., </a:t>
            </a:r>
            <a:r>
              <a:rPr lang="en-US" sz="14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Lesker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T. R., Gurevich, A., ... &amp; McHardy, A. C. (2022). Critical assessment of metagenome interpretation: the second round of challenges. </a:t>
            </a:r>
            <a:r>
              <a:rPr lang="en-US" sz="1400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Nature methods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 </a:t>
            </a:r>
            <a:r>
              <a:rPr lang="en-US" sz="1400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19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(4), 429-440.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879491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FC136908-8C6E-6BF4-312D-B9BA705C32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3" t="60000" r="50846" b="1545"/>
          <a:stretch/>
        </p:blipFill>
        <p:spPr bwMode="auto">
          <a:xfrm>
            <a:off x="1676400" y="1997736"/>
            <a:ext cx="6284747" cy="3793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utoShape 2" descr=" 4098">
            <a:extLst>
              <a:ext uri="{FF2B5EF4-FFF2-40B4-BE49-F238E27FC236}">
                <a16:creationId xmlns:a16="http://schemas.microsoft.com/office/drawing/2014/main" id="{A90B3411-4FE8-AFD6-D7FB-D758FCCCA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"/>
            <a:ext cx="7848600" cy="595294"/>
          </a:xfrm>
          <a:prstGeom prst="roundRect">
            <a:avLst>
              <a:gd name="adj" fmla="val 16667"/>
            </a:avLst>
          </a:prstGeom>
          <a:solidFill>
            <a:srgbClr val="00B8FF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 algn="ctr"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</a:tabLst>
            </a:pPr>
            <a:r>
              <a:rPr lang="en-US" sz="4000" dirty="0">
                <a:solidFill>
                  <a:srgbClr val="000000"/>
                </a:solidFill>
                <a:latin typeface="+mj-lt"/>
              </a:rPr>
              <a:t>Experiments</a:t>
            </a:r>
          </a:p>
        </p:txBody>
      </p:sp>
      <p:sp>
        <p:nvSpPr>
          <p:cNvPr id="8" name="AutoShape 3" descr=" 4099">
            <a:extLst>
              <a:ext uri="{FF2B5EF4-FFF2-40B4-BE49-F238E27FC236}">
                <a16:creationId xmlns:a16="http://schemas.microsoft.com/office/drawing/2014/main" id="{F872688F-0A87-44FD-805A-C9FB5CB57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1" y="762000"/>
            <a:ext cx="2198280" cy="430949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129316" dir="2700000" sx="1000" sy="1000" algn="ctr" rotWithShape="0">
              <a:srgbClr val="808080"/>
            </a:outerShdw>
          </a:effectLst>
        </p:spPr>
        <p:txBody>
          <a:bodyPr wrap="none" lIns="81639" tIns="40820" rIns="81639" bIns="40820" anchor="ctr"/>
          <a:lstStyle/>
          <a:p>
            <a:pPr>
              <a:lnSpc>
                <a:spcPct val="102000"/>
              </a:lnSpc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</a:tabLst>
            </a:pPr>
            <a:r>
              <a:rPr lang="en-US" sz="2800" dirty="0">
                <a:solidFill>
                  <a:srgbClr val="000000"/>
                </a:solidFill>
              </a:rPr>
              <a:t>On CAMI data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490873-5958-06C1-CC1D-E2E19F959E32}"/>
              </a:ext>
            </a:extLst>
          </p:cNvPr>
          <p:cNvSpPr/>
          <p:nvPr/>
        </p:nvSpPr>
        <p:spPr>
          <a:xfrm>
            <a:off x="1327739" y="1862238"/>
            <a:ext cx="501061" cy="4409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D491C074-7850-8D89-7E97-DFD1BA6652BB}"/>
              </a:ext>
            </a:extLst>
          </p:cNvPr>
          <p:cNvSpPr/>
          <p:nvPr/>
        </p:nvSpPr>
        <p:spPr>
          <a:xfrm>
            <a:off x="2454965" y="2991679"/>
            <a:ext cx="2856056" cy="1848678"/>
          </a:xfrm>
          <a:custGeom>
            <a:avLst/>
            <a:gdLst>
              <a:gd name="connsiteX0" fmla="*/ 0 w 2894536"/>
              <a:gd name="connsiteY0" fmla="*/ 0 h 1838739"/>
              <a:gd name="connsiteX1" fmla="*/ 685800 w 2894536"/>
              <a:gd name="connsiteY1" fmla="*/ 397565 h 1838739"/>
              <a:gd name="connsiteX2" fmla="*/ 1401418 w 2894536"/>
              <a:gd name="connsiteY2" fmla="*/ 685800 h 1838739"/>
              <a:gd name="connsiteX3" fmla="*/ 2733261 w 2894536"/>
              <a:gd name="connsiteY3" fmla="*/ 1341783 h 1838739"/>
              <a:gd name="connsiteX4" fmla="*/ 2822713 w 2894536"/>
              <a:gd name="connsiteY4" fmla="*/ 1838739 h 1838739"/>
              <a:gd name="connsiteX0" fmla="*/ 0 w 2899820"/>
              <a:gd name="connsiteY0" fmla="*/ 0 h 1848678"/>
              <a:gd name="connsiteX1" fmla="*/ 685800 w 2899820"/>
              <a:gd name="connsiteY1" fmla="*/ 397565 h 1848678"/>
              <a:gd name="connsiteX2" fmla="*/ 1401418 w 2899820"/>
              <a:gd name="connsiteY2" fmla="*/ 685800 h 1848678"/>
              <a:gd name="connsiteX3" fmla="*/ 2733261 w 2899820"/>
              <a:gd name="connsiteY3" fmla="*/ 1341783 h 1848678"/>
              <a:gd name="connsiteX4" fmla="*/ 2832652 w 2899820"/>
              <a:gd name="connsiteY4" fmla="*/ 1848678 h 1848678"/>
              <a:gd name="connsiteX0" fmla="*/ 0 w 2876374"/>
              <a:gd name="connsiteY0" fmla="*/ 0 h 1848678"/>
              <a:gd name="connsiteX1" fmla="*/ 685800 w 2876374"/>
              <a:gd name="connsiteY1" fmla="*/ 397565 h 1848678"/>
              <a:gd name="connsiteX2" fmla="*/ 1401418 w 2876374"/>
              <a:gd name="connsiteY2" fmla="*/ 685800 h 1848678"/>
              <a:gd name="connsiteX3" fmla="*/ 2733261 w 2876374"/>
              <a:gd name="connsiteY3" fmla="*/ 1341783 h 1848678"/>
              <a:gd name="connsiteX4" fmla="*/ 2842592 w 2876374"/>
              <a:gd name="connsiteY4" fmla="*/ 1639956 h 1848678"/>
              <a:gd name="connsiteX5" fmla="*/ 2832652 w 2876374"/>
              <a:gd name="connsiteY5" fmla="*/ 1848678 h 1848678"/>
              <a:gd name="connsiteX0" fmla="*/ 0 w 2876374"/>
              <a:gd name="connsiteY0" fmla="*/ 0 h 1848678"/>
              <a:gd name="connsiteX1" fmla="*/ 685800 w 2876374"/>
              <a:gd name="connsiteY1" fmla="*/ 397565 h 1848678"/>
              <a:gd name="connsiteX2" fmla="*/ 1401418 w 2876374"/>
              <a:gd name="connsiteY2" fmla="*/ 685800 h 1848678"/>
              <a:gd name="connsiteX3" fmla="*/ 2733261 w 2876374"/>
              <a:gd name="connsiteY3" fmla="*/ 1341783 h 1848678"/>
              <a:gd name="connsiteX4" fmla="*/ 2842592 w 2876374"/>
              <a:gd name="connsiteY4" fmla="*/ 1639956 h 1848678"/>
              <a:gd name="connsiteX5" fmla="*/ 2832652 w 2876374"/>
              <a:gd name="connsiteY5" fmla="*/ 1848678 h 1848678"/>
              <a:gd name="connsiteX0" fmla="*/ 0 w 2856056"/>
              <a:gd name="connsiteY0" fmla="*/ 0 h 1848678"/>
              <a:gd name="connsiteX1" fmla="*/ 685800 w 2856056"/>
              <a:gd name="connsiteY1" fmla="*/ 397565 h 1848678"/>
              <a:gd name="connsiteX2" fmla="*/ 1401418 w 2856056"/>
              <a:gd name="connsiteY2" fmla="*/ 685800 h 1848678"/>
              <a:gd name="connsiteX3" fmla="*/ 2693505 w 2856056"/>
              <a:gd name="connsiteY3" fmla="*/ 1361661 h 1848678"/>
              <a:gd name="connsiteX4" fmla="*/ 2842592 w 2856056"/>
              <a:gd name="connsiteY4" fmla="*/ 1639956 h 1848678"/>
              <a:gd name="connsiteX5" fmla="*/ 2832652 w 2856056"/>
              <a:gd name="connsiteY5" fmla="*/ 1848678 h 1848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56056" h="1848678">
                <a:moveTo>
                  <a:pt x="0" y="0"/>
                </a:moveTo>
                <a:cubicBezTo>
                  <a:pt x="226115" y="141632"/>
                  <a:pt x="452230" y="283265"/>
                  <a:pt x="685800" y="397565"/>
                </a:cubicBezTo>
                <a:cubicBezTo>
                  <a:pt x="919370" y="511865"/>
                  <a:pt x="1066801" y="525117"/>
                  <a:pt x="1401418" y="685800"/>
                </a:cubicBezTo>
                <a:cubicBezTo>
                  <a:pt x="1736035" y="846483"/>
                  <a:pt x="2443370" y="1207605"/>
                  <a:pt x="2693505" y="1361661"/>
                </a:cubicBezTo>
                <a:cubicBezTo>
                  <a:pt x="2943640" y="1515717"/>
                  <a:pt x="2826027" y="1555474"/>
                  <a:pt x="2842592" y="1639956"/>
                </a:cubicBezTo>
                <a:cubicBezTo>
                  <a:pt x="2839278" y="1893403"/>
                  <a:pt x="2844248" y="1808921"/>
                  <a:pt x="2832652" y="1848678"/>
                </a:cubicBezTo>
              </a:path>
            </a:pathLst>
          </a:custGeom>
          <a:noFill/>
          <a:ln>
            <a:solidFill>
              <a:schemeClr val="accent1">
                <a:shade val="15000"/>
                <a:alpha val="14043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800922-BBB6-C7D2-FCC5-821FE08049C1}"/>
              </a:ext>
            </a:extLst>
          </p:cNvPr>
          <p:cNvSpPr txBox="1"/>
          <p:nvPr/>
        </p:nvSpPr>
        <p:spPr>
          <a:xfrm>
            <a:off x="152400" y="1264584"/>
            <a:ext cx="6576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Critical assessment of metagenomic interpretation, benchmark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4C8F02-531E-ED9E-55F6-1FFFA4830A2F}"/>
              </a:ext>
            </a:extLst>
          </p:cNvPr>
          <p:cNvSpPr txBox="1"/>
          <p:nvPr/>
        </p:nvSpPr>
        <p:spPr>
          <a:xfrm>
            <a:off x="240121" y="3784836"/>
            <a:ext cx="1664879" cy="71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Completeness/ </a:t>
            </a:r>
          </a:p>
          <a:p>
            <a:r>
              <a:rPr lang="en-US" dirty="0"/>
              <a:t>recall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46B32F-A149-8AFA-68CD-F4F62998C04E}"/>
              </a:ext>
            </a:extLst>
          </p:cNvPr>
          <p:cNvSpPr txBox="1"/>
          <p:nvPr/>
        </p:nvSpPr>
        <p:spPr>
          <a:xfrm>
            <a:off x="2971800" y="5791200"/>
            <a:ext cx="16879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Purity/precision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4341EC-5B73-E784-3E71-949AF43C74DE}"/>
              </a:ext>
            </a:extLst>
          </p:cNvPr>
          <p:cNvSpPr txBox="1"/>
          <p:nvPr/>
        </p:nvSpPr>
        <p:spPr>
          <a:xfrm>
            <a:off x="11520" y="6381641"/>
            <a:ext cx="91324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Meyer, F., Fritz, A., Deng, Z. L., </a:t>
            </a:r>
            <a:r>
              <a:rPr lang="en-US" sz="14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Koslicki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D., </a:t>
            </a:r>
            <a:r>
              <a:rPr lang="en-US" sz="14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Lesker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T. R., Gurevich, A., ... &amp; McHardy, A. C. (2022). Critical assessment of metagenome interpretation: the second round of challenges. </a:t>
            </a:r>
            <a:r>
              <a:rPr lang="en-US" sz="1400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Nature methods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 </a:t>
            </a:r>
            <a:r>
              <a:rPr lang="en-US" sz="1400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19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(4), 429-440.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94567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87862</TotalTime>
  <Words>2359</Words>
  <Application>Microsoft Office PowerPoint</Application>
  <PresentationFormat>On-screen Show (4:3)</PresentationFormat>
  <Paragraphs>494</Paragraphs>
  <Slides>36</Slides>
  <Notes>30</Notes>
  <HiddenSlides>5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-apple-system</vt:lpstr>
      <vt:lpstr>Aptos</vt:lpstr>
      <vt:lpstr>Aptos Display</vt:lpstr>
      <vt:lpstr>Arial</vt:lpstr>
      <vt:lpstr>Calibri</vt:lpstr>
      <vt:lpstr>Courier New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Penn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David Koslicki</dc:creator>
  <cp:lastModifiedBy>David Koslicki</cp:lastModifiedBy>
  <cp:revision>1327</cp:revision>
  <dcterms:created xsi:type="dcterms:W3CDTF">2012-02-16T23:22:53Z</dcterms:created>
  <dcterms:modified xsi:type="dcterms:W3CDTF">2026-08-07T02:01:39Z</dcterms:modified>
</cp:coreProperties>
</file>