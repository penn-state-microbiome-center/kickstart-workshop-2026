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3" r:id="rId6"/>
    <p:sldId id="269" r:id="rId7"/>
    <p:sldId id="270" r:id="rId8"/>
    <p:sldId id="272" r:id="rId9"/>
    <p:sldId id="271" r:id="rId10"/>
    <p:sldId id="260" r:id="rId11"/>
    <p:sldId id="285" r:id="rId12"/>
    <p:sldId id="261" r:id="rId13"/>
    <p:sldId id="277" r:id="rId14"/>
    <p:sldId id="278" r:id="rId15"/>
    <p:sldId id="279" r:id="rId16"/>
    <p:sldId id="280" r:id="rId17"/>
    <p:sldId id="262" r:id="rId18"/>
    <p:sldId id="281" r:id="rId19"/>
    <p:sldId id="282" r:id="rId20"/>
    <p:sldId id="263" r:id="rId21"/>
    <p:sldId id="264" r:id="rId22"/>
    <p:sldId id="283" r:id="rId23"/>
    <p:sldId id="266" r:id="rId24"/>
    <p:sldId id="268" r:id="rId25"/>
    <p:sldId id="28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9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A2D36-7700-034F-92F1-D307B173951F}" v="5" dt="2026-08-04T12:18:24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52"/>
    <p:restoredTop sz="82507"/>
  </p:normalViewPr>
  <p:slideViewPr>
    <p:cSldViewPr snapToGrid="0" snapToObjects="1">
      <p:cViewPr varScale="1">
        <p:scale>
          <a:sx n="99" d="100"/>
          <a:sy n="99" d="100"/>
        </p:scale>
        <p:origin x="6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2D36D-173C-4CEC-BEA7-97514568EFCD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BFDEEDDE-8677-4A71-987A-1FA6BC337385}">
      <dgm:prSet custT="1"/>
      <dgm:spPr/>
      <dgm:t>
        <a:bodyPr/>
        <a:lstStyle/>
        <a:p>
          <a:r>
            <a:rPr lang="en-US" sz="2700" dirty="0">
              <a:latin typeface="Franklin Gothic Medium" panose="020B0603020102020204" pitchFamily="34" charset="0"/>
            </a:rPr>
            <a:t>Diverse microbial cell structures: bacteria, fungi, archaea, viruses</a:t>
          </a:r>
        </a:p>
      </dgm:t>
    </dgm:pt>
    <dgm:pt modelId="{C297C724-58F1-49A1-92AF-E63566A79479}" type="parTrans" cxnId="{F136983B-7318-4163-9B27-E462293A4DCA}">
      <dgm:prSet/>
      <dgm:spPr/>
      <dgm:t>
        <a:bodyPr/>
        <a:lstStyle/>
        <a:p>
          <a:endParaRPr lang="en-US" sz="2700">
            <a:latin typeface="Franklin Gothic Medium" panose="020B0603020102020204" pitchFamily="34" charset="0"/>
          </a:endParaRPr>
        </a:p>
      </dgm:t>
    </dgm:pt>
    <dgm:pt modelId="{83EC8F4E-671D-406A-96EE-B6F661CA9B62}" type="sibTrans" cxnId="{F136983B-7318-4163-9B27-E462293A4DCA}">
      <dgm:prSet/>
      <dgm:spPr/>
      <dgm:t>
        <a:bodyPr/>
        <a:lstStyle/>
        <a:p>
          <a:endParaRPr lang="en-US" sz="2700">
            <a:latin typeface="Franklin Gothic Medium" panose="020B0603020102020204" pitchFamily="34" charset="0"/>
          </a:endParaRPr>
        </a:p>
      </dgm:t>
    </dgm:pt>
    <dgm:pt modelId="{E8A89591-2EE0-4313-B696-6FCCD60251BB}">
      <dgm:prSet custT="1"/>
      <dgm:spPr/>
      <dgm:t>
        <a:bodyPr/>
        <a:lstStyle/>
        <a:p>
          <a:r>
            <a:rPr lang="en-US" sz="2700" dirty="0">
              <a:latin typeface="Franklin Gothic Medium" panose="020B0603020102020204" pitchFamily="34" charset="0"/>
            </a:rPr>
            <a:t>Low biomass samples and host contamination</a:t>
          </a:r>
        </a:p>
      </dgm:t>
    </dgm:pt>
    <dgm:pt modelId="{B048B7F2-251B-4144-99FF-588AA7DE29B0}" type="parTrans" cxnId="{03B13D8A-2AB6-4013-891A-7C11E3B2A142}">
      <dgm:prSet/>
      <dgm:spPr/>
      <dgm:t>
        <a:bodyPr/>
        <a:lstStyle/>
        <a:p>
          <a:endParaRPr lang="en-US" sz="2700">
            <a:latin typeface="Franklin Gothic Medium" panose="020B0603020102020204" pitchFamily="34" charset="0"/>
          </a:endParaRPr>
        </a:p>
      </dgm:t>
    </dgm:pt>
    <dgm:pt modelId="{0FBF149F-88ED-4841-8295-809CC8AB50B0}" type="sibTrans" cxnId="{03B13D8A-2AB6-4013-891A-7C11E3B2A142}">
      <dgm:prSet/>
      <dgm:spPr/>
      <dgm:t>
        <a:bodyPr/>
        <a:lstStyle/>
        <a:p>
          <a:endParaRPr lang="en-US" sz="2700">
            <a:latin typeface="Franklin Gothic Medium" panose="020B0603020102020204" pitchFamily="34" charset="0"/>
          </a:endParaRPr>
        </a:p>
      </dgm:t>
    </dgm:pt>
    <dgm:pt modelId="{2AC045B1-CE83-4E11-9E80-DA9ADEE8D2FC}">
      <dgm:prSet custT="1"/>
      <dgm:spPr/>
      <dgm:t>
        <a:bodyPr/>
        <a:lstStyle/>
        <a:p>
          <a:r>
            <a:rPr lang="en-US" sz="2700" dirty="0">
              <a:latin typeface="Franklin Gothic Medium" panose="020B0603020102020204" pitchFamily="34" charset="0"/>
            </a:rPr>
            <a:t>Inhibitors: e.g., humic acids, bile salts, polysaccharides</a:t>
          </a:r>
        </a:p>
      </dgm:t>
    </dgm:pt>
    <dgm:pt modelId="{1E7D083C-CA6A-42B8-96B2-925EB8C20C85}" type="parTrans" cxnId="{BEB5DBF5-4CC0-4092-8184-22C644C9BEE6}">
      <dgm:prSet/>
      <dgm:spPr/>
      <dgm:t>
        <a:bodyPr/>
        <a:lstStyle/>
        <a:p>
          <a:endParaRPr lang="en-US" sz="2700">
            <a:latin typeface="Franklin Gothic Medium" panose="020B0603020102020204" pitchFamily="34" charset="0"/>
          </a:endParaRPr>
        </a:p>
      </dgm:t>
    </dgm:pt>
    <dgm:pt modelId="{04350147-E893-492A-ADAE-23B5C6F80FCB}" type="sibTrans" cxnId="{BEB5DBF5-4CC0-4092-8184-22C644C9BEE6}">
      <dgm:prSet/>
      <dgm:spPr/>
      <dgm:t>
        <a:bodyPr/>
        <a:lstStyle/>
        <a:p>
          <a:endParaRPr lang="en-US" sz="2700">
            <a:latin typeface="Franklin Gothic Medium" panose="020B0603020102020204" pitchFamily="34" charset="0"/>
          </a:endParaRPr>
        </a:p>
      </dgm:t>
    </dgm:pt>
    <dgm:pt modelId="{B6EBB7B8-3F49-7B4E-BF61-15799F7ECDC2}" type="pres">
      <dgm:prSet presAssocID="{EE12D36D-173C-4CEC-BEA7-97514568EFCD}" presName="linear" presStyleCnt="0">
        <dgm:presLayoutVars>
          <dgm:animLvl val="lvl"/>
          <dgm:resizeHandles val="exact"/>
        </dgm:presLayoutVars>
      </dgm:prSet>
      <dgm:spPr/>
    </dgm:pt>
    <dgm:pt modelId="{EA4265DE-F758-1D42-87D8-387A0D957F76}" type="pres">
      <dgm:prSet presAssocID="{BFDEEDDE-8677-4A71-987A-1FA6BC337385}" presName="parentText" presStyleLbl="node1" presStyleIdx="0" presStyleCnt="3" custLinFactNeighborX="-4068" custLinFactNeighborY="14090">
        <dgm:presLayoutVars>
          <dgm:chMax val="0"/>
          <dgm:bulletEnabled val="1"/>
        </dgm:presLayoutVars>
      </dgm:prSet>
      <dgm:spPr/>
    </dgm:pt>
    <dgm:pt modelId="{93531BA9-0CD9-7D4F-94D3-2CDA1D5B758D}" type="pres">
      <dgm:prSet presAssocID="{83EC8F4E-671D-406A-96EE-B6F661CA9B62}" presName="spacer" presStyleCnt="0"/>
      <dgm:spPr/>
    </dgm:pt>
    <dgm:pt modelId="{C58BA653-4968-DB42-BFD8-80C533425B33}" type="pres">
      <dgm:prSet presAssocID="{E8A89591-2EE0-4313-B696-6FCCD60251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12645B-5E31-1243-B083-E2D643FEDFBB}" type="pres">
      <dgm:prSet presAssocID="{0FBF149F-88ED-4841-8295-809CC8AB50B0}" presName="spacer" presStyleCnt="0"/>
      <dgm:spPr/>
    </dgm:pt>
    <dgm:pt modelId="{FB6F212A-2040-234A-960E-36869FEBAC0C}" type="pres">
      <dgm:prSet presAssocID="{2AC045B1-CE83-4E11-9E80-DA9ADEE8D2F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E95FE1F-FEE5-2642-A84E-86ED771A8007}" type="presOf" srcId="{2AC045B1-CE83-4E11-9E80-DA9ADEE8D2FC}" destId="{FB6F212A-2040-234A-960E-36869FEBAC0C}" srcOrd="0" destOrd="0" presId="urn:microsoft.com/office/officeart/2005/8/layout/vList2"/>
    <dgm:cxn modelId="{F136983B-7318-4163-9B27-E462293A4DCA}" srcId="{EE12D36D-173C-4CEC-BEA7-97514568EFCD}" destId="{BFDEEDDE-8677-4A71-987A-1FA6BC337385}" srcOrd="0" destOrd="0" parTransId="{C297C724-58F1-49A1-92AF-E63566A79479}" sibTransId="{83EC8F4E-671D-406A-96EE-B6F661CA9B62}"/>
    <dgm:cxn modelId="{1782CD58-C3B2-1C4F-A26A-E6500F83A1A5}" type="presOf" srcId="{BFDEEDDE-8677-4A71-987A-1FA6BC337385}" destId="{EA4265DE-F758-1D42-87D8-387A0D957F76}" srcOrd="0" destOrd="0" presId="urn:microsoft.com/office/officeart/2005/8/layout/vList2"/>
    <dgm:cxn modelId="{9DD6A274-1E10-A44F-8C0C-DE892D77F42F}" type="presOf" srcId="{EE12D36D-173C-4CEC-BEA7-97514568EFCD}" destId="{B6EBB7B8-3F49-7B4E-BF61-15799F7ECDC2}" srcOrd="0" destOrd="0" presId="urn:microsoft.com/office/officeart/2005/8/layout/vList2"/>
    <dgm:cxn modelId="{B9506F79-86E9-AC43-9082-6804B14007F5}" type="presOf" srcId="{E8A89591-2EE0-4313-B696-6FCCD60251BB}" destId="{C58BA653-4968-DB42-BFD8-80C533425B33}" srcOrd="0" destOrd="0" presId="urn:microsoft.com/office/officeart/2005/8/layout/vList2"/>
    <dgm:cxn modelId="{03B13D8A-2AB6-4013-891A-7C11E3B2A142}" srcId="{EE12D36D-173C-4CEC-BEA7-97514568EFCD}" destId="{E8A89591-2EE0-4313-B696-6FCCD60251BB}" srcOrd="1" destOrd="0" parTransId="{B048B7F2-251B-4144-99FF-588AA7DE29B0}" sibTransId="{0FBF149F-88ED-4841-8295-809CC8AB50B0}"/>
    <dgm:cxn modelId="{BEB5DBF5-4CC0-4092-8184-22C644C9BEE6}" srcId="{EE12D36D-173C-4CEC-BEA7-97514568EFCD}" destId="{2AC045B1-CE83-4E11-9E80-DA9ADEE8D2FC}" srcOrd="2" destOrd="0" parTransId="{1E7D083C-CA6A-42B8-96B2-925EB8C20C85}" sibTransId="{04350147-E893-492A-ADAE-23B5C6F80FCB}"/>
    <dgm:cxn modelId="{1E441628-F012-0F43-B45F-8018B003ED76}" type="presParOf" srcId="{B6EBB7B8-3F49-7B4E-BF61-15799F7ECDC2}" destId="{EA4265DE-F758-1D42-87D8-387A0D957F76}" srcOrd="0" destOrd="0" presId="urn:microsoft.com/office/officeart/2005/8/layout/vList2"/>
    <dgm:cxn modelId="{7B461731-4ED4-BB43-949C-B48B44DF76D6}" type="presParOf" srcId="{B6EBB7B8-3F49-7B4E-BF61-15799F7ECDC2}" destId="{93531BA9-0CD9-7D4F-94D3-2CDA1D5B758D}" srcOrd="1" destOrd="0" presId="urn:microsoft.com/office/officeart/2005/8/layout/vList2"/>
    <dgm:cxn modelId="{7E1DD1C6-A863-504E-BC2E-83B132FB0DD4}" type="presParOf" srcId="{B6EBB7B8-3F49-7B4E-BF61-15799F7ECDC2}" destId="{C58BA653-4968-DB42-BFD8-80C533425B33}" srcOrd="2" destOrd="0" presId="urn:microsoft.com/office/officeart/2005/8/layout/vList2"/>
    <dgm:cxn modelId="{411B09B3-CB7A-AD45-BEC7-C8BE2B4518A2}" type="presParOf" srcId="{B6EBB7B8-3F49-7B4E-BF61-15799F7ECDC2}" destId="{B812645B-5E31-1243-B083-E2D643FEDFBB}" srcOrd="3" destOrd="0" presId="urn:microsoft.com/office/officeart/2005/8/layout/vList2"/>
    <dgm:cxn modelId="{245FA7CF-EBDD-764D-81DD-627C7BEBD442}" type="presParOf" srcId="{B6EBB7B8-3F49-7B4E-BF61-15799F7ECDC2}" destId="{FB6F212A-2040-234A-960E-36869FEBAC0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89BBE3-94A2-684B-809F-FA879182AFEC}" type="doc">
      <dgm:prSet loTypeId="urn:microsoft.com/office/officeart/2005/8/layout/lProcess3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ABBBC7A-EABD-5E44-8AB5-535E23D53E6E}">
      <dgm:prSet phldrT="[Text]" custT="1"/>
      <dgm:spPr/>
      <dgm:t>
        <a:bodyPr/>
        <a:lstStyle/>
        <a:p>
          <a:r>
            <a:rPr lang="en-US" sz="4500" dirty="0">
              <a:latin typeface="Franklin Gothic Medium" panose="020B0603020102020204" pitchFamily="34" charset="0"/>
            </a:rPr>
            <a:t>What</a:t>
          </a:r>
        </a:p>
      </dgm:t>
    </dgm:pt>
    <dgm:pt modelId="{669F24E3-0F01-5043-90A3-E1CDEFAEAD3D}" type="parTrans" cxnId="{9FB6F5DF-E91D-9040-A040-254C6EB0B1D0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3987074B-8782-4241-8C4B-1081C7838BC3}" type="sibTrans" cxnId="{9FB6F5DF-E91D-9040-A040-254C6EB0B1D0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5D5DFD64-7346-D74A-AE13-7389C9436B23}">
      <dgm:prSet phldrT="[Text]"/>
      <dgm:spPr/>
      <dgm:t>
        <a:bodyPr/>
        <a:lstStyle/>
        <a:p>
          <a:r>
            <a:rPr lang="en-US" dirty="0">
              <a:latin typeface="Franklin Gothic Medium" panose="020B0603020102020204" pitchFamily="34" charset="0"/>
            </a:rPr>
            <a:t>Process of preparing DNA for NGS</a:t>
          </a:r>
        </a:p>
      </dgm:t>
    </dgm:pt>
    <dgm:pt modelId="{1695CACF-641E-A34A-A5A0-3AD42AF86CFD}" type="parTrans" cxnId="{30373191-C98E-1742-B3B2-756FFFFF16AD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8ABF1BB9-B62D-F34C-B574-90E711383D44}" type="sibTrans" cxnId="{30373191-C98E-1742-B3B2-756FFFFF16AD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218BF238-A5A3-7E44-904F-609FCC565B04}">
      <dgm:prSet phldrT="[Text]" custT="1"/>
      <dgm:spPr/>
      <dgm:t>
        <a:bodyPr/>
        <a:lstStyle/>
        <a:p>
          <a:r>
            <a:rPr lang="en-US" sz="4500" dirty="0">
              <a:latin typeface="Franklin Gothic Medium" panose="020B0603020102020204" pitchFamily="34" charset="0"/>
            </a:rPr>
            <a:t>Why</a:t>
          </a:r>
        </a:p>
      </dgm:t>
    </dgm:pt>
    <dgm:pt modelId="{7C096143-217B-DA46-A8B0-DED375E5D624}" type="parTrans" cxnId="{CB3CDBD2-B2BB-6F4C-88F4-ED21CB410AF0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3CAF4AB0-9258-764A-B53B-0125896EDEAD}" type="sibTrans" cxnId="{CB3CDBD2-B2BB-6F4C-88F4-ED21CB410AF0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EA5906CC-3373-8F4A-BEB0-C7C8CFB82614}">
      <dgm:prSet phldrT="[Text]"/>
      <dgm:spPr/>
      <dgm:t>
        <a:bodyPr/>
        <a:lstStyle/>
        <a:p>
          <a:r>
            <a:rPr lang="en-US" dirty="0">
              <a:latin typeface="Franklin Gothic Medium" panose="020B0603020102020204" pitchFamily="34" charset="0"/>
            </a:rPr>
            <a:t>Required for sequence platforms</a:t>
          </a:r>
        </a:p>
      </dgm:t>
    </dgm:pt>
    <dgm:pt modelId="{FCB51E65-37F3-B740-971C-40264CD47175}" type="parTrans" cxnId="{BD29BB28-9E9C-724E-ABD2-52BD1390F54E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3D6291DC-B10F-7744-8C3E-8F4C68348939}" type="sibTrans" cxnId="{BD29BB28-9E9C-724E-ABD2-52BD1390F54E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363CC358-CE03-094F-8C9D-2738CC45267D}">
      <dgm:prSet phldrT="[Text]" custT="1"/>
      <dgm:spPr/>
      <dgm:t>
        <a:bodyPr/>
        <a:lstStyle/>
        <a:p>
          <a:r>
            <a:rPr lang="en-US" sz="4500" dirty="0">
              <a:latin typeface="Franklin Gothic Medium" panose="020B0603020102020204" pitchFamily="34" charset="0"/>
            </a:rPr>
            <a:t>How</a:t>
          </a:r>
        </a:p>
      </dgm:t>
    </dgm:pt>
    <dgm:pt modelId="{78FB0061-B03E-7345-8833-BDAF0C8C984C}" type="parTrans" cxnId="{AD825FC4-42F7-FC4C-AC3F-858922ED3995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DFFE16F3-2346-9445-8C70-473E5FA97D57}" type="sibTrans" cxnId="{AD825FC4-42F7-FC4C-AC3F-858922ED3995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8EC7658D-F6D5-2446-9E18-9E9A859BB41E}">
      <dgm:prSet phldrT="[Text]"/>
      <dgm:spPr/>
      <dgm:t>
        <a:bodyPr/>
        <a:lstStyle/>
        <a:p>
          <a:r>
            <a:rPr lang="en-US" dirty="0">
              <a:latin typeface="Franklin Gothic Medium" panose="020B0603020102020204" pitchFamily="34" charset="0"/>
            </a:rPr>
            <a:t>Two Approaches: PCR-based and Shotgun</a:t>
          </a:r>
        </a:p>
      </dgm:t>
    </dgm:pt>
    <dgm:pt modelId="{218E721D-1478-6545-B7CE-37A88F373729}" type="parTrans" cxnId="{A0F3DF60-B2B9-104B-AC92-40DC2E1FDF9F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DE824BD5-C01C-734B-856F-ADAE188D0A3E}" type="sibTrans" cxnId="{A0F3DF60-B2B9-104B-AC92-40DC2E1FDF9F}">
      <dgm:prSet/>
      <dgm:spPr/>
      <dgm:t>
        <a:bodyPr/>
        <a:lstStyle/>
        <a:p>
          <a:endParaRPr lang="en-US">
            <a:latin typeface="Franklin Gothic Medium" panose="020B0603020102020204" pitchFamily="34" charset="0"/>
          </a:endParaRPr>
        </a:p>
      </dgm:t>
    </dgm:pt>
    <dgm:pt modelId="{F61CA683-E9F8-8F4D-9297-CD12ECEA8A59}" type="pres">
      <dgm:prSet presAssocID="{1689BBE3-94A2-684B-809F-FA879182AF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86B9F3B-C8A9-3B41-98AA-D0BC64F05031}" type="pres">
      <dgm:prSet presAssocID="{AABBBC7A-EABD-5E44-8AB5-535E23D53E6E}" presName="horFlow" presStyleCnt="0"/>
      <dgm:spPr/>
    </dgm:pt>
    <dgm:pt modelId="{09305F51-D79C-1749-97BB-078DA9CCE043}" type="pres">
      <dgm:prSet presAssocID="{AABBBC7A-EABD-5E44-8AB5-535E23D53E6E}" presName="bigChev" presStyleLbl="node1" presStyleIdx="0" presStyleCnt="3"/>
      <dgm:spPr/>
    </dgm:pt>
    <dgm:pt modelId="{949B673C-491B-1C42-A8E4-FBAA8557E131}" type="pres">
      <dgm:prSet presAssocID="{1695CACF-641E-A34A-A5A0-3AD42AF86CFD}" presName="parTrans" presStyleCnt="0"/>
      <dgm:spPr/>
    </dgm:pt>
    <dgm:pt modelId="{0733E9D5-9B2C-5941-A011-64108981AE49}" type="pres">
      <dgm:prSet presAssocID="{5D5DFD64-7346-D74A-AE13-7389C9436B23}" presName="node" presStyleLbl="alignAccFollowNode1" presStyleIdx="0" presStyleCnt="3" custScaleX="219714">
        <dgm:presLayoutVars>
          <dgm:bulletEnabled val="1"/>
        </dgm:presLayoutVars>
      </dgm:prSet>
      <dgm:spPr/>
    </dgm:pt>
    <dgm:pt modelId="{F89C6C1D-F48E-8C4E-8FF9-694D01E9285A}" type="pres">
      <dgm:prSet presAssocID="{AABBBC7A-EABD-5E44-8AB5-535E23D53E6E}" presName="vSp" presStyleCnt="0"/>
      <dgm:spPr/>
    </dgm:pt>
    <dgm:pt modelId="{325073CA-10A4-FF41-A839-DFF1893F1E0D}" type="pres">
      <dgm:prSet presAssocID="{218BF238-A5A3-7E44-904F-609FCC565B04}" presName="horFlow" presStyleCnt="0"/>
      <dgm:spPr/>
    </dgm:pt>
    <dgm:pt modelId="{A793C0FD-5BAC-684E-93D6-EFEE074792F0}" type="pres">
      <dgm:prSet presAssocID="{218BF238-A5A3-7E44-904F-609FCC565B04}" presName="bigChev" presStyleLbl="node1" presStyleIdx="1" presStyleCnt="3"/>
      <dgm:spPr/>
    </dgm:pt>
    <dgm:pt modelId="{8F0DB46E-AEA1-A949-BF40-4EF15D450524}" type="pres">
      <dgm:prSet presAssocID="{FCB51E65-37F3-B740-971C-40264CD47175}" presName="parTrans" presStyleCnt="0"/>
      <dgm:spPr/>
    </dgm:pt>
    <dgm:pt modelId="{DB77559B-5B4F-CD42-A8DC-C9A7CD8D981E}" type="pres">
      <dgm:prSet presAssocID="{EA5906CC-3373-8F4A-BEB0-C7C8CFB82614}" presName="node" presStyleLbl="alignAccFollowNode1" presStyleIdx="1" presStyleCnt="3" custScaleX="214730">
        <dgm:presLayoutVars>
          <dgm:bulletEnabled val="1"/>
        </dgm:presLayoutVars>
      </dgm:prSet>
      <dgm:spPr/>
    </dgm:pt>
    <dgm:pt modelId="{65ABF789-A17B-C642-ABC6-1C01CB761A55}" type="pres">
      <dgm:prSet presAssocID="{218BF238-A5A3-7E44-904F-609FCC565B04}" presName="vSp" presStyleCnt="0"/>
      <dgm:spPr/>
    </dgm:pt>
    <dgm:pt modelId="{08E0FCF4-CEED-2142-BD55-EDDFA2A62398}" type="pres">
      <dgm:prSet presAssocID="{363CC358-CE03-094F-8C9D-2738CC45267D}" presName="horFlow" presStyleCnt="0"/>
      <dgm:spPr/>
    </dgm:pt>
    <dgm:pt modelId="{F1EEDE7F-127D-0249-8410-4A8D1EFC2848}" type="pres">
      <dgm:prSet presAssocID="{363CC358-CE03-094F-8C9D-2738CC45267D}" presName="bigChev" presStyleLbl="node1" presStyleIdx="2" presStyleCnt="3"/>
      <dgm:spPr/>
    </dgm:pt>
    <dgm:pt modelId="{40B6B575-F1FD-9048-9345-5C44244DC81D}" type="pres">
      <dgm:prSet presAssocID="{218E721D-1478-6545-B7CE-37A88F373729}" presName="parTrans" presStyleCnt="0"/>
      <dgm:spPr/>
    </dgm:pt>
    <dgm:pt modelId="{4DFEDD69-AA18-0C4C-AAC7-86F6E3B1CEE5}" type="pres">
      <dgm:prSet presAssocID="{8EC7658D-F6D5-2446-9E18-9E9A859BB41E}" presName="node" presStyleLbl="alignAccFollowNode1" presStyleIdx="2" presStyleCnt="3" custScaleX="218504">
        <dgm:presLayoutVars>
          <dgm:bulletEnabled val="1"/>
        </dgm:presLayoutVars>
      </dgm:prSet>
      <dgm:spPr/>
    </dgm:pt>
  </dgm:ptLst>
  <dgm:cxnLst>
    <dgm:cxn modelId="{6A772A1D-C691-5E4F-89AD-05D250F5EEB9}" type="presOf" srcId="{EA5906CC-3373-8F4A-BEB0-C7C8CFB82614}" destId="{DB77559B-5B4F-CD42-A8DC-C9A7CD8D981E}" srcOrd="0" destOrd="0" presId="urn:microsoft.com/office/officeart/2005/8/layout/lProcess3"/>
    <dgm:cxn modelId="{BD29BB28-9E9C-724E-ABD2-52BD1390F54E}" srcId="{218BF238-A5A3-7E44-904F-609FCC565B04}" destId="{EA5906CC-3373-8F4A-BEB0-C7C8CFB82614}" srcOrd="0" destOrd="0" parTransId="{FCB51E65-37F3-B740-971C-40264CD47175}" sibTransId="{3D6291DC-B10F-7744-8C3E-8F4C68348939}"/>
    <dgm:cxn modelId="{AF5E5C42-157B-8F40-A05B-1A711C4D700F}" type="presOf" srcId="{AABBBC7A-EABD-5E44-8AB5-535E23D53E6E}" destId="{09305F51-D79C-1749-97BB-078DA9CCE043}" srcOrd="0" destOrd="0" presId="urn:microsoft.com/office/officeart/2005/8/layout/lProcess3"/>
    <dgm:cxn modelId="{5DCDEE49-3C74-0440-815E-7ECACEEF7D8A}" type="presOf" srcId="{218BF238-A5A3-7E44-904F-609FCC565B04}" destId="{A793C0FD-5BAC-684E-93D6-EFEE074792F0}" srcOrd="0" destOrd="0" presId="urn:microsoft.com/office/officeart/2005/8/layout/lProcess3"/>
    <dgm:cxn modelId="{A0F3DF60-B2B9-104B-AC92-40DC2E1FDF9F}" srcId="{363CC358-CE03-094F-8C9D-2738CC45267D}" destId="{8EC7658D-F6D5-2446-9E18-9E9A859BB41E}" srcOrd="0" destOrd="0" parTransId="{218E721D-1478-6545-B7CE-37A88F373729}" sibTransId="{DE824BD5-C01C-734B-856F-ADAE188D0A3E}"/>
    <dgm:cxn modelId="{D628367B-0129-D541-9F65-3928982D6C76}" type="presOf" srcId="{5D5DFD64-7346-D74A-AE13-7389C9436B23}" destId="{0733E9D5-9B2C-5941-A011-64108981AE49}" srcOrd="0" destOrd="0" presId="urn:microsoft.com/office/officeart/2005/8/layout/lProcess3"/>
    <dgm:cxn modelId="{30373191-C98E-1742-B3B2-756FFFFF16AD}" srcId="{AABBBC7A-EABD-5E44-8AB5-535E23D53E6E}" destId="{5D5DFD64-7346-D74A-AE13-7389C9436B23}" srcOrd="0" destOrd="0" parTransId="{1695CACF-641E-A34A-A5A0-3AD42AF86CFD}" sibTransId="{8ABF1BB9-B62D-F34C-B574-90E711383D44}"/>
    <dgm:cxn modelId="{980EBAAA-A543-5445-AF70-44AC1F66E166}" type="presOf" srcId="{8EC7658D-F6D5-2446-9E18-9E9A859BB41E}" destId="{4DFEDD69-AA18-0C4C-AAC7-86F6E3B1CEE5}" srcOrd="0" destOrd="0" presId="urn:microsoft.com/office/officeart/2005/8/layout/lProcess3"/>
    <dgm:cxn modelId="{F56388B1-E17A-F44F-B1C6-E73F80280A7B}" type="presOf" srcId="{363CC358-CE03-094F-8C9D-2738CC45267D}" destId="{F1EEDE7F-127D-0249-8410-4A8D1EFC2848}" srcOrd="0" destOrd="0" presId="urn:microsoft.com/office/officeart/2005/8/layout/lProcess3"/>
    <dgm:cxn modelId="{AD825FC4-42F7-FC4C-AC3F-858922ED3995}" srcId="{1689BBE3-94A2-684B-809F-FA879182AFEC}" destId="{363CC358-CE03-094F-8C9D-2738CC45267D}" srcOrd="2" destOrd="0" parTransId="{78FB0061-B03E-7345-8833-BDAF0C8C984C}" sibTransId="{DFFE16F3-2346-9445-8C70-473E5FA97D57}"/>
    <dgm:cxn modelId="{DE532ACF-E51D-1F42-951B-4326F0D75AF4}" type="presOf" srcId="{1689BBE3-94A2-684B-809F-FA879182AFEC}" destId="{F61CA683-E9F8-8F4D-9297-CD12ECEA8A59}" srcOrd="0" destOrd="0" presId="urn:microsoft.com/office/officeart/2005/8/layout/lProcess3"/>
    <dgm:cxn modelId="{CB3CDBD2-B2BB-6F4C-88F4-ED21CB410AF0}" srcId="{1689BBE3-94A2-684B-809F-FA879182AFEC}" destId="{218BF238-A5A3-7E44-904F-609FCC565B04}" srcOrd="1" destOrd="0" parTransId="{7C096143-217B-DA46-A8B0-DED375E5D624}" sibTransId="{3CAF4AB0-9258-764A-B53B-0125896EDEAD}"/>
    <dgm:cxn modelId="{9FB6F5DF-E91D-9040-A040-254C6EB0B1D0}" srcId="{1689BBE3-94A2-684B-809F-FA879182AFEC}" destId="{AABBBC7A-EABD-5E44-8AB5-535E23D53E6E}" srcOrd="0" destOrd="0" parTransId="{669F24E3-0F01-5043-90A3-E1CDEFAEAD3D}" sibTransId="{3987074B-8782-4241-8C4B-1081C7838BC3}"/>
    <dgm:cxn modelId="{E232F4FC-8718-3842-A57D-4079BBCE4611}" type="presParOf" srcId="{F61CA683-E9F8-8F4D-9297-CD12ECEA8A59}" destId="{B86B9F3B-C8A9-3B41-98AA-D0BC64F05031}" srcOrd="0" destOrd="0" presId="urn:microsoft.com/office/officeart/2005/8/layout/lProcess3"/>
    <dgm:cxn modelId="{8A3A0EC0-6732-3D4B-9BD5-A010E219E6E9}" type="presParOf" srcId="{B86B9F3B-C8A9-3B41-98AA-D0BC64F05031}" destId="{09305F51-D79C-1749-97BB-078DA9CCE043}" srcOrd="0" destOrd="0" presId="urn:microsoft.com/office/officeart/2005/8/layout/lProcess3"/>
    <dgm:cxn modelId="{69D3712C-3056-0A4F-AB09-D63782CEFCA7}" type="presParOf" srcId="{B86B9F3B-C8A9-3B41-98AA-D0BC64F05031}" destId="{949B673C-491B-1C42-A8E4-FBAA8557E131}" srcOrd="1" destOrd="0" presId="urn:microsoft.com/office/officeart/2005/8/layout/lProcess3"/>
    <dgm:cxn modelId="{889D65E7-7C8D-BD41-913D-FBD6013CE0FF}" type="presParOf" srcId="{B86B9F3B-C8A9-3B41-98AA-D0BC64F05031}" destId="{0733E9D5-9B2C-5941-A011-64108981AE49}" srcOrd="2" destOrd="0" presId="urn:microsoft.com/office/officeart/2005/8/layout/lProcess3"/>
    <dgm:cxn modelId="{8B4BB458-B90C-764E-8466-03C818413BAA}" type="presParOf" srcId="{F61CA683-E9F8-8F4D-9297-CD12ECEA8A59}" destId="{F89C6C1D-F48E-8C4E-8FF9-694D01E9285A}" srcOrd="1" destOrd="0" presId="urn:microsoft.com/office/officeart/2005/8/layout/lProcess3"/>
    <dgm:cxn modelId="{DED2C6FC-DE22-0B40-97C2-8A130ACE6258}" type="presParOf" srcId="{F61CA683-E9F8-8F4D-9297-CD12ECEA8A59}" destId="{325073CA-10A4-FF41-A839-DFF1893F1E0D}" srcOrd="2" destOrd="0" presId="urn:microsoft.com/office/officeart/2005/8/layout/lProcess3"/>
    <dgm:cxn modelId="{40E81E8A-F0C9-7F44-B928-4B870F948874}" type="presParOf" srcId="{325073CA-10A4-FF41-A839-DFF1893F1E0D}" destId="{A793C0FD-5BAC-684E-93D6-EFEE074792F0}" srcOrd="0" destOrd="0" presId="urn:microsoft.com/office/officeart/2005/8/layout/lProcess3"/>
    <dgm:cxn modelId="{25AB8E0E-DE1E-E946-B164-2AF8C466D8A3}" type="presParOf" srcId="{325073CA-10A4-FF41-A839-DFF1893F1E0D}" destId="{8F0DB46E-AEA1-A949-BF40-4EF15D450524}" srcOrd="1" destOrd="0" presId="urn:microsoft.com/office/officeart/2005/8/layout/lProcess3"/>
    <dgm:cxn modelId="{133B0E47-A730-B848-925B-DDDD166FC353}" type="presParOf" srcId="{325073CA-10A4-FF41-A839-DFF1893F1E0D}" destId="{DB77559B-5B4F-CD42-A8DC-C9A7CD8D981E}" srcOrd="2" destOrd="0" presId="urn:microsoft.com/office/officeart/2005/8/layout/lProcess3"/>
    <dgm:cxn modelId="{2BB05CE9-8FBB-0F48-BD6A-ECEBE7683BE6}" type="presParOf" srcId="{F61CA683-E9F8-8F4D-9297-CD12ECEA8A59}" destId="{65ABF789-A17B-C642-ABC6-1C01CB761A55}" srcOrd="3" destOrd="0" presId="urn:microsoft.com/office/officeart/2005/8/layout/lProcess3"/>
    <dgm:cxn modelId="{7027B63C-D90C-174E-8B51-D73B8D02E1C4}" type="presParOf" srcId="{F61CA683-E9F8-8F4D-9297-CD12ECEA8A59}" destId="{08E0FCF4-CEED-2142-BD55-EDDFA2A62398}" srcOrd="4" destOrd="0" presId="urn:microsoft.com/office/officeart/2005/8/layout/lProcess3"/>
    <dgm:cxn modelId="{0F555F44-608C-B542-A712-AB0CB21D148D}" type="presParOf" srcId="{08E0FCF4-CEED-2142-BD55-EDDFA2A62398}" destId="{F1EEDE7F-127D-0249-8410-4A8D1EFC2848}" srcOrd="0" destOrd="0" presId="urn:microsoft.com/office/officeart/2005/8/layout/lProcess3"/>
    <dgm:cxn modelId="{BC8BF84B-5EF0-274E-8A6C-2373CCD18033}" type="presParOf" srcId="{08E0FCF4-CEED-2142-BD55-EDDFA2A62398}" destId="{40B6B575-F1FD-9048-9345-5C44244DC81D}" srcOrd="1" destOrd="0" presId="urn:microsoft.com/office/officeart/2005/8/layout/lProcess3"/>
    <dgm:cxn modelId="{96B8D768-5D34-094F-A61A-5509EE08DEE2}" type="presParOf" srcId="{08E0FCF4-CEED-2142-BD55-EDDFA2A62398}" destId="{4DFEDD69-AA18-0C4C-AAC7-86F6E3B1CEE5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265DE-F758-1D42-87D8-387A0D957F76}">
      <dsp:nvSpPr>
        <dsp:cNvPr id="0" name=""/>
        <dsp:cNvSpPr/>
      </dsp:nvSpPr>
      <dsp:spPr>
        <a:xfrm>
          <a:off x="0" y="512470"/>
          <a:ext cx="3943350" cy="140692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Franklin Gothic Medium" panose="020B0603020102020204" pitchFamily="34" charset="0"/>
            </a:rPr>
            <a:t>Diverse microbial cell structures: bacteria, fungi, archaea, viruses</a:t>
          </a:r>
        </a:p>
      </dsp:txBody>
      <dsp:txXfrm>
        <a:off x="68680" y="581150"/>
        <a:ext cx="3805990" cy="1269564"/>
      </dsp:txXfrm>
    </dsp:sp>
    <dsp:sp modelId="{C58BA653-4968-DB42-BFD8-80C533425B33}">
      <dsp:nvSpPr>
        <dsp:cNvPr id="0" name=""/>
        <dsp:cNvSpPr/>
      </dsp:nvSpPr>
      <dsp:spPr>
        <a:xfrm>
          <a:off x="0" y="2080219"/>
          <a:ext cx="3943350" cy="1406924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Franklin Gothic Medium" panose="020B0603020102020204" pitchFamily="34" charset="0"/>
            </a:rPr>
            <a:t>Low biomass samples and host contamination</a:t>
          </a:r>
        </a:p>
      </dsp:txBody>
      <dsp:txXfrm>
        <a:off x="68680" y="2148899"/>
        <a:ext cx="3805990" cy="1269564"/>
      </dsp:txXfrm>
    </dsp:sp>
    <dsp:sp modelId="{FB6F212A-2040-234A-960E-36869FEBAC0C}">
      <dsp:nvSpPr>
        <dsp:cNvPr id="0" name=""/>
        <dsp:cNvSpPr/>
      </dsp:nvSpPr>
      <dsp:spPr>
        <a:xfrm>
          <a:off x="0" y="3674344"/>
          <a:ext cx="3943350" cy="1406924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Franklin Gothic Medium" panose="020B0603020102020204" pitchFamily="34" charset="0"/>
            </a:rPr>
            <a:t>Inhibitors: e.g., humic acids, bile salts, polysaccharides</a:t>
          </a:r>
        </a:p>
      </dsp:txBody>
      <dsp:txXfrm>
        <a:off x="68680" y="3743024"/>
        <a:ext cx="3805990" cy="12695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05F51-D79C-1749-97BB-078DA9CCE043}">
      <dsp:nvSpPr>
        <dsp:cNvPr id="0" name=""/>
        <dsp:cNvSpPr/>
      </dsp:nvSpPr>
      <dsp:spPr>
        <a:xfrm>
          <a:off x="1554" y="195556"/>
          <a:ext cx="2799457" cy="111978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0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Franklin Gothic Medium" panose="020B0603020102020204" pitchFamily="34" charset="0"/>
            </a:rPr>
            <a:t>What</a:t>
          </a:r>
        </a:p>
      </dsp:txBody>
      <dsp:txXfrm>
        <a:off x="561445" y="195556"/>
        <a:ext cx="1679675" cy="1119782"/>
      </dsp:txXfrm>
    </dsp:sp>
    <dsp:sp modelId="{0733E9D5-9B2C-5941-A011-64108981AE49}">
      <dsp:nvSpPr>
        <dsp:cNvPr id="0" name=""/>
        <dsp:cNvSpPr/>
      </dsp:nvSpPr>
      <dsp:spPr>
        <a:xfrm>
          <a:off x="2437082" y="290737"/>
          <a:ext cx="5105163" cy="929419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Franklin Gothic Medium" panose="020B0603020102020204" pitchFamily="34" charset="0"/>
            </a:rPr>
            <a:t>Process of preparing DNA for NGS</a:t>
          </a:r>
        </a:p>
      </dsp:txBody>
      <dsp:txXfrm>
        <a:off x="2901792" y="290737"/>
        <a:ext cx="4175744" cy="929419"/>
      </dsp:txXfrm>
    </dsp:sp>
    <dsp:sp modelId="{A793C0FD-5BAC-684E-93D6-EFEE074792F0}">
      <dsp:nvSpPr>
        <dsp:cNvPr id="0" name=""/>
        <dsp:cNvSpPr/>
      </dsp:nvSpPr>
      <dsp:spPr>
        <a:xfrm>
          <a:off x="1554" y="1472108"/>
          <a:ext cx="2799457" cy="1119782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0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Franklin Gothic Medium" panose="020B0603020102020204" pitchFamily="34" charset="0"/>
            </a:rPr>
            <a:t>Why</a:t>
          </a:r>
        </a:p>
      </dsp:txBody>
      <dsp:txXfrm>
        <a:off x="561445" y="1472108"/>
        <a:ext cx="1679675" cy="1119782"/>
      </dsp:txXfrm>
    </dsp:sp>
    <dsp:sp modelId="{DB77559B-5B4F-CD42-A8DC-C9A7CD8D981E}">
      <dsp:nvSpPr>
        <dsp:cNvPr id="0" name=""/>
        <dsp:cNvSpPr/>
      </dsp:nvSpPr>
      <dsp:spPr>
        <a:xfrm>
          <a:off x="2437082" y="1567290"/>
          <a:ext cx="4989357" cy="929419"/>
        </a:xfrm>
        <a:prstGeom prst="chevron">
          <a:avLst/>
        </a:prstGeom>
        <a:solidFill>
          <a:schemeClr val="accent3">
            <a:tint val="40000"/>
            <a:alpha val="90000"/>
            <a:hueOff val="5358425"/>
            <a:satOff val="-6896"/>
            <a:lumOff val="-537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5358425"/>
              <a:satOff val="-6896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Franklin Gothic Medium" panose="020B0603020102020204" pitchFamily="34" charset="0"/>
            </a:rPr>
            <a:t>Required for sequence platforms</a:t>
          </a:r>
        </a:p>
      </dsp:txBody>
      <dsp:txXfrm>
        <a:off x="2901792" y="1567290"/>
        <a:ext cx="4059938" cy="929419"/>
      </dsp:txXfrm>
    </dsp:sp>
    <dsp:sp modelId="{F1EEDE7F-127D-0249-8410-4A8D1EFC2848}">
      <dsp:nvSpPr>
        <dsp:cNvPr id="0" name=""/>
        <dsp:cNvSpPr/>
      </dsp:nvSpPr>
      <dsp:spPr>
        <a:xfrm>
          <a:off x="1554" y="2748660"/>
          <a:ext cx="2799457" cy="1119782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0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Franklin Gothic Medium" panose="020B0603020102020204" pitchFamily="34" charset="0"/>
            </a:rPr>
            <a:t>How</a:t>
          </a:r>
        </a:p>
      </dsp:txBody>
      <dsp:txXfrm>
        <a:off x="561445" y="2748660"/>
        <a:ext cx="1679675" cy="1119782"/>
      </dsp:txXfrm>
    </dsp:sp>
    <dsp:sp modelId="{4DFEDD69-AA18-0C4C-AAC7-86F6E3B1CEE5}">
      <dsp:nvSpPr>
        <dsp:cNvPr id="0" name=""/>
        <dsp:cNvSpPr/>
      </dsp:nvSpPr>
      <dsp:spPr>
        <a:xfrm>
          <a:off x="2437082" y="2843842"/>
          <a:ext cx="5077048" cy="929419"/>
        </a:xfrm>
        <a:prstGeom prst="chevron">
          <a:avLst/>
        </a:prstGeom>
        <a:solidFill>
          <a:schemeClr val="accent3">
            <a:tint val="40000"/>
            <a:alpha val="90000"/>
            <a:hueOff val="10716850"/>
            <a:satOff val="-13793"/>
            <a:lumOff val="-1075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10716850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0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Franklin Gothic Medium" panose="020B0603020102020204" pitchFamily="34" charset="0"/>
            </a:rPr>
            <a:t>Two Approaches: PCR-based and Shotgun</a:t>
          </a:r>
        </a:p>
      </dsp:txBody>
      <dsp:txXfrm>
        <a:off x="2901792" y="2843842"/>
        <a:ext cx="4147629" cy="929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FDA40-F8FD-444E-8BB8-4BE3869752F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CE775-2B40-E244-84AA-8163E2A94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30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Briefly acknowledge previous sessions (Sampling, Controls/Contamination).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learned how to carefully collect samples and manage potential contamination – vital first steps!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Today's Focus: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Bridge the gap from collected sample to data analysis.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we'll dive into how we get the actual genetic material from your samples and prepare it for the sequencing machines.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 matters: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Emphasize that these steps are crucial for accurate and unbiased downstream analysis.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quality of your DNA and how you prepare it directly impacts the reliability of your microbiome insights.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7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Diverse microbial cell structures require varied lysis strategies</a:t>
            </a:r>
          </a:p>
          <a:p>
            <a:r>
              <a:rPr lang="en-US" dirty="0"/>
              <a:t>Low biomass samples pose yield challenges</a:t>
            </a:r>
          </a:p>
          <a:p>
            <a:r>
              <a:rPr lang="en-US" dirty="0"/>
              <a:t>Host contamination can overwhelm microbial signals</a:t>
            </a:r>
          </a:p>
          <a:p>
            <a:r>
              <a:rPr lang="en-US" dirty="0"/>
              <a:t>Inhibitors interfere with downstream reactions</a:t>
            </a:r>
          </a:p>
          <a:p>
            <a:endParaRPr lang="en-US" dirty="0"/>
          </a:p>
          <a:p>
            <a:r>
              <a:rPr lang="en-US" b="1" dirty="0"/>
              <a:t>Why it's challenging:</a:t>
            </a:r>
            <a:endParaRPr lang="en-US" dirty="0"/>
          </a:p>
          <a:p>
            <a:r>
              <a:rPr lang="en-US" b="1" dirty="0"/>
              <a:t>Diverse Microbial Cell Structures:</a:t>
            </a:r>
            <a:r>
              <a:rPr lang="en-US" dirty="0"/>
              <a:t> Different microorganisms have unique cell wall/membrane compositions that require varied lysis strategies.</a:t>
            </a:r>
          </a:p>
          <a:p>
            <a:pPr lvl="1"/>
            <a:r>
              <a:rPr lang="en-US" b="1" dirty="0"/>
              <a:t>Bacteria:</a:t>
            </a:r>
            <a:r>
              <a:rPr lang="en-US" dirty="0"/>
              <a:t> Gram-positive (thick peptidoglycan) vs. Gram-negative (outer membrane).</a:t>
            </a:r>
          </a:p>
          <a:p>
            <a:pPr lvl="1"/>
            <a:r>
              <a:rPr lang="en-US" b="1" dirty="0"/>
              <a:t>Fungi:</a:t>
            </a:r>
            <a:r>
              <a:rPr lang="en-US" dirty="0"/>
              <a:t> Chitin-rich cell walls, often requiring specific enzymatic or more vigorous mechanical lysis.</a:t>
            </a:r>
          </a:p>
          <a:p>
            <a:pPr lvl="1"/>
            <a:r>
              <a:rPr lang="en-US" b="1" dirty="0"/>
              <a:t>Archaea:</a:t>
            </a:r>
            <a:r>
              <a:rPr lang="en-US" dirty="0"/>
              <a:t> Pseudopeptidoglycan or S-layer proteins, can be tough to lyse.</a:t>
            </a:r>
          </a:p>
          <a:p>
            <a:pPr lvl="1"/>
            <a:r>
              <a:rPr lang="en-US" b="1" dirty="0"/>
              <a:t>Viruses:</a:t>
            </a:r>
            <a:r>
              <a:rPr lang="en-US" dirty="0"/>
              <a:t> No cell wall, but often require specific methods to release genetic material from capsids.</a:t>
            </a:r>
          </a:p>
          <a:p>
            <a:r>
              <a:rPr lang="en-US" b="1" dirty="0"/>
              <a:t>Low Biomass Samples:</a:t>
            </a:r>
            <a:r>
              <a:rPr lang="en-US" dirty="0"/>
              <a:t> Skin swabs, air samples, environmental filters, where microbial DNA is scarce.</a:t>
            </a:r>
          </a:p>
          <a:p>
            <a:r>
              <a:rPr lang="en-US" b="1" dirty="0"/>
              <a:t>Host Contamination:</a:t>
            </a:r>
            <a:r>
              <a:rPr lang="en-US" dirty="0"/>
              <a:t> Human/animal DNA in clinical samples (gut, skin, oral cavity) can overwhelm microbial signals.</a:t>
            </a:r>
          </a:p>
          <a:p>
            <a:r>
              <a:rPr lang="en-US" b="1" dirty="0"/>
              <a:t>Inhibitors:</a:t>
            </a:r>
            <a:r>
              <a:rPr lang="en-US" dirty="0"/>
              <a:t> Substances inherent to samples (e.g., humic acids in soil, heme in blood, bile salts in gut, polysaccharides in plants) that can interfere with downstream enzymatic reactions (PCR, sequencing).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3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Sample Type: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Dictates the method.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Feces, soil, water, tissue, swabs – each has unique challenges.</a:t>
            </a:r>
          </a:p>
          <a:p>
            <a:endParaRPr lang="en-US" dirty="0"/>
          </a:p>
          <a:p>
            <a:r>
              <a:rPr lang="en-US" dirty="0"/>
              <a:t>Sample Volume and Amount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41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4C7B-24E6-6488-F838-5DC71C34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9B9BB-482E-1AC6-FF61-D8E7B7A97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39EF5-F671-A9B6-65C3-4ECD792FB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Sample Type: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Dictates the method.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Feces, soil, water, tissue, swabs – each has unique challenges.</a:t>
            </a:r>
          </a:p>
          <a:p>
            <a:endParaRPr lang="en-US" dirty="0"/>
          </a:p>
          <a:p>
            <a:r>
              <a:rPr lang="en-US" dirty="0"/>
              <a:t>Sample Volume and Amount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D1F02-2871-A292-D9E9-47EE03D1D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Cell Lysis Method: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do you break open the cells?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Mechanical Lysis: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Bead-beating (most common, robust for tough cells like Gram-positives, fungi, archaea).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Considerations: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Bead size, beating time/speed (can shear DNA).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Enzymatic Lysis: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Lysozyme,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mutanolysin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(target bacterial cell walls); chitinases,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glucanases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(target fungal cell walls).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Chemical Lysis: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Detergents (SDS), chaotropic salts.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a combination is used for broad-spectrum lysis to ensure all microbial types are represented.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44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DNA Purification: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Separating DNA from cellular debris and inhibitors. (proteins, contaminants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Column-based methods: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Silica columns (bind DNA, wash away impurities).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Magnetic bead-based methods: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AMPure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beads) for purification and size selection.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Phenol-chloroform extraction: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Traditional, but hazardous and less common now.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96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CE7C-FCC2-7CB8-4216-2A173179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5B2A4-B381-B2CD-81E2-BD739A93D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865FF-F9C5-5D9F-82DF-28514B21C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DNA Purification: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Separating DNA from cellular debris and inhibitors.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Column-based methods: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Silica columns (bind DNA, wash away impurities).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Magnetic bead-based methods: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AMPure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beads) for purification and size selection.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Phenol-chloroform extraction: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Traditional, but hazardous and less common now.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825E2-34B2-9ECA-A035-77600DA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82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Host DNA Removal (if applicable):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Differential lysis, selective binding (e.g., NEBNext Microbiome DNA Enrichment Kit for methylated host DNA).</a:t>
            </a: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 Contamination: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overwhelm microbial reads in shotgun metagenomics.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Mitigation: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 DNA depletion methods.</a:t>
            </a: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81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Commercial Kits: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common approach for reproducibility and ease of use.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Qiagen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DNeasy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PowerSoil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PowerLyzer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ZymoBIOMICS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DNA Mini Kit.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kits?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Standardized protocols, optimized reagents, often include bead-beating.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In-house protocols: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customized but require rigorous validation.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Practice: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Choose a method validated for your specific sample type and microbial community.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 single 'best' method – it's about what works for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samples and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research question."</a:t>
            </a:r>
          </a:p>
          <a:p>
            <a:endParaRPr lang="en-US" b="1" dirty="0"/>
          </a:p>
          <a:p>
            <a:endParaRPr lang="en-US" b="1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DNA Yield: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Inefficient lysis, poor purification, low biomass.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DNA Purity: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Contaminants inhibiting PCR/sequencing.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Degraded DNA: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Improper storage, harsh extraction.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67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QC?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Ensure DNA is suitable for library prep and sequencing. "Garbage in, garbage out!"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Metrics: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much DNA do you have? (e.g., Qubit fluorometer, NanoDrop spectrophotometer).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on NanoDrop: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affected by contaminants.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DNA free from proteins, RNA, and other contaminants? (e.g., NanoDrop A260/280 and A260/230 ratios).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ratios: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A260/280 ≈1.8−2.0, A260/230 ≈2.0−2.2.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Integrity/Size: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DNA intact or degraded? (e.g., Agarose gel electrophoresis, Bioanalyzer/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TapeStation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molecular weight DNA for shotgun, specific size for amplicon.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09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F3B48-A760-8685-2782-D5F75799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4A0F8-DE02-1065-F1CE-0EF40B23A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94CA1-9300-10F7-5FD4-E688FA8C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QC?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Ensure DNA is suitable for library prep and sequencing. "Garbage in, garbage out!"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Metrics: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much DNA do you have? (e.g., Qubit fluorometer, NanoDrop spectrophotometer). Or qPCR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on NanoDrop: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affected by contaminants.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8D1F0-35DB-5488-046C-8286970C0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80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9E18-848D-D7BC-55A5-EEF39B79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C6636-5631-7556-3D56-A87C5E60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FB4B3-ECC1-B5BD-5556-8094502FF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QC?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Ensure DNA is suitable for library prep and sequencing. "Garbage in, garbage out!"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Metrics: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much DNA do you have? (e.g., Qubit fluorometer, NanoDrop spectrophotometer).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on NanoDrop: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affected by contaminants.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DNA free from proteins, RNA, and other contaminants? (e.g., NanoDrop A260/280 and A260/230 ratios).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ratios: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A260/280 ≈1.8−2.0, A260/230 ≈2.0−2.2.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Integrity/Size: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DNA intact or degraded? (e.g., Agarose gel electrophoresis, Bioanalyzer/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TapeStation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molecular weight DNA for shotgun, specific size for amplicon.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3C716-140F-B4A8-3CF1-4376BBFCF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1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F515-A4AF-A832-B481-A6F571D0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125F5-812C-4880-4E34-FCB39E00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301DE-1384-8170-0D68-6E5F14101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QC?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Ensure DNA is suitable for library prep and sequencing. "Garbage in, garbage out!"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Metrics: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much DNA do you have? (e.g., Qubit fluorometer, NanoDrop spectrophotometer).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on NanoDrop: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affected by contaminants.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DNA free from proteins, RNA, and other contaminants? (e.g., NanoDrop A260/280 and A260/230 ratios).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ratios: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A260/280 ≈1.8−2.0, A260/230 ≈2.0−2.2.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Integrity/Size: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DNA intact or degraded? (e.g., Agarose gel electrophoresis, Bioanalyzer/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TapeStation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endParaRPr lang="en-US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molecular weight DNA for shotgun, specific size for amplicon.</a:t>
            </a: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my experience for amplicon data – look at gels post PCR and might run a few samples on nano drop to confirm Quantity and quality….</a:t>
            </a: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8FBB-E691-C667-9B4A-1482387E1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51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539A-2973-B2F6-2E18-70C57784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7B8E3-156F-CDEE-8795-C02372109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0A588-911F-498D-9014-CA7BBD50F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type of microbe are you extracting (bacteria? archaea? fungi?)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harsh/gentile should you be considering your sample type?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 bacterial biomass are you expecting?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you anticipate PCR inhibitors from your sample type?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high throughput do you need to be?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will your storage conditions be after extraction?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controls should you consider, both positive and negative?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you cost-limited (*we all are!)?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9FEAE-5BE9-CEA4-9F9B-F38BA8F18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003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Adapters enable flow cell binding and primer annealing</a:t>
            </a:r>
          </a:p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a "Library"?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collection of DNA fragments with specific adapters ligated to their ends.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we need it?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Sequencing platforms require DNA in a very specific format.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Adapters are crucial for binding to the flow cell, primer annealing, and sequencing.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Main Approaches for Microbiome Sequencing: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Targeted Amplicon Sequencing (e.g., 16S rRNA gene, ITS):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Focuses on specific marker genes for taxonomic profiling.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Shotgun Metagenomic Sequencing: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Sequences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DNA in the sample for comprehensive taxonomic and functional insights.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07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81351-58B8-D1EE-D98A-B884D03F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239CF-A4F1-6ACA-4B62-375CAEF4A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1B35C-1619-DF74-F52F-03F3B479F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9C2B9-E5E0-622C-60E4-B672956F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72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E7CC-5AF2-FCD6-52DD-88B08DC9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3F403-AC82-C1D8-EE19-91C58A616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8B3DE-C7B8-B5F6-0A8B-D0F50B268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 key elements or steps of Library prep and the order and nature depend on the type of sequencing and researcher preference.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9B2-64BA-4B2C-1EFC-16C7A12CE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914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Amplify a specific hypervariable region of a marker gene (e.g., V3-V4 region of 16S rRNA gene).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PCR Amplification: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universal primers that flank the target region.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 Choice: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V1-V2, V3-V4, V4, V4-V5, etc. (impacts taxonomic resolution).</a:t>
            </a:r>
          </a:p>
          <a:p>
            <a:pPr lvl="2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PCR Cycles: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Optimize to avoid chimeras (artifacts) and ensure sufficient product.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Adding Adapters &amp; Barcodes/Indexes: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Two-step PCR: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3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1st PCR: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Amplifies target region with partial adapters.</a:t>
            </a:r>
          </a:p>
          <a:p>
            <a:pPr lvl="3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2nd PCR: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full sequencing adapters and unique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barcodes/indexes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(short DNA sequences) to each sample.</a:t>
            </a:r>
          </a:p>
          <a:p>
            <a:pPr lvl="4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Multiplexing: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Allows pooling many samples into one sequencing run.</a:t>
            </a:r>
          </a:p>
          <a:p>
            <a:pPr lvl="2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PCR Amplification: Target hypervariable region (e.g., 16S V3-V4)</a:t>
            </a:r>
          </a:p>
          <a:p>
            <a:r>
              <a:rPr lang="en-US" dirty="0"/>
              <a:t>Primer Choice affects taxonomic resolution</a:t>
            </a:r>
          </a:p>
          <a:p>
            <a:r>
              <a:rPr lang="en-US" dirty="0"/>
              <a:t>Two-step PCR: 1st = target; 2nd = adapters &amp; indexes</a:t>
            </a:r>
          </a:p>
          <a:p>
            <a:r>
              <a:rPr lang="en-US" dirty="0"/>
              <a:t>Multiplexing: Unique barcodes for pooling samples</a:t>
            </a:r>
          </a:p>
          <a:p>
            <a:r>
              <a:rPr lang="en-US" dirty="0"/>
              <a:t>QC: Qubit, Bioanalyzer/</a:t>
            </a:r>
            <a:r>
              <a:rPr lang="en-US" dirty="0" err="1"/>
              <a:t>TapeStation</a:t>
            </a:r>
            <a:r>
              <a:rPr lang="en-US" dirty="0"/>
              <a:t> (no primer dimers)</a:t>
            </a:r>
          </a:p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PCR Bias (Amplicon):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Preferential amplification of certain templates, leading to skewed community profiles.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Mitigation: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Optimize PCR conditions, use high-fidelity polymerases, limit cycles.</a:t>
            </a:r>
          </a:p>
          <a:p>
            <a:endParaRPr lang="en-US" dirty="0"/>
          </a:p>
          <a:p>
            <a:pPr lvl="2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DNA in the sample for sequencing.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DNA Fragmentation: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Break DNA into desired size range (e.g., 300-600 bp for Illumina).</a:t>
            </a: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3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Mechanical Shearing: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Sonication (Covaris focused-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ultrasonicator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less bias.</a:t>
            </a:r>
          </a:p>
          <a:p>
            <a:pPr lvl="3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Enzymatic Fragmentation: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Transposase-based (e.g., Illumina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faster, lower input.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Tagmentation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Adapter Ligation: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Ligate adapters (containing sequencing primer sites, binding sites for flow cell,) to both ends of the fragmented DNA.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Low cycle PCR to add indexes/barcodes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Minimize cycles to reduce bias.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Fragmentation: Mechanical (sonication) or enzymatic</a:t>
            </a:r>
          </a:p>
          <a:p>
            <a:r>
              <a:rPr lang="en-US" dirty="0"/>
              <a:t>End Repair &amp; A-tailing, Adapter Ligation</a:t>
            </a:r>
          </a:p>
          <a:p>
            <a:r>
              <a:rPr lang="en-US" dirty="0"/>
              <a:t>Optional PCR for low input</a:t>
            </a:r>
          </a:p>
          <a:p>
            <a:r>
              <a:rPr lang="en-US" dirty="0"/>
              <a:t>Purification &amp; Size Selection: Remove dimers, optimize size</a:t>
            </a:r>
          </a:p>
          <a:p>
            <a:r>
              <a:rPr lang="en-US" dirty="0"/>
              <a:t>QC: Qubit, Bioanalyzer (no adapter dimers)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76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AF9E0-7627-FBFB-E727-E07EDA3C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F40EC-3E48-9B51-ECCD-28BAB402A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EC14D-7498-D42D-C222-5FD9A3BDE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Purification &amp; Size Selection: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Remove excess primers, short fragments (primer dimers), and large fragments.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AMPure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beads).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Final Library QC: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Qubit.</a:t>
            </a: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 Distribution: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Bioanalyzer/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TapeStation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(expected peak size for amplicon).</a:t>
            </a: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Primer Dimers: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Crucial for clean data.</a:t>
            </a:r>
          </a:p>
          <a:p>
            <a:pPr lvl="2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Purification &amp; Size Selection: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unligated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adapters and select desired fragment sizes (e.g.,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AMPure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beads).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Final Library QC: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Qubit.</a:t>
            </a: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 Distribution: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Bioanalyzer/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TapeStation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(broad peak around target size).</a:t>
            </a:r>
          </a:p>
          <a:p>
            <a:pPr lvl="2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Adapter Dimers: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Critical for efficient sequencing.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Unligated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adapters ligating to each other, consuming sequencing reads.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Mitigation: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Efficient purification/size selection.</a:t>
            </a:r>
          </a:p>
          <a:p>
            <a:pPr lv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now got your sequence-ready libraries!"</a:t>
            </a:r>
            <a:r>
              <a:rPr lang="en-US" dirty="0">
                <a:effectLst/>
              </a:rPr>
              <a:t>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happens next? Sequencing on platforms like Illumina, then bioinformatics analysis."</a:t>
            </a:r>
            <a:r>
              <a:rPr lang="en-US" dirty="0">
                <a:effectLst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A74F-EFB5-B0B6-413F-78E44495B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84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DNA Extraction: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Critical first step. Method choice depends on sample type and desired output. Aim for high yield, purity, and integrity.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 Preparation: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Converts DNA into a sequence-ready format. Different strategies for amplicon vs. shotgun.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Control: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Essential at every step to ensure reliable and unbiased sequencing data.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 Awareness: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aware that both steps can introduce biases; understanding these is key to interpreting your results.</a:t>
            </a:r>
          </a:p>
          <a:p>
            <a:endParaRPr lang="en-US" dirty="0"/>
          </a:p>
          <a:p>
            <a:r>
              <a:rPr lang="en-US" dirty="0">
                <a:latin typeface="Franklin Gothic Medium" panose="020B0603020102020204" pitchFamily="34" charset="0"/>
              </a:rPr>
              <a:t>Sample-specific strategies for DNA extraction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Appropriate lysis is </a:t>
            </a:r>
            <a:r>
              <a:rPr lang="en-US" u="sng" dirty="0">
                <a:latin typeface="Franklin Gothic Medium" panose="020B0603020102020204" pitchFamily="34" charset="0"/>
              </a:rPr>
              <a:t>key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Library prep allows for sequencing &amp; multiplexing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QC is </a:t>
            </a:r>
            <a:r>
              <a:rPr lang="en-US" u="sng" dirty="0">
                <a:latin typeface="Franklin Gothic Medium" panose="020B0603020102020204" pitchFamily="34" charset="0"/>
              </a:rPr>
              <a:t>critical </a:t>
            </a:r>
            <a:r>
              <a:rPr lang="en-US" dirty="0">
                <a:latin typeface="Franklin Gothic Medium" panose="020B0603020102020204" pitchFamily="34" charset="0"/>
              </a:rPr>
              <a:t>for success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Know your biases because affects interpretation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96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Wrap-up: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Briefly discuss group answers, highlighting the decision-making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CE775-2B40-E244-84AA-8163E2A94B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3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iagen.com/es-us/applications/automated-sample-preparation/qiamini-overview/qiamini-2026#apply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DNA Works | HowStuffWorks">
            <a:extLst>
              <a:ext uri="{FF2B5EF4-FFF2-40B4-BE49-F238E27FC236}">
                <a16:creationId xmlns:a16="http://schemas.microsoft.com/office/drawing/2014/main" id="{478366A0-4906-00DC-C50F-BCADD86CA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0" r="9310"/>
          <a:stretch>
            <a:fillRect/>
          </a:stretch>
        </p:blipFill>
        <p:spPr bwMode="auto">
          <a:xfrm>
            <a:off x="-2286" y="10"/>
            <a:ext cx="9143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570" y="151459"/>
            <a:ext cx="6182086" cy="20561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45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DNA Extraction &amp; Library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7913" y="557529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25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Microbiome Kickstart Workshop </a:t>
            </a:r>
            <a:br>
              <a:rPr lang="en-US" sz="2500" dirty="0">
                <a:solidFill>
                  <a:srgbClr val="FFFFFF"/>
                </a:solidFill>
                <a:latin typeface="Franklin Gothic Medium" panose="020B0603020102020204" pitchFamily="34" charset="0"/>
              </a:rPr>
            </a:br>
            <a:r>
              <a:rPr lang="en-US" sz="25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August 5</a:t>
            </a:r>
            <a:r>
              <a:rPr lang="en-US" sz="2500" baseline="300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th </a:t>
            </a:r>
            <a:r>
              <a:rPr lang="en-US" sz="25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2026</a:t>
            </a:r>
            <a:br>
              <a:rPr lang="en-US" sz="2500" dirty="0">
                <a:solidFill>
                  <a:srgbClr val="FFFFFF"/>
                </a:solidFill>
                <a:latin typeface="Franklin Gothic Medium" panose="020B0603020102020204" pitchFamily="34" charset="0"/>
              </a:rPr>
            </a:br>
            <a:r>
              <a:rPr lang="en-US" sz="25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Molly Bletz, Dept of Ecosystem Science &amp;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7FEF7-7E7C-00E4-4FB6-C85BA807E186}"/>
              </a:ext>
            </a:extLst>
          </p:cNvPr>
          <p:cNvSpPr txBox="1"/>
          <p:nvPr/>
        </p:nvSpPr>
        <p:spPr>
          <a:xfrm>
            <a:off x="-58875" y="6581228"/>
            <a:ext cx="1801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</a:t>
            </a:r>
            <a:r>
              <a:rPr lang="en-US" sz="1400" dirty="0" err="1"/>
              <a:t>howstuffworks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label with black text&#10;&#10;AI-generated content may be incorrect.">
            <a:extLst>
              <a:ext uri="{FF2B5EF4-FFF2-40B4-BE49-F238E27FC236}">
                <a16:creationId xmlns:a16="http://schemas.microsoft.com/office/drawing/2014/main" id="{9DD38FB5-10DB-0386-78BA-4873FAF3F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5168"/>
            <a:ext cx="9033881" cy="13268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Roadmap</a:t>
            </a:r>
            <a:endParaRPr dirty="0">
              <a:latin typeface="Franklin Gothic Medium" panose="020B0603020102020204" pitchFamily="34" charset="0"/>
            </a:endParaRPr>
          </a:p>
        </p:txBody>
      </p:sp>
      <p:pic>
        <p:nvPicPr>
          <p:cNvPr id="5" name="Picture 4" descr="A yellow and black sign&#10;&#10;AI-generated content may be incorrect.">
            <a:extLst>
              <a:ext uri="{FF2B5EF4-FFF2-40B4-BE49-F238E27FC236}">
                <a16:creationId xmlns:a16="http://schemas.microsoft.com/office/drawing/2014/main" id="{41827722-5AD3-4382-53A6-282C3E98E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55168"/>
            <a:ext cx="9033881" cy="1326815"/>
          </a:xfrm>
          <a:prstGeom prst="rect">
            <a:avLst/>
          </a:prstGeom>
        </p:spPr>
      </p:pic>
      <p:pic>
        <p:nvPicPr>
          <p:cNvPr id="11" name="Graphic 10" descr="Road with solid fill">
            <a:extLst>
              <a:ext uri="{FF2B5EF4-FFF2-40B4-BE49-F238E27FC236}">
                <a16:creationId xmlns:a16="http://schemas.microsoft.com/office/drawing/2014/main" id="{A5D744A6-B113-9BDB-9044-0BE1614BE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9488" y="437079"/>
            <a:ext cx="914400" cy="91440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CB9A038-F60D-8989-8C83-ADE6DC38B576}"/>
              </a:ext>
            </a:extLst>
          </p:cNvPr>
          <p:cNvSpPr/>
          <p:nvPr/>
        </p:nvSpPr>
        <p:spPr>
          <a:xfrm>
            <a:off x="2115663" y="4453716"/>
            <a:ext cx="4912673" cy="988722"/>
          </a:xfrm>
          <a:prstGeom prst="roundRect">
            <a:avLst/>
          </a:prstGeom>
          <a:solidFill>
            <a:srgbClr val="CE9A28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500" b="1" dirty="0">
                <a:latin typeface="Franklin Gothic Medium" panose="020B0603020102020204" pitchFamily="34" charset="0"/>
              </a:rPr>
              <a:t>Why it matters: </a:t>
            </a:r>
            <a:r>
              <a:rPr lang="en-US" sz="2500" dirty="0">
                <a:latin typeface="Franklin Gothic Medium" panose="020B0603020102020204" pitchFamily="34" charset="0"/>
              </a:rPr>
              <a:t>DNA quality &amp; prep impacts microbiome insights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BCBCB2-D499-DF37-D945-01FAB35AD3C5}"/>
              </a:ext>
            </a:extLst>
          </p:cNvPr>
          <p:cNvSpPr txBox="1"/>
          <p:nvPr/>
        </p:nvSpPr>
        <p:spPr>
          <a:xfrm>
            <a:off x="-58875" y="6581228"/>
            <a:ext cx="1445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Biorender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310" y="1905000"/>
            <a:ext cx="34026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5427"/>
            <a:ext cx="2800350" cy="4024310"/>
          </a:xfrm>
        </p:spPr>
        <p:txBody>
          <a:bodyPr>
            <a:normAutofit/>
          </a:bodyPr>
          <a:lstStyle/>
          <a:p>
            <a:r>
              <a:rPr dirty="0">
                <a:latin typeface="Franklin Gothic Medium" panose="020B0603020102020204" pitchFamily="34" charset="0"/>
              </a:rPr>
              <a:t>The DNA Extraction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D2C1F1-4BAF-321D-FD36-8F5602E6B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988434"/>
              </p:ext>
            </p:extLst>
          </p:nvPr>
        </p:nvGraphicFramePr>
        <p:xfrm>
          <a:off x="4572000" y="609600"/>
          <a:ext cx="3943350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24AFC6D-97CD-36E7-8A41-E60BE7BDD6AC}"/>
              </a:ext>
            </a:extLst>
          </p:cNvPr>
          <p:cNvSpPr txBox="1"/>
          <p:nvPr/>
        </p:nvSpPr>
        <p:spPr>
          <a:xfrm>
            <a:off x="640345" y="5046047"/>
            <a:ext cx="2886565" cy="1339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b="1" kern="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1800" kern="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Obtain high-quality, representative DNA from </a:t>
            </a:r>
            <a:r>
              <a:rPr lang="en-US" sz="1800" i="1" kern="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800" kern="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microbes in your sample.</a:t>
            </a:r>
            <a:endParaRPr lang="en-US" sz="18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096" y="274638"/>
            <a:ext cx="8094372" cy="1143000"/>
          </a:xfrm>
        </p:spPr>
        <p:txBody>
          <a:bodyPr>
            <a:normAutofit/>
          </a:bodyPr>
          <a:lstStyle/>
          <a:p>
            <a:r>
              <a:rPr sz="3800" dirty="0">
                <a:latin typeface="Franklin Gothic Medium" panose="020B0603020102020204" pitchFamily="34" charset="0"/>
              </a:rPr>
              <a:t>Key Considerations for DNA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4965192" cy="4708525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b="1" dirty="0"/>
              <a:t>Sample Type</a:t>
            </a:r>
            <a:endParaRPr lang="en-US" dirty="0"/>
          </a:p>
          <a:p>
            <a:r>
              <a:rPr lang="en-US" b="1" dirty="0"/>
              <a:t>Cell Lysis</a:t>
            </a:r>
            <a:endParaRPr lang="en-US" dirty="0"/>
          </a:p>
          <a:p>
            <a:r>
              <a:rPr lang="en-US" b="1" dirty="0"/>
              <a:t>DNA Purification/Elution </a:t>
            </a:r>
          </a:p>
          <a:p>
            <a:r>
              <a:rPr lang="en-US" b="1" dirty="0"/>
              <a:t>Host DNA Removal </a:t>
            </a:r>
            <a:r>
              <a:rPr lang="en-US" dirty="0"/>
              <a:t>(sometimes important)</a:t>
            </a:r>
          </a:p>
          <a:p>
            <a:r>
              <a:rPr lang="en-US" b="1" dirty="0"/>
              <a:t>Controls</a:t>
            </a:r>
          </a:p>
          <a:p>
            <a:endParaRPr lang="en-US" dirty="0"/>
          </a:p>
        </p:txBody>
      </p:sp>
      <p:pic>
        <p:nvPicPr>
          <p:cNvPr id="11" name="Graphic 10" descr="Old Key with solid fill">
            <a:extLst>
              <a:ext uri="{FF2B5EF4-FFF2-40B4-BE49-F238E27FC236}">
                <a16:creationId xmlns:a16="http://schemas.microsoft.com/office/drawing/2014/main" id="{8F7464E5-9DC7-2437-1F37-CC3365792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155147" flipV="1">
            <a:off x="120452" y="500942"/>
            <a:ext cx="1574866" cy="1574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33BE-AB6A-B92D-2CEB-D78D23410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962E-0039-6004-E87D-E80516BF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dirty="0">
                <a:latin typeface="Franklin Gothic Medium" panose="020B0603020102020204" pitchFamily="34" charset="0"/>
              </a:rPr>
              <a:t>Key Considerations for DNA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2107F-335E-F7F1-C84C-37A72FBC7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965192" cy="4708525"/>
          </a:xfrm>
        </p:spPr>
        <p:txBody>
          <a:bodyPr>
            <a:normAutofit fontScale="85000" lnSpcReduction="10000"/>
          </a:bodyPr>
          <a:lstStyle/>
          <a:p>
            <a:endParaRPr dirty="0">
              <a:latin typeface="Franklin Gothic Medium" panose="020B0603020102020204" pitchFamily="34" charset="0"/>
            </a:endParaRPr>
          </a:p>
          <a:p>
            <a:r>
              <a:rPr b="1" dirty="0">
                <a:latin typeface="Franklin Gothic Medium" panose="020B0603020102020204" pitchFamily="34" charset="0"/>
              </a:rPr>
              <a:t>Sample Type</a:t>
            </a:r>
            <a:r>
              <a:rPr dirty="0">
                <a:latin typeface="Franklin Gothic Medium" panose="020B0603020102020204" pitchFamily="34" charset="0"/>
              </a:rPr>
              <a:t>: Feces, soil, tissue, swabs</a:t>
            </a:r>
            <a:endParaRPr lang="en-US" dirty="0">
              <a:latin typeface="Franklin Gothic Medium" panose="020B06030201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Cell Lysis: </a:t>
            </a: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</a:rPr>
              <a:t>Mechanical (bead-beating), enzymatic, chemical</a:t>
            </a:r>
          </a:p>
          <a:p>
            <a:r>
              <a:rPr lang="en-US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DNA Purification: </a:t>
            </a: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</a:rPr>
              <a:t>Silica columns, magnetic beads, phenol-chloroform</a:t>
            </a:r>
          </a:p>
          <a:p>
            <a:r>
              <a:rPr lang="en-US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Host DNA Removal</a:t>
            </a:r>
            <a:r>
              <a:rPr lang="en-US" dirty="0">
                <a:solidFill>
                  <a:schemeClr val="bg1"/>
                </a:solidFill>
                <a:latin typeface="Franklin Gothic Medium" panose="020B0603020102020204" pitchFamily="34" charset="0"/>
              </a:rPr>
              <a:t>: Differential lysis, NEBNext kits</a:t>
            </a:r>
          </a:p>
        </p:txBody>
      </p:sp>
      <p:pic>
        <p:nvPicPr>
          <p:cNvPr id="5" name="Picture 4" descr="A group of objects on a white background&#10;&#10;AI-generated content may be incorrect.">
            <a:extLst>
              <a:ext uri="{FF2B5EF4-FFF2-40B4-BE49-F238E27FC236}">
                <a16:creationId xmlns:a16="http://schemas.microsoft.com/office/drawing/2014/main" id="{7D38FC38-DC41-9A71-016A-D5AE02425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302" y="1508760"/>
            <a:ext cx="3306288" cy="4617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C33988-674E-B066-A38F-C903023364E7}"/>
              </a:ext>
            </a:extLst>
          </p:cNvPr>
          <p:cNvSpPr txBox="1"/>
          <p:nvPr/>
        </p:nvSpPr>
        <p:spPr>
          <a:xfrm>
            <a:off x="-58875" y="6581228"/>
            <a:ext cx="1445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Biorender</a:t>
            </a:r>
          </a:p>
        </p:txBody>
      </p:sp>
    </p:spTree>
    <p:extLst>
      <p:ext uri="{BB962C8B-B14F-4D97-AF65-F5344CB8AC3E}">
        <p14:creationId xmlns:p14="http://schemas.microsoft.com/office/powerpoint/2010/main" val="391536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D29F-5762-EC7B-E490-E63A68404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4F3D-5367-63A3-98DD-6FC6D24C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dirty="0">
                <a:latin typeface="Franklin Gothic Medium" panose="020B0603020102020204" pitchFamily="34" charset="0"/>
              </a:rPr>
              <a:t>Key Considerations for DNA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C091B-887C-FB86-8AD9-2F40349E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965192" cy="4708525"/>
          </a:xfrm>
        </p:spPr>
        <p:txBody>
          <a:bodyPr>
            <a:normAutofit fontScale="85000" lnSpcReduction="10000"/>
          </a:bodyPr>
          <a:lstStyle/>
          <a:p>
            <a:endParaRPr dirty="0">
              <a:latin typeface="Franklin Gothic Medium" panose="020B0603020102020204" pitchFamily="34" charset="0"/>
            </a:endParaRPr>
          </a:p>
          <a:p>
            <a:r>
              <a:rPr b="1" dirty="0">
                <a:latin typeface="Franklin Gothic Medium" panose="020B0603020102020204" pitchFamily="34" charset="0"/>
              </a:rPr>
              <a:t>Sample Type</a:t>
            </a:r>
            <a:r>
              <a:rPr dirty="0">
                <a:latin typeface="Franklin Gothic Medium" panose="020B0603020102020204" pitchFamily="34" charset="0"/>
              </a:rPr>
              <a:t>: Feces, soil, tissue, swabs</a:t>
            </a:r>
          </a:p>
          <a:p>
            <a:r>
              <a:rPr b="1" dirty="0">
                <a:latin typeface="Franklin Gothic Medium" panose="020B0603020102020204" pitchFamily="34" charset="0"/>
              </a:rPr>
              <a:t>Cell Lysis: </a:t>
            </a:r>
            <a:r>
              <a:rPr dirty="0">
                <a:latin typeface="Franklin Gothic Medium" panose="020B0603020102020204" pitchFamily="34" charset="0"/>
              </a:rPr>
              <a:t>Mechanical (bead-beating), enzymatic, chemical</a:t>
            </a:r>
          </a:p>
          <a:p>
            <a:r>
              <a:rPr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DNA Purification: </a:t>
            </a:r>
            <a:r>
              <a:rPr dirty="0">
                <a:solidFill>
                  <a:schemeClr val="bg1"/>
                </a:solidFill>
                <a:latin typeface="Franklin Gothic Medium" panose="020B0603020102020204" pitchFamily="34" charset="0"/>
              </a:rPr>
              <a:t>Silica columns, magnetic beads, phenol-chloroform</a:t>
            </a:r>
          </a:p>
          <a:p>
            <a:r>
              <a:rPr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Host DNA Removal</a:t>
            </a:r>
            <a:r>
              <a:rPr dirty="0">
                <a:solidFill>
                  <a:schemeClr val="bg1"/>
                </a:solidFill>
                <a:latin typeface="Franklin Gothic Medium" panose="020B0603020102020204" pitchFamily="34" charset="0"/>
              </a:rPr>
              <a:t>: Differential lysis, NEBNext 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  <a:p>
            <a:r>
              <a:rPr lang="en-US" b="1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Negativ</a:t>
            </a:r>
            <a:endParaRPr dirty="0">
              <a:solidFill>
                <a:srgbClr val="FF0000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2052" name="Picture 4" descr="Thumbnail Image ">
            <a:extLst>
              <a:ext uri="{FF2B5EF4-FFF2-40B4-BE49-F238E27FC236}">
                <a16:creationId xmlns:a16="http://schemas.microsoft.com/office/drawing/2014/main" id="{FF58B68A-D908-C426-3688-6BFD63A7A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092" y="2112264"/>
            <a:ext cx="3694176" cy="246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3A0A27-6263-F359-11E4-AB05167F7982}"/>
              </a:ext>
            </a:extLst>
          </p:cNvPr>
          <p:cNvSpPr txBox="1"/>
          <p:nvPr/>
        </p:nvSpPr>
        <p:spPr>
          <a:xfrm>
            <a:off x="6253894" y="4826675"/>
            <a:ext cx="230063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anklin Gothic Medium" panose="020B0603020102020204" pitchFamily="34" charset="0"/>
              </a:rPr>
              <a:t>Things to ponder: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Franklin Gothic Medium" panose="020B0603020102020204" pitchFamily="34" charset="0"/>
              </a:rPr>
              <a:t>Aggressiveness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Franklin Gothic Medium" panose="020B0603020102020204" pitchFamily="34" charset="0"/>
              </a:rPr>
              <a:t>Duration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Franklin Gothic Medium" panose="020B0603020102020204" pitchFamily="34" charset="0"/>
              </a:rPr>
              <a:t>Amount of sample</a:t>
            </a:r>
          </a:p>
          <a:p>
            <a:pPr marL="285750" indent="-285750">
              <a:buFontTx/>
              <a:buChar char="-"/>
            </a:pPr>
            <a:endParaRPr lang="en-US" dirty="0">
              <a:latin typeface="Franklin Gothic Medium" panose="020B0603020102020204" pitchFamily="3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Franklin Gothic Medium" panose="020B0603020102020204" pitchFamily="34" charset="0"/>
            </a:endParaRPr>
          </a:p>
          <a:p>
            <a:endParaRPr lang="en-US" dirty="0">
              <a:latin typeface="Franklin Gothic Medium" panose="020B0603020102020204" pitchFamily="34" charset="0"/>
            </a:endParaRPr>
          </a:p>
          <a:p>
            <a:endParaRPr lang="en-US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16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9836-F61E-2C64-2BB6-E208E0F9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6935-B0C2-2B14-1E9A-9A499E6D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dirty="0">
                <a:latin typeface="Franklin Gothic Medium" panose="020B0603020102020204" pitchFamily="34" charset="0"/>
              </a:rPr>
              <a:t>Key Considerations for DNA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981B6-90F6-07A0-B16A-EB7B70DC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965192" cy="4708525"/>
          </a:xfrm>
        </p:spPr>
        <p:txBody>
          <a:bodyPr>
            <a:normAutofit fontScale="85000" lnSpcReduction="10000"/>
          </a:bodyPr>
          <a:lstStyle/>
          <a:p>
            <a:endParaRPr dirty="0">
              <a:latin typeface="Franklin Gothic Medium" panose="020B0603020102020204" pitchFamily="34" charset="0"/>
            </a:endParaRPr>
          </a:p>
          <a:p>
            <a:r>
              <a:rPr b="1" dirty="0">
                <a:latin typeface="Franklin Gothic Medium" panose="020B0603020102020204" pitchFamily="34" charset="0"/>
              </a:rPr>
              <a:t>Sample Type</a:t>
            </a:r>
            <a:r>
              <a:rPr dirty="0">
                <a:latin typeface="Franklin Gothic Medium" panose="020B0603020102020204" pitchFamily="34" charset="0"/>
              </a:rPr>
              <a:t>: Feces, soil, tissue, swabs</a:t>
            </a:r>
          </a:p>
          <a:p>
            <a:r>
              <a:rPr b="1" dirty="0">
                <a:latin typeface="Franklin Gothic Medium" panose="020B0603020102020204" pitchFamily="34" charset="0"/>
              </a:rPr>
              <a:t>Cell Lysis: </a:t>
            </a:r>
            <a:r>
              <a:rPr dirty="0">
                <a:latin typeface="Franklin Gothic Medium" panose="020B0603020102020204" pitchFamily="34" charset="0"/>
              </a:rPr>
              <a:t>Mechanical (bead-beating), enzymatic, chemical</a:t>
            </a:r>
          </a:p>
          <a:p>
            <a:r>
              <a:rPr b="1" dirty="0">
                <a:latin typeface="Franklin Gothic Medium" panose="020B0603020102020204" pitchFamily="34" charset="0"/>
              </a:rPr>
              <a:t>DNA Purification</a:t>
            </a:r>
            <a:r>
              <a:rPr lang="en-US" b="1" dirty="0">
                <a:latin typeface="Franklin Gothic Medium" panose="020B0603020102020204" pitchFamily="34" charset="0"/>
              </a:rPr>
              <a:t>/Elution</a:t>
            </a:r>
            <a:r>
              <a:rPr b="1" dirty="0">
                <a:latin typeface="Franklin Gothic Medium" panose="020B0603020102020204" pitchFamily="34" charset="0"/>
              </a:rPr>
              <a:t>: </a:t>
            </a:r>
            <a:r>
              <a:rPr dirty="0">
                <a:latin typeface="Franklin Gothic Medium" panose="020B0603020102020204" pitchFamily="34" charset="0"/>
              </a:rPr>
              <a:t>Silica columns, magnetic beads, phenol-chloroform</a:t>
            </a:r>
          </a:p>
          <a:p>
            <a:r>
              <a:rPr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Host DNA Removal</a:t>
            </a:r>
            <a:r>
              <a:rPr dirty="0">
                <a:solidFill>
                  <a:schemeClr val="bg1"/>
                </a:solidFill>
                <a:latin typeface="Franklin Gothic Medium" panose="020B0603020102020204" pitchFamily="34" charset="0"/>
              </a:rPr>
              <a:t>: Differential lysis, NEBNext k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4" name="Picture 3" descr="A test tube with different types of liquid&#10;&#10;AI-generated content may be incorrect.">
            <a:extLst>
              <a:ext uri="{FF2B5EF4-FFF2-40B4-BE49-F238E27FC236}">
                <a16:creationId xmlns:a16="http://schemas.microsoft.com/office/drawing/2014/main" id="{3DFADE0A-210B-F5D6-2429-F09DA0CC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264" y="1200519"/>
            <a:ext cx="3371536" cy="470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215CCE-BAE4-0831-F956-1C8433707E16}"/>
              </a:ext>
            </a:extLst>
          </p:cNvPr>
          <p:cNvSpPr txBox="1"/>
          <p:nvPr/>
        </p:nvSpPr>
        <p:spPr>
          <a:xfrm>
            <a:off x="4637194" y="5440362"/>
            <a:ext cx="135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Spin-column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95FD6-486A-DC60-FEED-313BF6249C4D}"/>
              </a:ext>
            </a:extLst>
          </p:cNvPr>
          <p:cNvSpPr txBox="1"/>
          <p:nvPr/>
        </p:nvSpPr>
        <p:spPr>
          <a:xfrm>
            <a:off x="6482856" y="5607415"/>
            <a:ext cx="1195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Phase</a:t>
            </a:r>
          </a:p>
          <a:p>
            <a:pPr algn="ctr"/>
            <a:r>
              <a:rPr lang="en-US" dirty="0"/>
              <a:t>Separation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2D80D-E283-3DDA-339E-A517B6CCBDC0}"/>
              </a:ext>
            </a:extLst>
          </p:cNvPr>
          <p:cNvSpPr txBox="1"/>
          <p:nvPr/>
        </p:nvSpPr>
        <p:spPr>
          <a:xfrm>
            <a:off x="8114927" y="5486528"/>
            <a:ext cx="111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Magnetic </a:t>
            </a:r>
            <a:br>
              <a:rPr lang="en-US" dirty="0"/>
            </a:br>
            <a:r>
              <a:rPr lang="en-US" dirty="0"/>
              <a:t>beads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C3E6B-43D8-034A-5F97-AC0375CC613E}"/>
              </a:ext>
            </a:extLst>
          </p:cNvPr>
          <p:cNvSpPr txBox="1"/>
          <p:nvPr/>
        </p:nvSpPr>
        <p:spPr>
          <a:xfrm>
            <a:off x="7127109" y="3109343"/>
            <a:ext cx="143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Lysed 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27527-7420-D8D8-E50F-2F5C7D6D79D7}"/>
              </a:ext>
            </a:extLst>
          </p:cNvPr>
          <p:cNvSpPr txBox="1"/>
          <p:nvPr/>
        </p:nvSpPr>
        <p:spPr>
          <a:xfrm>
            <a:off x="-58875" y="6581228"/>
            <a:ext cx="1445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Biorender</a:t>
            </a:r>
          </a:p>
        </p:txBody>
      </p:sp>
    </p:spTree>
    <p:extLst>
      <p:ext uri="{BB962C8B-B14F-4D97-AF65-F5344CB8AC3E}">
        <p14:creationId xmlns:p14="http://schemas.microsoft.com/office/powerpoint/2010/main" val="133531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D87C5E-34B1-5B26-CE87-00D0B0D9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EE0-D1F3-C52B-5F19-34331D1B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dirty="0">
                <a:latin typeface="Franklin Gothic Medium" panose="020B0603020102020204" pitchFamily="34" charset="0"/>
              </a:rPr>
              <a:t>Key Considerations for DNA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78F6-8245-A42D-E008-9C28B9AD0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965192" cy="4708525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b="1" dirty="0"/>
              <a:t>Sample Type</a:t>
            </a:r>
            <a:r>
              <a:rPr dirty="0"/>
              <a:t>: Feces, soil, tissue, swabs</a:t>
            </a:r>
          </a:p>
          <a:p>
            <a:r>
              <a:rPr b="1" dirty="0"/>
              <a:t>Cell Lysis: </a:t>
            </a:r>
            <a:r>
              <a:rPr dirty="0"/>
              <a:t>Mechanical (bead-beating), enzymatic, chemical</a:t>
            </a:r>
          </a:p>
          <a:p>
            <a:r>
              <a:rPr b="1" dirty="0"/>
              <a:t>DNA Purification: </a:t>
            </a:r>
            <a:r>
              <a:rPr dirty="0"/>
              <a:t>Silica columns, magnetic beads, phenol-chloroform</a:t>
            </a:r>
          </a:p>
          <a:p>
            <a:r>
              <a:rPr b="1" dirty="0">
                <a:solidFill>
                  <a:schemeClr val="bg1"/>
                </a:solidFill>
              </a:rPr>
              <a:t>Host DNA Removal</a:t>
            </a:r>
            <a:r>
              <a:rPr dirty="0">
                <a:solidFill>
                  <a:schemeClr val="bg1"/>
                </a:solidFill>
              </a:rPr>
              <a:t>: Differential lysis, NEBNext kits</a:t>
            </a:r>
          </a:p>
        </p:txBody>
      </p:sp>
      <p:pic>
        <p:nvPicPr>
          <p:cNvPr id="4" name="Picture 3" descr="A test tube with different types of liquid&#10;&#10;AI-generated content may be incorrect.">
            <a:extLst>
              <a:ext uri="{FF2B5EF4-FFF2-40B4-BE49-F238E27FC236}">
                <a16:creationId xmlns:a16="http://schemas.microsoft.com/office/drawing/2014/main" id="{33030211-8A88-52BE-1600-ECE6786E6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264" y="1200519"/>
            <a:ext cx="3371536" cy="470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C128A2-5AAC-3E91-1793-A798EB502A5A}"/>
              </a:ext>
            </a:extLst>
          </p:cNvPr>
          <p:cNvSpPr txBox="1"/>
          <p:nvPr/>
        </p:nvSpPr>
        <p:spPr>
          <a:xfrm>
            <a:off x="4637194" y="5440362"/>
            <a:ext cx="135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Spin-column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CF2BD-DA55-B618-822F-E783D0B27264}"/>
              </a:ext>
            </a:extLst>
          </p:cNvPr>
          <p:cNvSpPr txBox="1"/>
          <p:nvPr/>
        </p:nvSpPr>
        <p:spPr>
          <a:xfrm>
            <a:off x="6482856" y="5607415"/>
            <a:ext cx="1195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Phase</a:t>
            </a:r>
          </a:p>
          <a:p>
            <a:pPr algn="ctr"/>
            <a:r>
              <a:rPr lang="en-US" dirty="0"/>
              <a:t>Separation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CCCF0-4726-2B8B-4C94-FB88088ABD26}"/>
              </a:ext>
            </a:extLst>
          </p:cNvPr>
          <p:cNvSpPr txBox="1"/>
          <p:nvPr/>
        </p:nvSpPr>
        <p:spPr>
          <a:xfrm>
            <a:off x="8114927" y="5486528"/>
            <a:ext cx="111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Magnetic </a:t>
            </a:r>
            <a:br>
              <a:rPr lang="en-US" dirty="0"/>
            </a:br>
            <a:r>
              <a:rPr lang="en-US" dirty="0"/>
              <a:t>beads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3BF94-467D-C8B7-3B62-5B0966554986}"/>
              </a:ext>
            </a:extLst>
          </p:cNvPr>
          <p:cNvSpPr txBox="1"/>
          <p:nvPr/>
        </p:nvSpPr>
        <p:spPr>
          <a:xfrm>
            <a:off x="7127109" y="3109343"/>
            <a:ext cx="143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Lysed sample</a:t>
            </a:r>
          </a:p>
        </p:txBody>
      </p:sp>
      <p:pic>
        <p:nvPicPr>
          <p:cNvPr id="3074" name="Picture 2" descr="DNA Extraction (column method) | BioRender Science Templates">
            <a:extLst>
              <a:ext uri="{FF2B5EF4-FFF2-40B4-BE49-F238E27FC236}">
                <a16:creationId xmlns:a16="http://schemas.microsoft.com/office/drawing/2014/main" id="{2303071B-73FA-F341-5826-44A473790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275"/>
            <a:ext cx="9144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611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9461-A25F-BC86-0410-BC17355A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2FEC-559C-008C-BB9B-126EA4CF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dirty="0">
                <a:latin typeface="Franklin Gothic Medium" panose="020B0603020102020204" pitchFamily="34" charset="0"/>
              </a:rPr>
              <a:t>Key Considerations for DNA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F8ECE-89F5-2FB1-E0CA-70306FC2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4965192" cy="4708525"/>
          </a:xfrm>
        </p:spPr>
        <p:txBody>
          <a:bodyPr>
            <a:normAutofit fontScale="85000" lnSpcReduction="10000"/>
          </a:bodyPr>
          <a:lstStyle/>
          <a:p>
            <a:endParaRPr dirty="0">
              <a:latin typeface="Franklin Gothic Medium" panose="020B0603020102020204" pitchFamily="34" charset="0"/>
            </a:endParaRPr>
          </a:p>
          <a:p>
            <a:r>
              <a:rPr b="1" dirty="0">
                <a:latin typeface="Franklin Gothic Medium" panose="020B0603020102020204" pitchFamily="34" charset="0"/>
              </a:rPr>
              <a:t>Sample Type</a:t>
            </a:r>
            <a:r>
              <a:rPr dirty="0">
                <a:latin typeface="Franklin Gothic Medium" panose="020B0603020102020204" pitchFamily="34" charset="0"/>
              </a:rPr>
              <a:t>: Feces, soil, tissue, swabs</a:t>
            </a:r>
          </a:p>
          <a:p>
            <a:r>
              <a:rPr b="1" dirty="0">
                <a:latin typeface="Franklin Gothic Medium" panose="020B0603020102020204" pitchFamily="34" charset="0"/>
              </a:rPr>
              <a:t>Cell Lysis: </a:t>
            </a:r>
            <a:r>
              <a:rPr dirty="0">
                <a:latin typeface="Franklin Gothic Medium" panose="020B0603020102020204" pitchFamily="34" charset="0"/>
              </a:rPr>
              <a:t>Mechanical (bead-beating), enzymatic, chemical</a:t>
            </a:r>
          </a:p>
          <a:p>
            <a:r>
              <a:rPr b="1" dirty="0">
                <a:latin typeface="Franklin Gothic Medium" panose="020B0603020102020204" pitchFamily="34" charset="0"/>
              </a:rPr>
              <a:t>DNA Purification</a:t>
            </a:r>
            <a:r>
              <a:rPr lang="en-US" b="1" dirty="0">
                <a:latin typeface="Franklin Gothic Medium" panose="020B0603020102020204" pitchFamily="34" charset="0"/>
              </a:rPr>
              <a:t>/Elution</a:t>
            </a:r>
            <a:r>
              <a:rPr b="1" dirty="0">
                <a:latin typeface="Franklin Gothic Medium" panose="020B0603020102020204" pitchFamily="34" charset="0"/>
              </a:rPr>
              <a:t>: </a:t>
            </a:r>
            <a:r>
              <a:rPr dirty="0">
                <a:latin typeface="Franklin Gothic Medium" panose="020B0603020102020204" pitchFamily="34" charset="0"/>
              </a:rPr>
              <a:t>Silica columns, magnetic beads, phenol-chloroform</a:t>
            </a:r>
          </a:p>
          <a:p>
            <a:r>
              <a:rPr b="1" dirty="0">
                <a:latin typeface="Franklin Gothic Medium" panose="020B0603020102020204" pitchFamily="34" charset="0"/>
              </a:rPr>
              <a:t>Host DNA Removal</a:t>
            </a:r>
            <a:r>
              <a:rPr dirty="0">
                <a:latin typeface="Franklin Gothic Medium" panose="020B0603020102020204" pitchFamily="34" charset="0"/>
              </a:rPr>
              <a:t>: Differential lysis, </a:t>
            </a:r>
            <a:r>
              <a:rPr lang="en-US" dirty="0">
                <a:latin typeface="Franklin Gothic Medium" panose="020B0603020102020204" pitchFamily="34" charset="0"/>
              </a:rPr>
              <a:t>special kits</a:t>
            </a:r>
          </a:p>
          <a:p>
            <a:r>
              <a:rPr lang="en-US" b="1" dirty="0">
                <a:latin typeface="Franklin Gothic Medium" panose="020B0603020102020204" pitchFamily="34" charset="0"/>
              </a:rPr>
              <a:t>Controls</a:t>
            </a:r>
            <a:endParaRPr b="1" dirty="0">
              <a:latin typeface="Franklin Gothic Medium" panose="020B0603020102020204" pitchFamily="34" charset="0"/>
            </a:endParaRPr>
          </a:p>
        </p:txBody>
      </p:sp>
      <p:pic>
        <p:nvPicPr>
          <p:cNvPr id="8" name="Picture 7" descr="A group of dna strands&#10;&#10;AI-generated content may be incorrect.">
            <a:extLst>
              <a:ext uri="{FF2B5EF4-FFF2-40B4-BE49-F238E27FC236}">
                <a16:creationId xmlns:a16="http://schemas.microsoft.com/office/drawing/2014/main" id="{C2CD887C-121F-5285-BC84-F184E2FFB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910" y="1417638"/>
            <a:ext cx="2798890" cy="3908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778D1F-0886-506D-B195-ED748AD94E6C}"/>
              </a:ext>
            </a:extLst>
          </p:cNvPr>
          <p:cNvSpPr txBox="1"/>
          <p:nvPr/>
        </p:nvSpPr>
        <p:spPr>
          <a:xfrm>
            <a:off x="8475923" y="2779069"/>
            <a:ext cx="614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408DF-8959-B7A8-2F55-019411ED7CF0}"/>
              </a:ext>
            </a:extLst>
          </p:cNvPr>
          <p:cNvSpPr txBox="1"/>
          <p:nvPr/>
        </p:nvSpPr>
        <p:spPr>
          <a:xfrm>
            <a:off x="5430710" y="3492798"/>
            <a:ext cx="9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E9A28"/>
                </a:solidFill>
              </a:rPr>
              <a:t>microbe</a:t>
            </a:r>
          </a:p>
        </p:txBody>
      </p:sp>
    </p:spTree>
    <p:extLst>
      <p:ext uri="{BB962C8B-B14F-4D97-AF65-F5344CB8AC3E}">
        <p14:creationId xmlns:p14="http://schemas.microsoft.com/office/powerpoint/2010/main" val="4264199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Franklin Gothic Medium" panose="020B0603020102020204" pitchFamily="34" charset="0"/>
              </a:rPr>
              <a:t>Common DNA Extraction Methods/Kits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5486400" cy="4525963"/>
          </a:xfrm>
        </p:spPr>
        <p:txBody>
          <a:bodyPr>
            <a:normAutofit lnSpcReduction="10000"/>
          </a:bodyPr>
          <a:lstStyle/>
          <a:p>
            <a:endParaRPr dirty="0">
              <a:latin typeface="Franklin Gothic Medium" panose="020B0603020102020204" pitchFamily="34" charset="0"/>
            </a:endParaRPr>
          </a:p>
          <a:p>
            <a:r>
              <a:rPr b="1" dirty="0">
                <a:latin typeface="Franklin Gothic Medium" panose="020B0603020102020204" pitchFamily="34" charset="0"/>
              </a:rPr>
              <a:t>Why Kits? </a:t>
            </a:r>
            <a:r>
              <a:rPr dirty="0">
                <a:latin typeface="Franklin Gothic Medium" panose="020B0603020102020204" pitchFamily="34" charset="0"/>
              </a:rPr>
              <a:t>Standardized, </a:t>
            </a:r>
            <a:r>
              <a:rPr lang="en-US" dirty="0">
                <a:latin typeface="Franklin Gothic Medium" panose="020B0603020102020204" pitchFamily="34" charset="0"/>
              </a:rPr>
              <a:t>validated</a:t>
            </a:r>
            <a:endParaRPr dirty="0">
              <a:latin typeface="Franklin Gothic Medium" panose="020B0603020102020204" pitchFamily="34" charset="0"/>
            </a:endParaRPr>
          </a:p>
          <a:p>
            <a:r>
              <a:rPr b="1" dirty="0">
                <a:latin typeface="Franklin Gothic Medium" panose="020B0603020102020204" pitchFamily="34" charset="0"/>
              </a:rPr>
              <a:t>In-house protocols: </a:t>
            </a:r>
            <a:r>
              <a:rPr dirty="0">
                <a:latin typeface="Franklin Gothic Medium" panose="020B0603020102020204" pitchFamily="34" charset="0"/>
              </a:rPr>
              <a:t>customizable, need validation</a:t>
            </a:r>
          </a:p>
          <a:p>
            <a:r>
              <a:rPr b="1" dirty="0">
                <a:latin typeface="Franklin Gothic Medium" panose="020B0603020102020204" pitchFamily="34" charset="0"/>
              </a:rPr>
              <a:t>Best Practice: </a:t>
            </a:r>
            <a:r>
              <a:rPr dirty="0">
                <a:latin typeface="Franklin Gothic Medium" panose="020B0603020102020204" pitchFamily="34" charset="0"/>
              </a:rPr>
              <a:t>Match method to sample type and question</a:t>
            </a:r>
          </a:p>
        </p:txBody>
      </p:sp>
      <p:pic>
        <p:nvPicPr>
          <p:cNvPr id="6146" name="Picture 2" descr="Qiagen Food Dna Extraction Kit / Takara Shops Dna Extraction Kit">
            <a:extLst>
              <a:ext uri="{FF2B5EF4-FFF2-40B4-BE49-F238E27FC236}">
                <a16:creationId xmlns:a16="http://schemas.microsoft.com/office/drawing/2014/main" id="{ABE6DA1F-1F8E-0465-5C8E-1A40C4862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863" y="1381919"/>
            <a:ext cx="2786062" cy="278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Quick-DNA Kits | ZYMO RESEARCH">
            <a:extLst>
              <a:ext uri="{FF2B5EF4-FFF2-40B4-BE49-F238E27FC236}">
                <a16:creationId xmlns:a16="http://schemas.microsoft.com/office/drawing/2014/main" id="{3F6B5F11-3284-D19F-110F-3BBEFDB4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863" y="4167981"/>
            <a:ext cx="2694136" cy="235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1B32BA-27C2-8D18-1FE9-93B3283007D3}"/>
              </a:ext>
            </a:extLst>
          </p:cNvPr>
          <p:cNvSpPr txBox="1"/>
          <p:nvPr/>
        </p:nvSpPr>
        <p:spPr>
          <a:xfrm>
            <a:off x="-58875" y="6581228"/>
            <a:ext cx="1704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Qiagen/</a:t>
            </a:r>
            <a:r>
              <a:rPr lang="en-US" sz="1400" dirty="0" err="1"/>
              <a:t>Zymo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CF11-F84B-E155-6DFA-5595CE0F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Automated extractions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76FB3-ABEA-D2CE-CA98-EB0D41E31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152" y="1417638"/>
            <a:ext cx="3585693" cy="43182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D39CDF-0FD4-9CEB-C25D-6C7F50DBE88C}"/>
              </a:ext>
            </a:extLst>
          </p:cNvPr>
          <p:cNvSpPr txBox="1"/>
          <p:nvPr/>
        </p:nvSpPr>
        <p:spPr>
          <a:xfrm>
            <a:off x="1204175" y="5918565"/>
            <a:ext cx="7482625" cy="66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ts val="4800"/>
              </a:lnSpc>
              <a:buNone/>
            </a:pPr>
            <a:r>
              <a:rPr lang="en-US" sz="3600" b="0" i="0" dirty="0">
                <a:solidFill>
                  <a:srgbClr val="333333"/>
                </a:solidFill>
                <a:effectLst/>
                <a:latin typeface="Futura W01" panose="020B0602020204020303" pitchFamily="34" charset="-79"/>
                <a:cs typeface="Futura W01" panose="020B0602020204020303" pitchFamily="34" charset="-79"/>
                <a:hlinkClick r:id="rId3"/>
              </a:rPr>
              <a:t>Tiny application to win a </a:t>
            </a:r>
            <a:r>
              <a:rPr lang="en-US" sz="3600" b="0" i="0" dirty="0" err="1">
                <a:solidFill>
                  <a:srgbClr val="333333"/>
                </a:solidFill>
                <a:effectLst/>
                <a:latin typeface="Futura W01" panose="020B0602020204020303" pitchFamily="34" charset="-79"/>
                <a:cs typeface="Futura W01" panose="020B0602020204020303" pitchFamily="34" charset="-79"/>
                <a:hlinkClick r:id="rId3"/>
              </a:rPr>
              <a:t>QIAmini</a:t>
            </a:r>
            <a:endParaRPr lang="en-US" sz="3600" b="0" i="0" dirty="0">
              <a:solidFill>
                <a:srgbClr val="333333"/>
              </a:solidFill>
              <a:effectLst/>
              <a:latin typeface="Futura W01" panose="020B0602020204020303" pitchFamily="34" charset="-79"/>
              <a:cs typeface="Futura W01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9775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Garbage in, Garbage out</a:t>
            </a:r>
            <a:endParaRPr dirty="0">
              <a:latin typeface="Franklin Gothic Medium" panose="020B0603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14900" cy="4525963"/>
          </a:xfrm>
        </p:spPr>
        <p:txBody>
          <a:bodyPr>
            <a:normAutofit/>
          </a:bodyPr>
          <a:lstStyle/>
          <a:p>
            <a:r>
              <a:rPr lang="en-US" b="1" dirty="0">
                <a:latin typeface="Franklin Gothic Medium" panose="020B0603020102020204" pitchFamily="34" charset="0"/>
              </a:rPr>
              <a:t>Goal</a:t>
            </a:r>
            <a:r>
              <a:rPr lang="en-US" dirty="0">
                <a:latin typeface="Franklin Gothic Medium" panose="020B0603020102020204" pitchFamily="34" charset="0"/>
              </a:rPr>
              <a:t>: Clean, high molecular weight DNA</a:t>
            </a:r>
          </a:p>
          <a:p>
            <a:r>
              <a:rPr lang="en-US" i="1" dirty="0">
                <a:latin typeface="Franklin Gothic Medium" panose="020B0603020102020204" pitchFamily="34" charset="0"/>
              </a:rPr>
              <a:t>QC of DNA is key</a:t>
            </a:r>
            <a:endParaRPr i="1" dirty="0">
              <a:latin typeface="Franklin Gothic Medium" panose="020B0603020102020204" pitchFamily="34" charset="0"/>
            </a:endParaRPr>
          </a:p>
          <a:p>
            <a:r>
              <a:rPr lang="en-US" b="1" dirty="0">
                <a:latin typeface="Franklin Gothic Medium" panose="020B0603020102020204" pitchFamily="34" charset="0"/>
              </a:rPr>
              <a:t>How much DNA is there? </a:t>
            </a:r>
          </a:p>
          <a:p>
            <a:r>
              <a:rPr lang="en-US" b="1" dirty="0">
                <a:latin typeface="Franklin Gothic Medium" panose="020B0603020102020204" pitchFamily="34" charset="0"/>
              </a:rPr>
              <a:t>Is the DNA pure? </a:t>
            </a:r>
            <a:endParaRPr dirty="0">
              <a:latin typeface="Franklin Gothic Medium" panose="020B0603020102020204" pitchFamily="34" charset="0"/>
            </a:endParaRPr>
          </a:p>
          <a:p>
            <a:r>
              <a:rPr lang="en-US" b="1" dirty="0">
                <a:latin typeface="Franklin Gothic Medium" panose="020B0603020102020204" pitchFamily="34" charset="0"/>
              </a:rPr>
              <a:t>Is the DNA intact or degraded? </a:t>
            </a:r>
            <a:endParaRPr dirty="0">
              <a:latin typeface="Franklin Gothic Medium" panose="020B0603020102020204" pitchFamily="34" charset="0"/>
            </a:endParaRPr>
          </a:p>
        </p:txBody>
      </p:sp>
      <p:pic>
        <p:nvPicPr>
          <p:cNvPr id="6" name="Graphic 5" descr="Garbage with solid fill">
            <a:extLst>
              <a:ext uri="{FF2B5EF4-FFF2-40B4-BE49-F238E27FC236}">
                <a16:creationId xmlns:a16="http://schemas.microsoft.com/office/drawing/2014/main" id="{E95B2F1A-3D17-E22B-06F2-32C14F1B7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242" y="274638"/>
            <a:ext cx="914400" cy="914400"/>
          </a:xfrm>
          <a:prstGeom prst="rect">
            <a:avLst/>
          </a:prstGeom>
        </p:spPr>
      </p:pic>
      <p:pic>
        <p:nvPicPr>
          <p:cNvPr id="7" name="Graphic 6" descr="Garbage with solid fill">
            <a:extLst>
              <a:ext uri="{FF2B5EF4-FFF2-40B4-BE49-F238E27FC236}">
                <a16:creationId xmlns:a16="http://schemas.microsoft.com/office/drawing/2014/main" id="{4520E377-1EA9-8F46-F4B6-FD9F285DD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58" y="27463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AA41-97EA-62E1-1759-E699E9DF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ermo Scientific™ Nanodrop™ One Spectrophotometer with WiFi and Qubit™ 4  Fluorometer">
            <a:extLst>
              <a:ext uri="{FF2B5EF4-FFF2-40B4-BE49-F238E27FC236}">
                <a16:creationId xmlns:a16="http://schemas.microsoft.com/office/drawing/2014/main" id="{11D10FAF-76B2-CF1E-B5F3-C0F2B4B6E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10" y="1193007"/>
            <a:ext cx="3743324" cy="374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BC582-82B7-9BCC-0519-900FCDDC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Garbage in, Garbage out</a:t>
            </a:r>
            <a:endParaRPr dirty="0">
              <a:latin typeface="Franklin Gothic Medium" panose="020B0603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28CE-FA17-7D56-3A61-AE605D09E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14900" cy="4525963"/>
          </a:xfrm>
        </p:spPr>
        <p:txBody>
          <a:bodyPr>
            <a:normAutofit/>
          </a:bodyPr>
          <a:lstStyle/>
          <a:p>
            <a:r>
              <a:rPr lang="en-US" b="1" dirty="0">
                <a:latin typeface="Franklin Gothic Medium" panose="020B0603020102020204" pitchFamily="34" charset="0"/>
              </a:rPr>
              <a:t>Goal</a:t>
            </a:r>
            <a:r>
              <a:rPr lang="en-US" dirty="0">
                <a:latin typeface="Franklin Gothic Medium" panose="020B0603020102020204" pitchFamily="34" charset="0"/>
              </a:rPr>
              <a:t>: Clean, high molecular weight DNA</a:t>
            </a:r>
          </a:p>
          <a:p>
            <a:r>
              <a:rPr lang="en-US" i="1" dirty="0">
                <a:latin typeface="Franklin Gothic Medium" panose="020B0603020102020204" pitchFamily="34" charset="0"/>
              </a:rPr>
              <a:t>Quality &amp; Quantity of DNA is key</a:t>
            </a:r>
            <a:endParaRPr i="1" dirty="0">
              <a:latin typeface="Franklin Gothic Medium" panose="020B0603020102020204" pitchFamily="34" charset="0"/>
            </a:endParaRPr>
          </a:p>
          <a:p>
            <a:r>
              <a:rPr lang="en-US" b="1" dirty="0">
                <a:latin typeface="Franklin Gothic Medium" panose="020B0603020102020204" pitchFamily="34" charset="0"/>
              </a:rPr>
              <a:t>How much DNA is there? </a:t>
            </a:r>
          </a:p>
        </p:txBody>
      </p:sp>
      <p:pic>
        <p:nvPicPr>
          <p:cNvPr id="7172" name="Picture 4" descr="Invitrogen Qubit® Fluorometer – Gene Expression Center – UW–Madison">
            <a:extLst>
              <a:ext uri="{FF2B5EF4-FFF2-40B4-BE49-F238E27FC236}">
                <a16:creationId xmlns:a16="http://schemas.microsoft.com/office/drawing/2014/main" id="{E5D466B5-408D-E34B-6DBF-0933D9815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687" y="4529137"/>
            <a:ext cx="3386667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2CDDB-9C96-D2EF-D082-CE511A5F8BAE}"/>
              </a:ext>
            </a:extLst>
          </p:cNvPr>
          <p:cNvSpPr txBox="1"/>
          <p:nvPr/>
        </p:nvSpPr>
        <p:spPr>
          <a:xfrm>
            <a:off x="-58875" y="6581228"/>
            <a:ext cx="1733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</a:t>
            </a:r>
            <a:r>
              <a:rPr lang="en-US" sz="1400" dirty="0" err="1"/>
              <a:t>ThermoFisher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5B8EF-FA74-3AD2-8CAB-AF5D28C6BEED}"/>
              </a:ext>
            </a:extLst>
          </p:cNvPr>
          <p:cNvSpPr txBox="1"/>
          <p:nvPr/>
        </p:nvSpPr>
        <p:spPr>
          <a:xfrm>
            <a:off x="4948687" y="2280999"/>
            <a:ext cx="2317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Franklin Gothic Medium" panose="020B0603020102020204" pitchFamily="34" charset="0"/>
              </a:rPr>
              <a:t>NanoDrop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F81392-9254-8C44-A5D5-F5C5783C6AFA}"/>
              </a:ext>
            </a:extLst>
          </p:cNvPr>
          <p:cNvSpPr txBox="1"/>
          <p:nvPr/>
        </p:nvSpPr>
        <p:spPr>
          <a:xfrm>
            <a:off x="6807525" y="5854700"/>
            <a:ext cx="2317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Franklin Gothic Medium" panose="020B0603020102020204" pitchFamily="34" charset="0"/>
              </a:rPr>
              <a:t>Qubit</a:t>
            </a:r>
          </a:p>
        </p:txBody>
      </p:sp>
      <p:pic>
        <p:nvPicPr>
          <p:cNvPr id="9" name="Graphic 8" descr="Garbage with solid fill">
            <a:extLst>
              <a:ext uri="{FF2B5EF4-FFF2-40B4-BE49-F238E27FC236}">
                <a16:creationId xmlns:a16="http://schemas.microsoft.com/office/drawing/2014/main" id="{4244945B-A7A5-2F49-A3CF-45F8C7527F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242" y="274638"/>
            <a:ext cx="914400" cy="914400"/>
          </a:xfrm>
          <a:prstGeom prst="rect">
            <a:avLst/>
          </a:prstGeom>
        </p:spPr>
      </p:pic>
      <p:pic>
        <p:nvPicPr>
          <p:cNvPr id="10" name="Graphic 9" descr="Garbage with solid fill">
            <a:extLst>
              <a:ext uri="{FF2B5EF4-FFF2-40B4-BE49-F238E27FC236}">
                <a16:creationId xmlns:a16="http://schemas.microsoft.com/office/drawing/2014/main" id="{742489F4-C43F-2E61-7193-A216C4DB0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358" y="2746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54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1FC52-ECA9-BE40-8DC3-3393C330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714B-D264-19A3-0640-15D8A95B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Garbage in, Garbage out</a:t>
            </a:r>
            <a:endParaRPr dirty="0">
              <a:latin typeface="Franklin Gothic Medium" panose="020B0603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EF519-3D0B-8951-434C-F827A3DDA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14900" cy="4525963"/>
          </a:xfrm>
        </p:spPr>
        <p:txBody>
          <a:bodyPr>
            <a:normAutofit/>
          </a:bodyPr>
          <a:lstStyle/>
          <a:p>
            <a:r>
              <a:rPr lang="en-US" b="1" dirty="0">
                <a:latin typeface="Franklin Gothic Medium" panose="020B0603020102020204" pitchFamily="34" charset="0"/>
              </a:rPr>
              <a:t>Goal</a:t>
            </a:r>
            <a:r>
              <a:rPr lang="en-US" dirty="0">
                <a:latin typeface="Franklin Gothic Medium" panose="020B0603020102020204" pitchFamily="34" charset="0"/>
              </a:rPr>
              <a:t>: Clean, high molecular weight DNA</a:t>
            </a:r>
          </a:p>
          <a:p>
            <a:r>
              <a:rPr lang="en-US" i="1" dirty="0">
                <a:latin typeface="Franklin Gothic Medium" panose="020B0603020102020204" pitchFamily="34" charset="0"/>
              </a:rPr>
              <a:t>Quality &amp; Quantity of DNA is key</a:t>
            </a:r>
            <a:endParaRPr i="1" dirty="0">
              <a:latin typeface="Franklin Gothic Medium" panose="020B0603020102020204" pitchFamily="34" charset="0"/>
            </a:endParaRPr>
          </a:p>
          <a:p>
            <a:r>
              <a:rPr lang="en-US" b="1" dirty="0">
                <a:latin typeface="Franklin Gothic Medium" panose="020B0603020102020204" pitchFamily="34" charset="0"/>
              </a:rPr>
              <a:t>How much DNA is there? </a:t>
            </a:r>
          </a:p>
          <a:p>
            <a:r>
              <a:rPr lang="en-US" b="1" dirty="0">
                <a:latin typeface="Franklin Gothic Medium" panose="020B0603020102020204" pitchFamily="34" charset="0"/>
              </a:rPr>
              <a:t>Is the DNA pure?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37E4E-4456-6A6E-8790-EE521B7C5DB0}"/>
              </a:ext>
            </a:extLst>
          </p:cNvPr>
          <p:cNvSpPr txBox="1"/>
          <p:nvPr/>
        </p:nvSpPr>
        <p:spPr>
          <a:xfrm>
            <a:off x="5186363" y="5264389"/>
            <a:ext cx="327183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Franklin Gothic Medium" panose="020B0603020102020204" pitchFamily="34" charset="0"/>
              </a:rPr>
              <a:t>A260/280 ≈1.8–2.1, A260/230 &gt;1.8</a:t>
            </a:r>
          </a:p>
        </p:txBody>
      </p:sp>
      <p:pic>
        <p:nvPicPr>
          <p:cNvPr id="7" name="Picture 2" descr="Thermo Scientific™ Nanodrop™ One Spectrophotometer with WiFi and Qubit™ 4  Fluorometer">
            <a:extLst>
              <a:ext uri="{FF2B5EF4-FFF2-40B4-BE49-F238E27FC236}">
                <a16:creationId xmlns:a16="http://schemas.microsoft.com/office/drawing/2014/main" id="{1B598454-5462-321A-6DA5-8FA4AC79A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10" y="1193007"/>
            <a:ext cx="3743324" cy="374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Garbage with solid fill">
            <a:extLst>
              <a:ext uri="{FF2B5EF4-FFF2-40B4-BE49-F238E27FC236}">
                <a16:creationId xmlns:a16="http://schemas.microsoft.com/office/drawing/2014/main" id="{6A25596A-8DEC-B96A-4473-FEAB07CEE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242" y="274638"/>
            <a:ext cx="914400" cy="914400"/>
          </a:xfrm>
          <a:prstGeom prst="rect">
            <a:avLst/>
          </a:prstGeom>
        </p:spPr>
      </p:pic>
      <p:pic>
        <p:nvPicPr>
          <p:cNvPr id="11" name="Graphic 10" descr="Garbage with solid fill">
            <a:extLst>
              <a:ext uri="{FF2B5EF4-FFF2-40B4-BE49-F238E27FC236}">
                <a16:creationId xmlns:a16="http://schemas.microsoft.com/office/drawing/2014/main" id="{C3626325-F76B-76F5-6767-BAF452094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358" y="2746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1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6BF53-F15D-72A3-7DBD-A8575E6F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8521-CC00-1A13-9C26-EA95E70FF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Garbage in, Garbage out</a:t>
            </a:r>
            <a:endParaRPr dirty="0">
              <a:latin typeface="Franklin Gothic Medium" panose="020B0603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995E-E355-D7E4-9C2D-BBBE24410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14900" cy="4525963"/>
          </a:xfrm>
        </p:spPr>
        <p:txBody>
          <a:bodyPr>
            <a:normAutofit/>
          </a:bodyPr>
          <a:lstStyle/>
          <a:p>
            <a:r>
              <a:rPr lang="en-US" b="1" dirty="0">
                <a:latin typeface="Franklin Gothic Medium" panose="020B0603020102020204" pitchFamily="34" charset="0"/>
              </a:rPr>
              <a:t>Goal</a:t>
            </a:r>
            <a:r>
              <a:rPr lang="en-US" dirty="0">
                <a:latin typeface="Franklin Gothic Medium" panose="020B0603020102020204" pitchFamily="34" charset="0"/>
              </a:rPr>
              <a:t>: Clean, high molecular weight DNA</a:t>
            </a:r>
          </a:p>
          <a:p>
            <a:r>
              <a:rPr lang="en-US" i="1" dirty="0">
                <a:latin typeface="Franklin Gothic Medium" panose="020B0603020102020204" pitchFamily="34" charset="0"/>
              </a:rPr>
              <a:t>Quality &amp; Quantity of DNA is key</a:t>
            </a:r>
            <a:endParaRPr i="1" dirty="0">
              <a:latin typeface="Franklin Gothic Medium" panose="020B0603020102020204" pitchFamily="34" charset="0"/>
            </a:endParaRPr>
          </a:p>
          <a:p>
            <a:r>
              <a:rPr lang="en-US" b="1" dirty="0">
                <a:latin typeface="Franklin Gothic Medium" panose="020B0603020102020204" pitchFamily="34" charset="0"/>
              </a:rPr>
              <a:t>How much DNA is there? </a:t>
            </a:r>
          </a:p>
          <a:p>
            <a:r>
              <a:rPr lang="en-US" b="1" dirty="0">
                <a:latin typeface="Franklin Gothic Medium" panose="020B0603020102020204" pitchFamily="34" charset="0"/>
              </a:rPr>
              <a:t>Is the DNA pure? </a:t>
            </a:r>
            <a:endParaRPr dirty="0">
              <a:latin typeface="Franklin Gothic Medium" panose="020B0603020102020204" pitchFamily="34" charset="0"/>
            </a:endParaRPr>
          </a:p>
          <a:p>
            <a:r>
              <a:rPr lang="en-US" b="1" dirty="0">
                <a:latin typeface="Franklin Gothic Medium" panose="020B0603020102020204" pitchFamily="34" charset="0"/>
              </a:rPr>
              <a:t>Is the DNA intact or degraded? </a:t>
            </a:r>
            <a:endParaRPr dirty="0">
              <a:latin typeface="Franklin Gothic Medium" panose="020B0603020102020204" pitchFamily="34" charset="0"/>
            </a:endParaRPr>
          </a:p>
        </p:txBody>
      </p:sp>
      <p:pic>
        <p:nvPicPr>
          <p:cNvPr id="9218" name="Picture 2" descr="Agilent Bioanalyzer results for RNA extracted with the current protocol...  | Download Scientific Diagram">
            <a:extLst>
              <a:ext uri="{FF2B5EF4-FFF2-40B4-BE49-F238E27FC236}">
                <a16:creationId xmlns:a16="http://schemas.microsoft.com/office/drawing/2014/main" id="{4129D544-3B67-C7BA-0FD0-050DB8F83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530" y="4168771"/>
            <a:ext cx="3739673" cy="256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From RNA to Sequencing: QC Matters - Abterra Biosciences">
            <a:extLst>
              <a:ext uri="{FF2B5EF4-FFF2-40B4-BE49-F238E27FC236}">
                <a16:creationId xmlns:a16="http://schemas.microsoft.com/office/drawing/2014/main" id="{026E1FA8-B990-71D7-0F32-E3C317930D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6"/>
          <a:stretch>
            <a:fillRect/>
          </a:stretch>
        </p:blipFill>
        <p:spPr bwMode="auto">
          <a:xfrm>
            <a:off x="5672138" y="1295400"/>
            <a:ext cx="3176044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Garbage with solid fill">
            <a:extLst>
              <a:ext uri="{FF2B5EF4-FFF2-40B4-BE49-F238E27FC236}">
                <a16:creationId xmlns:a16="http://schemas.microsoft.com/office/drawing/2014/main" id="{3065F0EF-6A24-5D1C-9A33-731AB645F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242" y="274638"/>
            <a:ext cx="914400" cy="914400"/>
          </a:xfrm>
          <a:prstGeom prst="rect">
            <a:avLst/>
          </a:prstGeom>
        </p:spPr>
      </p:pic>
      <p:pic>
        <p:nvPicPr>
          <p:cNvPr id="7" name="Graphic 6" descr="Garbage with solid fill">
            <a:extLst>
              <a:ext uri="{FF2B5EF4-FFF2-40B4-BE49-F238E27FC236}">
                <a16:creationId xmlns:a16="http://schemas.microsoft.com/office/drawing/2014/main" id="{6F6C83FA-3401-3E95-9C14-9BFA0AB43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358" y="274638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C0B33-FE0D-30B5-7D29-C03B9C4AC55C}"/>
              </a:ext>
            </a:extLst>
          </p:cNvPr>
          <p:cNvSpPr txBox="1"/>
          <p:nvPr/>
        </p:nvSpPr>
        <p:spPr>
          <a:xfrm>
            <a:off x="-58875" y="6581228"/>
            <a:ext cx="215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</a:t>
            </a:r>
            <a:r>
              <a:rPr lang="en-US" sz="1400" dirty="0" err="1"/>
              <a:t>Abterra</a:t>
            </a:r>
            <a:r>
              <a:rPr lang="en-US" sz="1400" dirty="0"/>
              <a:t> Biosciences</a:t>
            </a:r>
          </a:p>
        </p:txBody>
      </p:sp>
    </p:spTree>
    <p:extLst>
      <p:ext uri="{BB962C8B-B14F-4D97-AF65-F5344CB8AC3E}">
        <p14:creationId xmlns:p14="http://schemas.microsoft.com/office/powerpoint/2010/main" val="3603087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8406-C361-E9C8-8DC6-CD01220B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label with black text&#10;&#10;AI-generated content may be incorrect.">
            <a:extLst>
              <a:ext uri="{FF2B5EF4-FFF2-40B4-BE49-F238E27FC236}">
                <a16:creationId xmlns:a16="http://schemas.microsoft.com/office/drawing/2014/main" id="{8AFD3AF0-17AE-25E3-078F-BE5CCDAFB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5168"/>
            <a:ext cx="9033881" cy="13268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6FC67F-E115-8D87-2C43-747E4633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Roadmap</a:t>
            </a:r>
            <a:endParaRPr dirty="0">
              <a:latin typeface="Franklin Gothic Medium" panose="020B0603020102020204" pitchFamily="34" charset="0"/>
            </a:endParaRPr>
          </a:p>
        </p:txBody>
      </p:sp>
      <p:pic>
        <p:nvPicPr>
          <p:cNvPr id="5" name="Picture 4" descr="A yellow and black sign&#10;&#10;AI-generated content may be incorrect.">
            <a:extLst>
              <a:ext uri="{FF2B5EF4-FFF2-40B4-BE49-F238E27FC236}">
                <a16:creationId xmlns:a16="http://schemas.microsoft.com/office/drawing/2014/main" id="{0B41C825-9A49-9A38-5432-8991C44DA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55168"/>
            <a:ext cx="9033881" cy="1326815"/>
          </a:xfrm>
          <a:prstGeom prst="rect">
            <a:avLst/>
          </a:prstGeom>
        </p:spPr>
      </p:pic>
      <p:pic>
        <p:nvPicPr>
          <p:cNvPr id="11" name="Graphic 10" descr="Road with solid fill">
            <a:extLst>
              <a:ext uri="{FF2B5EF4-FFF2-40B4-BE49-F238E27FC236}">
                <a16:creationId xmlns:a16="http://schemas.microsoft.com/office/drawing/2014/main" id="{63F762ED-BE98-F11F-4252-F084B927E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9488" y="43707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598709-E9A6-E5F0-E2CD-D914395D1029}"/>
              </a:ext>
            </a:extLst>
          </p:cNvPr>
          <p:cNvSpPr txBox="1"/>
          <p:nvPr/>
        </p:nvSpPr>
        <p:spPr>
          <a:xfrm>
            <a:off x="505137" y="4380986"/>
            <a:ext cx="818166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Franklin Gothic Medium" panose="020B0603020102020204" pitchFamily="34" charset="0"/>
              </a:rPr>
              <a:t>What are the key things to think about for DNA extraction?</a:t>
            </a:r>
          </a:p>
        </p:txBody>
      </p:sp>
    </p:spTree>
    <p:extLst>
      <p:ext uri="{BB962C8B-B14F-4D97-AF65-F5344CB8AC3E}">
        <p14:creationId xmlns:p14="http://schemas.microsoft.com/office/powerpoint/2010/main" val="1597694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Library Preparation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DBB38A3-4A37-5048-BD30-A8E95FF9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2486431"/>
              </p:ext>
            </p:extLst>
          </p:nvPr>
        </p:nvGraphicFramePr>
        <p:xfrm>
          <a:off x="800100" y="1157329"/>
          <a:ext cx="75438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5C307E-8482-90E0-9305-2B51E54F51DC}"/>
              </a:ext>
            </a:extLst>
          </p:cNvPr>
          <p:cNvSpPr/>
          <p:nvPr/>
        </p:nvSpPr>
        <p:spPr>
          <a:xfrm>
            <a:off x="1025985" y="5312834"/>
            <a:ext cx="1128713" cy="36933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92E931-236E-7DCF-DDD2-D95676865C80}"/>
              </a:ext>
            </a:extLst>
          </p:cNvPr>
          <p:cNvSpPr txBox="1"/>
          <p:nvPr/>
        </p:nvSpPr>
        <p:spPr>
          <a:xfrm>
            <a:off x="1025985" y="5268596"/>
            <a:ext cx="76608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Barcode:  </a:t>
            </a:r>
            <a:r>
              <a:rPr lang="en-US" sz="2200" i="1" dirty="0"/>
              <a:t>unique</a:t>
            </a:r>
            <a:r>
              <a:rPr lang="en-US" sz="2200" dirty="0"/>
              <a:t> short DNA sequence to allow the differentiation </a:t>
            </a:r>
            <a:br>
              <a:rPr lang="en-US" sz="2200" dirty="0"/>
            </a:br>
            <a:r>
              <a:rPr lang="en-US" sz="2200" dirty="0"/>
              <a:t>of multiple samples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39DDCE-309E-EA09-C682-61D3A784E7BF}"/>
              </a:ext>
            </a:extLst>
          </p:cNvPr>
          <p:cNvSpPr/>
          <p:nvPr/>
        </p:nvSpPr>
        <p:spPr>
          <a:xfrm>
            <a:off x="1025985" y="6038037"/>
            <a:ext cx="1128713" cy="36933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2FA00-97AA-86C9-11A3-C44A966A03BD}"/>
              </a:ext>
            </a:extLst>
          </p:cNvPr>
          <p:cNvSpPr txBox="1"/>
          <p:nvPr/>
        </p:nvSpPr>
        <p:spPr>
          <a:xfrm>
            <a:off x="1025985" y="6006773"/>
            <a:ext cx="79281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Adaptor:  </a:t>
            </a:r>
            <a:r>
              <a:rPr lang="en-US" sz="2200" dirty="0"/>
              <a:t>short DNA sequence that enables DNA fragment to attach </a:t>
            </a:r>
          </a:p>
          <a:p>
            <a:r>
              <a:rPr lang="en-US" sz="2200" dirty="0"/>
              <a:t>to sequencing platform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17" grpId="0" animBg="1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9C24-68BF-41B8-7A77-8A14D585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1D48-96D0-FB4E-DC89-43B82B03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Library Types</a:t>
            </a:r>
          </a:p>
        </p:txBody>
      </p:sp>
      <p:pic>
        <p:nvPicPr>
          <p:cNvPr id="10242" name="Picture 2" descr="Amplicon and metagenomics overview">
            <a:extLst>
              <a:ext uri="{FF2B5EF4-FFF2-40B4-BE49-F238E27FC236}">
                <a16:creationId xmlns:a16="http://schemas.microsoft.com/office/drawing/2014/main" id="{A6B95038-0053-A5CB-4B64-AA25BD966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38" y="1279617"/>
            <a:ext cx="7951476" cy="530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E98BAC-CF98-0411-B95E-7ED69DB5C7D0}"/>
              </a:ext>
            </a:extLst>
          </p:cNvPr>
          <p:cNvSpPr txBox="1"/>
          <p:nvPr/>
        </p:nvSpPr>
        <p:spPr>
          <a:xfrm>
            <a:off x="-58875" y="6581228"/>
            <a:ext cx="2593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Happy Bell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2358194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14B3-FE8A-0CB1-C1F1-255264C6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34EE-227D-C67F-FACF-73C506DA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Library Preparation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0EA44-30F5-AB05-A2F5-808EE3A10AAF}"/>
              </a:ext>
            </a:extLst>
          </p:cNvPr>
          <p:cNvSpPr txBox="1"/>
          <p:nvPr/>
        </p:nvSpPr>
        <p:spPr>
          <a:xfrm>
            <a:off x="614362" y="1735179"/>
            <a:ext cx="5253618" cy="2785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3500" dirty="0">
                <a:latin typeface="Franklin Gothic Medium" panose="020B0603020102020204" pitchFamily="34" charset="0"/>
              </a:rPr>
              <a:t>Fragment /Amplify DNA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500" dirty="0">
                <a:latin typeface="Franklin Gothic Medium" panose="020B0603020102020204" pitchFamily="34" charset="0"/>
              </a:rPr>
              <a:t>Ligate Adaptors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500" dirty="0">
                <a:latin typeface="Franklin Gothic Medium" panose="020B0603020102020204" pitchFamily="34" charset="0"/>
              </a:rPr>
              <a:t>Add barcodes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500" dirty="0">
                <a:latin typeface="Franklin Gothic Medium" panose="020B0603020102020204" pitchFamily="34" charset="0"/>
              </a:rPr>
              <a:t>Pool samples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500" dirty="0">
                <a:latin typeface="Franklin Gothic Medium" panose="020B0603020102020204" pitchFamily="34" charset="0"/>
              </a:rPr>
              <a:t>Clean up</a:t>
            </a:r>
          </a:p>
        </p:txBody>
      </p:sp>
      <p:pic>
        <p:nvPicPr>
          <p:cNvPr id="12290" name="Picture 2" descr="Short-Read Sequencing Services - Illumina &amp; Element Bio AVITI | DNA  Technologies Core">
            <a:extLst>
              <a:ext uri="{FF2B5EF4-FFF2-40B4-BE49-F238E27FC236}">
                <a16:creationId xmlns:a16="http://schemas.microsoft.com/office/drawing/2014/main" id="{4B5525C2-2E51-D529-D303-0763B9E02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63"/>
          <a:stretch>
            <a:fillRect/>
          </a:stretch>
        </p:blipFill>
        <p:spPr bwMode="auto">
          <a:xfrm>
            <a:off x="4572000" y="2994025"/>
            <a:ext cx="4429125" cy="35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Download Illumina Logo in SVG Vector or PNG File Format - Logo.wine">
            <a:extLst>
              <a:ext uri="{FF2B5EF4-FFF2-40B4-BE49-F238E27FC236}">
                <a16:creationId xmlns:a16="http://schemas.microsoft.com/office/drawing/2014/main" id="{68612B2C-57EE-93C4-5F29-0AB1BAF8A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14575"/>
            <a:ext cx="397192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68E10C8B-3B7C-67CA-F743-A83E1C916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955" y="2097088"/>
            <a:ext cx="2837170" cy="62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Welcome to Oxford Nanopore Technologies">
            <a:extLst>
              <a:ext uri="{FF2B5EF4-FFF2-40B4-BE49-F238E27FC236}">
                <a16:creationId xmlns:a16="http://schemas.microsoft.com/office/drawing/2014/main" id="{33318A75-8F63-C0E2-A94B-2769FE37C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5369400"/>
            <a:ext cx="4114800" cy="7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6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Franklin Gothic Medium" panose="020B0603020102020204" pitchFamily="34" charset="0"/>
              </a:rPr>
              <a:t>Library Prep: Amplicon Sequencing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EC506-6E5A-D1FF-9483-A734A9761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767"/>
          <a:stretch>
            <a:fillRect/>
          </a:stretch>
        </p:blipFill>
        <p:spPr>
          <a:xfrm>
            <a:off x="0" y="2601838"/>
            <a:ext cx="4638676" cy="2888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70C22D-A159-3799-9662-C212A4EE6713}"/>
              </a:ext>
            </a:extLst>
          </p:cNvPr>
          <p:cNvSpPr txBox="1"/>
          <p:nvPr/>
        </p:nvSpPr>
        <p:spPr>
          <a:xfrm>
            <a:off x="1927138" y="1870151"/>
            <a:ext cx="103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Medium" panose="020B0603020102020204" pitchFamily="34" charset="0"/>
              </a:rPr>
              <a:t>1 Step</a:t>
            </a:r>
          </a:p>
        </p:txBody>
      </p:sp>
      <p:pic>
        <p:nvPicPr>
          <p:cNvPr id="11270" name="Picture 6" descr="Illumina Sequencing library preparation - Lausanne Genomic Technologies  Facility">
            <a:extLst>
              <a:ext uri="{FF2B5EF4-FFF2-40B4-BE49-F238E27FC236}">
                <a16:creationId xmlns:a16="http://schemas.microsoft.com/office/drawing/2014/main" id="{5DD4B053-A0CF-2C44-A7FB-04D41CF240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8" r="50000"/>
          <a:stretch>
            <a:fillRect/>
          </a:stretch>
        </p:blipFill>
        <p:spPr bwMode="auto">
          <a:xfrm>
            <a:off x="4826302" y="2331815"/>
            <a:ext cx="4250677" cy="422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FA7D58-A80F-F204-152D-1F061686ED72}"/>
              </a:ext>
            </a:extLst>
          </p:cNvPr>
          <p:cNvSpPr txBox="1"/>
          <p:nvPr/>
        </p:nvSpPr>
        <p:spPr>
          <a:xfrm>
            <a:off x="6431690" y="1870151"/>
            <a:ext cx="1039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Medium" panose="020B0603020102020204" pitchFamily="34" charset="0"/>
              </a:rPr>
              <a:t>2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377563-002C-B895-084D-56D9DE7CE04A}"/>
              </a:ext>
            </a:extLst>
          </p:cNvPr>
          <p:cNvSpPr/>
          <p:nvPr/>
        </p:nvSpPr>
        <p:spPr>
          <a:xfrm>
            <a:off x="4014788" y="3068066"/>
            <a:ext cx="811514" cy="3601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A15122-F066-DA2B-1545-B4269E17A8D3}"/>
              </a:ext>
            </a:extLst>
          </p:cNvPr>
          <p:cNvSpPr/>
          <p:nvPr/>
        </p:nvSpPr>
        <p:spPr>
          <a:xfrm>
            <a:off x="3920975" y="4810670"/>
            <a:ext cx="811514" cy="3601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14CF7-CBF0-ED83-F2B2-70B887D9FD45}"/>
              </a:ext>
            </a:extLst>
          </p:cNvPr>
          <p:cNvSpPr txBox="1"/>
          <p:nvPr/>
        </p:nvSpPr>
        <p:spPr>
          <a:xfrm>
            <a:off x="-58875" y="6581228"/>
            <a:ext cx="1307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GTF/IDT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Franklin Gothic Medium" panose="020B0603020102020204" pitchFamily="34" charset="0"/>
              </a:rPr>
              <a:t>Library Prep: Shotgun Metagenomics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ADCAE53-4D6F-C61B-BBF9-5222B9550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6"/>
          <a:stretch>
            <a:fillRect/>
          </a:stretch>
        </p:blipFill>
        <p:spPr bwMode="auto">
          <a:xfrm>
            <a:off x="1473200" y="1171575"/>
            <a:ext cx="6472696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CEBCB4-AAE5-E912-A5D2-C4F47584CF64}"/>
              </a:ext>
            </a:extLst>
          </p:cNvPr>
          <p:cNvSpPr txBox="1"/>
          <p:nvPr/>
        </p:nvSpPr>
        <p:spPr>
          <a:xfrm>
            <a:off x="-58875" y="6581228"/>
            <a:ext cx="1308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Illumina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ED1A-C0CD-E201-2881-5C5633BF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07651A-25A3-CA46-A2D7-7E4B20019148}"/>
              </a:ext>
            </a:extLst>
          </p:cNvPr>
          <p:cNvSpPr/>
          <p:nvPr/>
        </p:nvSpPr>
        <p:spPr>
          <a:xfrm>
            <a:off x="2040131" y="1464572"/>
            <a:ext cx="3577839" cy="36933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80CEE-086C-98CD-8E35-F7352B06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Library Preparation: Clean up &amp; Pooling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D056A-1055-338E-76FF-412A18FE8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03"/>
          <a:stretch>
            <a:fillRect/>
          </a:stretch>
        </p:blipFill>
        <p:spPr>
          <a:xfrm>
            <a:off x="-28576" y="1849549"/>
            <a:ext cx="9184478" cy="47338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C75050-38B7-282C-C6E1-2DEEB93B6851}"/>
              </a:ext>
            </a:extLst>
          </p:cNvPr>
          <p:cNvCxnSpPr>
            <a:cxnSpLocks/>
          </p:cNvCxnSpPr>
          <p:nvPr/>
        </p:nvCxnSpPr>
        <p:spPr>
          <a:xfrm>
            <a:off x="4643440" y="1957388"/>
            <a:ext cx="0" cy="11287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C90BBA-A8CB-BFC9-AF54-C343105704D5}"/>
              </a:ext>
            </a:extLst>
          </p:cNvPr>
          <p:cNvSpPr txBox="1"/>
          <p:nvPr/>
        </p:nvSpPr>
        <p:spPr>
          <a:xfrm>
            <a:off x="2040131" y="1448927"/>
            <a:ext cx="357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Purification, Normalization, Final QC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2DFD5A-50AE-E2CC-EFFB-34E65A171152}"/>
              </a:ext>
            </a:extLst>
          </p:cNvPr>
          <p:cNvCxnSpPr>
            <a:cxnSpLocks/>
          </p:cNvCxnSpPr>
          <p:nvPr/>
        </p:nvCxnSpPr>
        <p:spPr>
          <a:xfrm>
            <a:off x="2424115" y="1943100"/>
            <a:ext cx="0" cy="11287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361C43-302D-CDD0-A7ED-6508BA1B1571}"/>
              </a:ext>
            </a:extLst>
          </p:cNvPr>
          <p:cNvSpPr txBox="1"/>
          <p:nvPr/>
        </p:nvSpPr>
        <p:spPr>
          <a:xfrm>
            <a:off x="-58875" y="6581228"/>
            <a:ext cx="1308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Illumina</a:t>
            </a:r>
          </a:p>
        </p:txBody>
      </p:sp>
    </p:spTree>
    <p:extLst>
      <p:ext uri="{BB962C8B-B14F-4D97-AF65-F5344CB8AC3E}">
        <p14:creationId xmlns:p14="http://schemas.microsoft.com/office/powerpoint/2010/main" val="199556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>
            <a:extLst>
              <a:ext uri="{FF2B5EF4-FFF2-40B4-BE49-F238E27FC236}">
                <a16:creationId xmlns:a16="http://schemas.microsoft.com/office/drawing/2014/main" id="{F43B75C8-4E49-F7E2-B5A4-B4124930F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7325" y="846138"/>
            <a:ext cx="10601325" cy="596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Recap &amp; </a:t>
            </a:r>
            <a:r>
              <a:rPr dirty="0">
                <a:latin typeface="Franklin Gothic Medium" panose="020B0603020102020204" pitchFamily="34" charset="0"/>
              </a:rPr>
              <a:t>Key </a:t>
            </a:r>
            <a:r>
              <a:rPr lang="en-US" dirty="0">
                <a:latin typeface="Franklin Gothic Medium" panose="020B0603020102020204" pitchFamily="34" charset="0"/>
              </a:rPr>
              <a:t>Considerations</a:t>
            </a:r>
            <a:endParaRPr dirty="0">
              <a:latin typeface="Franklin Gothic Medium" panose="020B0603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86763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Sample-specific strategies for </a:t>
            </a:r>
            <a:r>
              <a:rPr dirty="0">
                <a:latin typeface="Franklin Gothic Medium" panose="020B0603020102020204" pitchFamily="34" charset="0"/>
              </a:rPr>
              <a:t>DNA </a:t>
            </a:r>
            <a:br>
              <a:rPr lang="en-US" dirty="0">
                <a:latin typeface="Franklin Gothic Medium" panose="020B0603020102020204" pitchFamily="34" charset="0"/>
              </a:rPr>
            </a:br>
            <a:r>
              <a:rPr lang="en-US" dirty="0">
                <a:latin typeface="Franklin Gothic Medium" panose="020B0603020102020204" pitchFamily="34" charset="0"/>
              </a:rPr>
              <a:t>e</a:t>
            </a:r>
            <a:r>
              <a:rPr dirty="0">
                <a:latin typeface="Franklin Gothic Medium" panose="020B0603020102020204" pitchFamily="34" charset="0"/>
              </a:rPr>
              <a:t>xtraction</a:t>
            </a:r>
            <a:endParaRPr lang="en-US" dirty="0">
              <a:latin typeface="Franklin Gothic Medium" panose="020B0603020102020204" pitchFamily="34" charset="0"/>
            </a:endParaRPr>
          </a:p>
          <a:p>
            <a:r>
              <a:rPr lang="en-US" dirty="0">
                <a:latin typeface="Franklin Gothic Medium" panose="020B0603020102020204" pitchFamily="34" charset="0"/>
              </a:rPr>
              <a:t>Appropriate lysis is </a:t>
            </a:r>
            <a:r>
              <a:rPr lang="en-US" u="sng" dirty="0">
                <a:latin typeface="Franklin Gothic Medium" panose="020B0603020102020204" pitchFamily="34" charset="0"/>
              </a:rPr>
              <a:t>key</a:t>
            </a:r>
            <a:endParaRPr u="sng" dirty="0">
              <a:latin typeface="Franklin Gothic Medium" panose="020B0603020102020204" pitchFamily="34" charset="0"/>
            </a:endParaRPr>
          </a:p>
          <a:p>
            <a:r>
              <a:rPr dirty="0">
                <a:latin typeface="Franklin Gothic Medium" panose="020B0603020102020204" pitchFamily="34" charset="0"/>
              </a:rPr>
              <a:t>Library </a:t>
            </a:r>
            <a:r>
              <a:rPr lang="en-US" dirty="0">
                <a:latin typeface="Franklin Gothic Medium" panose="020B0603020102020204" pitchFamily="34" charset="0"/>
              </a:rPr>
              <a:t>p</a:t>
            </a:r>
            <a:r>
              <a:rPr dirty="0">
                <a:latin typeface="Franklin Gothic Medium" panose="020B0603020102020204" pitchFamily="34" charset="0"/>
              </a:rPr>
              <a:t>rep </a:t>
            </a:r>
            <a:r>
              <a:rPr lang="en-US" dirty="0">
                <a:latin typeface="Franklin Gothic Medium" panose="020B0603020102020204" pitchFamily="34" charset="0"/>
              </a:rPr>
              <a:t>allows for NGS </a:t>
            </a:r>
            <a:br>
              <a:rPr lang="en-US" dirty="0">
                <a:latin typeface="Franklin Gothic Medium" panose="020B0603020102020204" pitchFamily="34" charset="0"/>
              </a:rPr>
            </a:br>
            <a:r>
              <a:rPr dirty="0">
                <a:latin typeface="Franklin Gothic Medium" panose="020B0603020102020204" pitchFamily="34" charset="0"/>
              </a:rPr>
              <a:t>sequencing</a:t>
            </a:r>
            <a:r>
              <a:rPr lang="en-US" dirty="0">
                <a:latin typeface="Franklin Gothic Medium" panose="020B0603020102020204" pitchFamily="34" charset="0"/>
              </a:rPr>
              <a:t> &amp; multiplexing</a:t>
            </a:r>
            <a:endParaRPr dirty="0">
              <a:latin typeface="Franklin Gothic Medium" panose="020B0603020102020204" pitchFamily="34" charset="0"/>
            </a:endParaRPr>
          </a:p>
          <a:p>
            <a:r>
              <a:rPr dirty="0">
                <a:latin typeface="Franklin Gothic Medium" panose="020B0603020102020204" pitchFamily="34" charset="0"/>
              </a:rPr>
              <a:t>QC</a:t>
            </a:r>
            <a:r>
              <a:rPr lang="en-US" dirty="0">
                <a:latin typeface="Franklin Gothic Medium" panose="020B0603020102020204" pitchFamily="34" charset="0"/>
              </a:rPr>
              <a:t> is </a:t>
            </a:r>
            <a:r>
              <a:rPr lang="en-US" u="sng" dirty="0">
                <a:latin typeface="Franklin Gothic Medium" panose="020B0603020102020204" pitchFamily="34" charset="0"/>
              </a:rPr>
              <a:t>c</a:t>
            </a:r>
            <a:r>
              <a:rPr u="sng" dirty="0">
                <a:latin typeface="Franklin Gothic Medium" panose="020B0603020102020204" pitchFamily="34" charset="0"/>
              </a:rPr>
              <a:t>ritical </a:t>
            </a:r>
            <a:r>
              <a:rPr dirty="0">
                <a:latin typeface="Franklin Gothic Medium" panose="020B0603020102020204" pitchFamily="34" charset="0"/>
              </a:rPr>
              <a:t>for success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Know your b</a:t>
            </a:r>
            <a:r>
              <a:rPr dirty="0">
                <a:latin typeface="Franklin Gothic Medium" panose="020B0603020102020204" pitchFamily="34" charset="0"/>
              </a:rPr>
              <a:t>ias</a:t>
            </a:r>
            <a:r>
              <a:rPr lang="en-US" dirty="0">
                <a:latin typeface="Franklin Gothic Medium" panose="020B0603020102020204" pitchFamily="34" charset="0"/>
              </a:rPr>
              <a:t>es</a:t>
            </a:r>
            <a:endParaRPr dirty="0">
              <a:latin typeface="Franklin Gothic Medium" panose="020B0603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DC41F-C3E2-1B7A-EA5F-7B1277FD9A2C}"/>
              </a:ext>
            </a:extLst>
          </p:cNvPr>
          <p:cNvSpPr txBox="1"/>
          <p:nvPr/>
        </p:nvSpPr>
        <p:spPr>
          <a:xfrm>
            <a:off x="-58875" y="6581228"/>
            <a:ext cx="1204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NHGRI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frog with a person's face on it's body&#10;&#10;Description automatically generated with medium confidence">
            <a:extLst>
              <a:ext uri="{FF2B5EF4-FFF2-40B4-BE49-F238E27FC236}">
                <a16:creationId xmlns:a16="http://schemas.microsoft.com/office/drawing/2014/main" id="{1E4AA6F7-AAC6-8F24-3E2D-173C3BABE45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3" b="89959" l="9973" r="91860">
                        <a14:foregroundMark x1="89101" y1="48235" x2="91165" y2="48235"/>
                        <a14:foregroundMark x1="91860" y1="47714" x2="90143" y2="601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637" y="3793069"/>
            <a:ext cx="5138697" cy="343007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2B23183-23C3-C04C-B5C1-4D2DE435C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Franklin Gothic Medium" panose="020B0603020102020204" pitchFamily="34" charset="0"/>
              </a:rPr>
              <a:t>Mini-Activity: </a:t>
            </a:r>
            <a:r>
              <a:rPr lang="en-US" dirty="0">
                <a:latin typeface="Franklin Gothic Medium" panose="020B0603020102020204" pitchFamily="34" charset="0"/>
              </a:rPr>
              <a:t>Design your methods</a:t>
            </a:r>
            <a:r>
              <a:rPr dirty="0">
                <a:latin typeface="Franklin Gothic Medium" panose="020B0603020102020204" pitchFamily="34" charset="0"/>
              </a:rPr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2D044-FE96-B15D-F2C5-27B6FE7D896E}"/>
              </a:ext>
            </a:extLst>
          </p:cNvPr>
          <p:cNvSpPr txBox="1"/>
          <p:nvPr/>
        </p:nvSpPr>
        <p:spPr>
          <a:xfrm>
            <a:off x="7724572" y="6583362"/>
            <a:ext cx="1472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M. Vences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46D5-EFEF-34C3-ED0D-F109E312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5967-412E-EA29-0129-C1ABACE0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Franklin Gothic Medium" panose="020B0603020102020204" pitchFamily="34" charset="0"/>
              </a:rPr>
              <a:t>Mini-Activity: </a:t>
            </a:r>
            <a:r>
              <a:rPr lang="en-US" dirty="0">
                <a:latin typeface="Franklin Gothic Medium" panose="020B0603020102020204" pitchFamily="34" charset="0"/>
              </a:rPr>
              <a:t>Design your methods</a:t>
            </a:r>
            <a:r>
              <a:rPr dirty="0">
                <a:latin typeface="Franklin Gothic Medium" panose="020B0603020102020204" pitchFamily="34" charset="0"/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EC1D-8464-71E1-206B-1A4C23CE9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" y="1090866"/>
            <a:ext cx="8229600" cy="54924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DNA Extraction:</a:t>
            </a:r>
            <a:endParaRPr lang="en-US" dirty="0"/>
          </a:p>
          <a:p>
            <a:pPr lvl="2"/>
            <a:r>
              <a:rPr lang="en-US" dirty="0"/>
              <a:t>what are the primary challenges you might anticipate for DNA extraction from </a:t>
            </a:r>
            <a:r>
              <a:rPr lang="en-US" b="1" dirty="0"/>
              <a:t>your samples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Which </a:t>
            </a:r>
            <a:r>
              <a:rPr lang="en-US" b="1" dirty="0"/>
              <a:t>lysis methods </a:t>
            </a:r>
            <a:r>
              <a:rPr lang="en-US" dirty="0"/>
              <a:t>would you prioritize to ensure you capture DNA from </a:t>
            </a:r>
            <a:r>
              <a:rPr lang="en-US" i="1" dirty="0"/>
              <a:t>all</a:t>
            </a:r>
            <a:r>
              <a:rPr lang="en-US" dirty="0"/>
              <a:t> these diverse microbial groups, while also overcoming the challenge of inhibitors? </a:t>
            </a:r>
          </a:p>
          <a:p>
            <a:pPr lvl="1"/>
            <a:r>
              <a:rPr lang="en-US" b="1" dirty="0"/>
              <a:t>Library Preparation:</a:t>
            </a:r>
            <a:endParaRPr lang="en-US" dirty="0"/>
          </a:p>
          <a:p>
            <a:pPr lvl="2"/>
            <a:r>
              <a:rPr lang="en-US" dirty="0"/>
              <a:t>Would you choose </a:t>
            </a:r>
            <a:r>
              <a:rPr lang="en-US" b="1" dirty="0"/>
              <a:t>targeted </a:t>
            </a:r>
            <a:br>
              <a:rPr lang="en-US" b="1" dirty="0"/>
            </a:br>
            <a:r>
              <a:rPr lang="en-US" b="1" dirty="0"/>
              <a:t>amplicon sequencing </a:t>
            </a:r>
            <a:r>
              <a:rPr lang="en-US" dirty="0"/>
              <a:t> or </a:t>
            </a:r>
            <a:r>
              <a:rPr lang="en-US" b="1" dirty="0"/>
              <a:t>shotgun </a:t>
            </a:r>
            <a:br>
              <a:rPr lang="en-US" b="1" dirty="0"/>
            </a:br>
            <a:r>
              <a:rPr lang="en-US" b="1" dirty="0"/>
              <a:t>metagenomic sequencing</a:t>
            </a:r>
            <a:r>
              <a:rPr lang="en-US" dirty="0"/>
              <a:t> for this </a:t>
            </a:r>
            <a:br>
              <a:rPr lang="en-US" dirty="0"/>
            </a:br>
            <a:r>
              <a:rPr lang="en-US" dirty="0"/>
              <a:t>project? Why?</a:t>
            </a:r>
          </a:p>
          <a:p>
            <a:pPr lvl="2"/>
            <a:r>
              <a:rPr lang="en-US" dirty="0"/>
              <a:t>What specific </a:t>
            </a:r>
            <a:r>
              <a:rPr lang="en-US" b="1" dirty="0"/>
              <a:t>QC steps </a:t>
            </a:r>
            <a:r>
              <a:rPr lang="en-US" dirty="0"/>
              <a:t>would </a:t>
            </a:r>
            <a:br>
              <a:rPr lang="en-US" dirty="0"/>
            </a:br>
            <a:r>
              <a:rPr lang="en-US" dirty="0"/>
              <a:t>you perform to ensure</a:t>
            </a:r>
            <a:br>
              <a:rPr lang="en-US" dirty="0"/>
            </a:br>
            <a:r>
              <a:rPr lang="en-US" dirty="0"/>
              <a:t>good data is generated?</a:t>
            </a:r>
          </a:p>
        </p:txBody>
      </p:sp>
      <p:pic>
        <p:nvPicPr>
          <p:cNvPr id="7" name="Picture 6" descr="A green frog with a person's face on it's body&#10;&#10;Description automatically generated with medium confidence">
            <a:extLst>
              <a:ext uri="{FF2B5EF4-FFF2-40B4-BE49-F238E27FC236}">
                <a16:creationId xmlns:a16="http://schemas.microsoft.com/office/drawing/2014/main" id="{B6300577-AE6F-E180-46E3-ABC209F8CA4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3" b="89959" l="9973" r="91860">
                        <a14:foregroundMark x1="89101" y1="48235" x2="91165" y2="48235"/>
                        <a14:foregroundMark x1="91860" y1="47714" x2="90143" y2="601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637" y="3793069"/>
            <a:ext cx="5138697" cy="3430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930595-3E33-408A-5A62-C948FDEB4193}"/>
              </a:ext>
            </a:extLst>
          </p:cNvPr>
          <p:cNvSpPr txBox="1"/>
          <p:nvPr/>
        </p:nvSpPr>
        <p:spPr>
          <a:xfrm>
            <a:off x="7724572" y="6583362"/>
            <a:ext cx="1472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Image: M. Vences</a:t>
            </a:r>
          </a:p>
        </p:txBody>
      </p:sp>
    </p:spTree>
    <p:extLst>
      <p:ext uri="{BB962C8B-B14F-4D97-AF65-F5344CB8AC3E}">
        <p14:creationId xmlns:p14="http://schemas.microsoft.com/office/powerpoint/2010/main" val="59802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2890</Words>
  <Application>Microsoft Macintosh PowerPoint</Application>
  <PresentationFormat>On-screen Show (4:3)</PresentationFormat>
  <Paragraphs>347</Paragraphs>
  <Slides>25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Franklin Gothic Medium</vt:lpstr>
      <vt:lpstr>Futura W01</vt:lpstr>
      <vt:lpstr>Wingdings</vt:lpstr>
      <vt:lpstr>Office Theme</vt:lpstr>
      <vt:lpstr>DNA Extraction &amp; Library Preparation</vt:lpstr>
      <vt:lpstr>Roadmap</vt:lpstr>
      <vt:lpstr>The DNA Extraction Challenge</vt:lpstr>
      <vt:lpstr>Key Considerations for DNA Extraction</vt:lpstr>
      <vt:lpstr>Key Considerations for DNA Extraction</vt:lpstr>
      <vt:lpstr>Key Considerations for DNA Extraction</vt:lpstr>
      <vt:lpstr>Key Considerations for DNA Extraction</vt:lpstr>
      <vt:lpstr>Key Considerations for DNA Extraction</vt:lpstr>
      <vt:lpstr>Key Considerations for DNA Extraction</vt:lpstr>
      <vt:lpstr>Common DNA Extraction Methods/Kits</vt:lpstr>
      <vt:lpstr>Automated extractions</vt:lpstr>
      <vt:lpstr>Garbage in, Garbage out</vt:lpstr>
      <vt:lpstr>Garbage in, Garbage out</vt:lpstr>
      <vt:lpstr>Garbage in, Garbage out</vt:lpstr>
      <vt:lpstr>Garbage in, Garbage out</vt:lpstr>
      <vt:lpstr>Roadmap</vt:lpstr>
      <vt:lpstr>Library Preparation</vt:lpstr>
      <vt:lpstr>Library Types</vt:lpstr>
      <vt:lpstr>Library Preparation</vt:lpstr>
      <vt:lpstr>Library Prep: Amplicon Sequencing</vt:lpstr>
      <vt:lpstr>Library Prep: Shotgun Metagenomics</vt:lpstr>
      <vt:lpstr>Library Preparation: Clean up &amp; Pooling</vt:lpstr>
      <vt:lpstr>Recap &amp; Key Considerations</vt:lpstr>
      <vt:lpstr>Mini-Activity: Design your methods!</vt:lpstr>
      <vt:lpstr>Mini-Activity: Design your methods!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Bletz, Molly C</cp:lastModifiedBy>
  <cp:revision>3</cp:revision>
  <dcterms:created xsi:type="dcterms:W3CDTF">2013-01-27T09:14:16Z</dcterms:created>
  <dcterms:modified xsi:type="dcterms:W3CDTF">2026-08-04T12:18:47Z</dcterms:modified>
  <cp:category/>
</cp:coreProperties>
</file>